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jpeg"/>
  <Default Extension="emf" ContentType="image/x-emf"/>
  <Default Extension="rels" ContentType="application/vnd.openxmlformats-package.relationships+xml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50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304" r:id="rId12"/>
    <p:sldId id="267" r:id="rId13"/>
    <p:sldId id="265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9" r:id="rId35"/>
    <p:sldId id="288" r:id="rId36"/>
    <p:sldId id="294" r:id="rId37"/>
    <p:sldId id="290" r:id="rId38"/>
    <p:sldId id="291" r:id="rId39"/>
    <p:sldId id="293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-776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50" Type="http://schemas.openxmlformats.org/officeDocument/2006/relationships/notesMaster" Target="notesMasters/notesMaster1.xml"/><Relationship Id="rId51" Type="http://schemas.openxmlformats.org/officeDocument/2006/relationships/printerSettings" Target="printerSettings/printerSettings1.bin"/><Relationship Id="rId52" Type="http://schemas.openxmlformats.org/officeDocument/2006/relationships/presProps" Target="presProps.xml"/><Relationship Id="rId53" Type="http://schemas.openxmlformats.org/officeDocument/2006/relationships/viewProps" Target="viewProps.xml"/><Relationship Id="rId54" Type="http://schemas.openxmlformats.org/officeDocument/2006/relationships/theme" Target="theme/theme1.xml"/><Relationship Id="rId55" Type="http://schemas.openxmlformats.org/officeDocument/2006/relationships/tableStyles" Target="tableStyles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FD31E7-4839-B140-BE20-343BFD433058}" type="datetimeFigureOut">
              <a:rPr lang="en-US" smtClean="0"/>
              <a:t>7/20/16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8D3118-6C56-254C-B5E9-0BDDF5BFD2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231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5761B6-37D3-F943-B96E-350C128D3C8D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1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863974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5761B6-37D3-F943-B96E-350C128D3C8D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2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492342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Read: short fragment of DNA sequence that can be read by a DNA sequencing technology – can’t read whole DNA in one go.</a:t>
            </a:r>
          </a:p>
          <a:p>
            <a:r>
              <a:rPr lang="en-US" dirty="0" smtClean="0"/>
              <a:t>De novo genome assembly: Reconstruct an unknown genome from a collection of short reads.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1D9B27-89AE-D841-8B16-43B843667072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3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428822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So far it should be obvious that</a:t>
            </a:r>
            <a:r>
              <a:rPr lang="en-US" baseline="0" dirty="0" smtClean="0"/>
              <a:t> de novo genome assembly is hard! In particular: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90DF4-ABE7-2541-8FE9-B5CCF7F9D510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4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579568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 this cartoon we illustrate that the genomes can vary significantly in size. We highlight the human and the wheat genome since we</a:t>
            </a:r>
            <a:r>
              <a:rPr lang="en-US" baseline="0" dirty="0" smtClean="0"/>
              <a:t> used these data sets in our experiments.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90DF4-ABE7-2541-8FE9-B5CCF7F9D510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5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883536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In this work we</a:t>
            </a:r>
            <a:r>
              <a:rPr lang="en-US" baseline="0" dirty="0" smtClean="0"/>
              <a:t> focus on a particular de novo genome assembler which is called </a:t>
            </a:r>
            <a:r>
              <a:rPr lang="en-US" baseline="0" dirty="0" err="1" smtClean="0"/>
              <a:t>meraculous</a:t>
            </a:r>
            <a:r>
              <a:rPr lang="en-US" baseline="0" dirty="0" smtClean="0"/>
              <a:t>.</a:t>
            </a:r>
          </a:p>
          <a:p>
            <a:r>
              <a:rPr lang="en-US" dirty="0" smtClean="0"/>
              <a:t>This slide illustrates</a:t>
            </a:r>
            <a:r>
              <a:rPr lang="en-US" baseline="0" dirty="0" smtClean="0"/>
              <a:t> </a:t>
            </a:r>
            <a:r>
              <a:rPr lang="en-US" dirty="0" smtClean="0"/>
              <a:t>the de novo assembly pipeline</a:t>
            </a:r>
            <a:r>
              <a:rPr lang="en-US" baseline="0" dirty="0" smtClean="0"/>
              <a:t> implemented by Meraculous.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90DF4-ABE7-2541-8FE9-B5CCF7F9D510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6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894895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90DF4-ABE7-2541-8FE9-B5CCF7F9D510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7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894895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We do first a pass through the data set to create to</a:t>
            </a:r>
            <a:r>
              <a:rPr lang="en-US" baseline="0" dirty="0" smtClean="0"/>
              <a:t> estimate the size of the bloom filters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90DF4-ABE7-2541-8FE9-B5CCF7F9D510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8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760629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We perform then a second pass over</a:t>
            </a:r>
            <a:r>
              <a:rPr lang="en-US" baseline="0" dirty="0" smtClean="0"/>
              <a:t> the data in order to exclude erroneous k-</a:t>
            </a:r>
            <a:r>
              <a:rPr lang="en-US" baseline="0" dirty="0" err="1" smtClean="0"/>
              <a:t>mers</a:t>
            </a:r>
            <a:r>
              <a:rPr lang="en-US" baseline="0" dirty="0" smtClean="0"/>
              <a:t>, i.e. those that appear one time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90DF4-ABE7-2541-8FE9-B5CCF7F9D510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9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760629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Finally</a:t>
            </a:r>
            <a:r>
              <a:rPr lang="en-US" baseline="0" dirty="0" smtClean="0"/>
              <a:t> with a third pass we find for each error-free </a:t>
            </a:r>
            <a:r>
              <a:rPr lang="en-US" baseline="0" dirty="0" err="1" smtClean="0"/>
              <a:t>kmer</a:t>
            </a:r>
            <a:r>
              <a:rPr lang="en-US" baseline="0" dirty="0" smtClean="0"/>
              <a:t> the extensions in the read data set and we accept those with unique extensions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90DF4-ABE7-2541-8FE9-B5CCF7F9D510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11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760629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Figure: Wheat</a:t>
            </a:r>
            <a:r>
              <a:rPr lang="en-US" baseline="0" dirty="0" smtClean="0"/>
              <a:t> genome k-</a:t>
            </a:r>
            <a:r>
              <a:rPr lang="en-US" baseline="0" dirty="0" err="1" smtClean="0"/>
              <a:t>mer</a:t>
            </a:r>
            <a:r>
              <a:rPr lang="en-US" baseline="0" dirty="0" smtClean="0"/>
              <a:t> analysis scalability before and after high-frequency k-</a:t>
            </a:r>
            <a:r>
              <a:rPr lang="en-US" baseline="0" dirty="0" err="1" smtClean="0"/>
              <a:t>mers</a:t>
            </a:r>
            <a:r>
              <a:rPr lang="en-US" baseline="0" dirty="0" smtClean="0"/>
              <a:t> optimization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B54FEA-C6B3-4747-B8C1-114F61A9665E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12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653221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Show the</a:t>
            </a:r>
            <a:r>
              <a:rPr lang="en-US" baseline="0" dirty="0" smtClean="0"/>
              <a:t> overlap among the nodes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90DF4-ABE7-2541-8FE9-B5CCF7F9D510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13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424832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Main goal of traversal</a:t>
            </a:r>
            <a:r>
              <a:rPr lang="en-US" baseline="0" dirty="0" smtClean="0"/>
              <a:t> is</a:t>
            </a:r>
            <a:r>
              <a:rPr lang="en-US" dirty="0" smtClean="0"/>
              <a:t> to find connected components in the UU graph.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90DF4-ABE7-2541-8FE9-B5CCF7F9D51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8906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Main</a:t>
            </a:r>
            <a:r>
              <a:rPr lang="en-US" baseline="0" dirty="0" smtClean="0"/>
              <a:t> idea of traversal: pick a seed and iteratively extend that by consecutive lookups in the distributed hash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90DF4-ABE7-2541-8FE9-B5CCF7F9D51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2513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Main</a:t>
            </a:r>
            <a:r>
              <a:rPr lang="en-US" baseline="0" dirty="0" smtClean="0"/>
              <a:t> idea of traversal: pick a seed and iteratively extend that by consecutive lookups in the distributed hash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90DF4-ABE7-2541-8FE9-B5CCF7F9D51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2513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Main</a:t>
            </a:r>
            <a:r>
              <a:rPr lang="en-US" baseline="0" dirty="0" smtClean="0"/>
              <a:t> idea of traversal: pick a seed and iteratively extend that by consecutive lookups in the distributed hash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90DF4-ABE7-2541-8FE9-B5CCF7F9D51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2513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Since this is the same “k”, each k-</a:t>
            </a:r>
            <a:r>
              <a:rPr lang="en-US" dirty="0" err="1" smtClean="0"/>
              <a:t>mer</a:t>
            </a:r>
            <a:r>
              <a:rPr lang="en-US" dirty="0" smtClean="0"/>
              <a:t> </a:t>
            </a:r>
            <a:r>
              <a:rPr lang="en-US" baseline="0" dirty="0" smtClean="0"/>
              <a:t>only exists in one unique </a:t>
            </a:r>
            <a:r>
              <a:rPr lang="en-US" baseline="0" dirty="0" err="1" smtClean="0"/>
              <a:t>contig</a:t>
            </a:r>
            <a:r>
              <a:rPr lang="en-US" baseline="0" dirty="0" smtClean="0"/>
              <a:t> so the seed index can not point to multiple targets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1D9B27-89AE-D841-8B16-43B84366707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5033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This is the same idea as in graph construction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vs</a:t>
            </a:r>
            <a:r>
              <a:rPr lang="en-US" baseline="0" dirty="0" smtClean="0"/>
              <a:t> traversal.</a:t>
            </a:r>
          </a:p>
          <a:p>
            <a:r>
              <a:rPr lang="en-US" baseline="0" dirty="0" smtClean="0"/>
              <a:t>First we build, which is write-only; then we lookup which is read-</a:t>
            </a:r>
            <a:r>
              <a:rPr lang="en-US" baseline="0" dirty="0" err="1" smtClean="0"/>
              <a:t>onlu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1D9B27-89AE-D841-8B16-43B843667072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4810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There is an “exact match” optimization we used extensively but I am</a:t>
            </a:r>
            <a:r>
              <a:rPr lang="en-US" baseline="0" dirty="0" smtClean="0"/>
              <a:t> not going to go through the details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1D9B27-89AE-D841-8B16-43B84366707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5391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Joint</a:t>
            </a:r>
            <a:r>
              <a:rPr lang="en-US" baseline="0" dirty="0" smtClean="0"/>
              <a:t> work with MANTISSA (ASCR Data), DEGAS (ASCR X-Stack), JGI (BER)</a:t>
            </a:r>
            <a:endParaRPr lang="en-US" dirty="0" smtClean="0"/>
          </a:p>
          <a:p>
            <a:r>
              <a:rPr lang="en-US" dirty="0" smtClean="0"/>
              <a:t>This publication covers the last step in the previous slide</a:t>
            </a:r>
          </a:p>
          <a:p>
            <a:r>
              <a:rPr lang="en-US" dirty="0" smtClean="0"/>
              <a:t>Alignment is the</a:t>
            </a:r>
            <a:r>
              <a:rPr lang="en-US" baseline="0" dirty="0" smtClean="0"/>
              <a:t> biggest step of “scaffolding”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B54FEA-C6B3-4747-B8C1-114F61A9665E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30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6532217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B54FEA-C6B3-4747-B8C1-114F61A9665E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31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6532217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B54FEA-C6B3-4747-B8C1-114F61A9665E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32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6532217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1D9B27-89AE-D841-8B16-43B843667072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33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1281373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1D9B27-89AE-D841-8B16-43B843667072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34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1281373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1D9B27-89AE-D841-8B16-43B843667072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35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1281373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90DF4-ABE7-2541-8FE9-B5CCF7F9D510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35362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90DF4-ABE7-2541-8FE9-B5CCF7F9D510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48950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90DF4-ABE7-2541-8FE9-B5CCF7F9D510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48950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90DF4-ABE7-2541-8FE9-B5CCF7F9D510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48950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90DF4-ABE7-2541-8FE9-B5CCF7F9D510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48950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90DF4-ABE7-2541-8FE9-B5CCF7F9D510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48950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90DF4-ABE7-2541-8FE9-B5CCF7F9D510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48950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90DF4-ABE7-2541-8FE9-B5CCF7F9D510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4895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D61F6-15F8-074F-974F-CAD3DF19F222}" type="datetimeFigureOut">
              <a:rPr lang="en-US" smtClean="0"/>
              <a:t>7/20/16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FF569-E9FC-ED42-8531-9A64E935B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936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D61F6-15F8-074F-974F-CAD3DF19F222}" type="datetimeFigureOut">
              <a:rPr lang="en-US" smtClean="0"/>
              <a:t>7/20/16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FF569-E9FC-ED42-8531-9A64E935B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445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D61F6-15F8-074F-974F-CAD3DF19F222}" type="datetimeFigureOut">
              <a:rPr lang="en-US" smtClean="0"/>
              <a:t>7/20/16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FF569-E9FC-ED42-8531-9A64E935B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296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D61F6-15F8-074F-974F-CAD3DF19F222}" type="datetimeFigureOut">
              <a:rPr lang="en-US" smtClean="0"/>
              <a:t>7/20/16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FF569-E9FC-ED42-8531-9A64E935B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107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D61F6-15F8-074F-974F-CAD3DF19F222}" type="datetimeFigureOut">
              <a:rPr lang="en-US" smtClean="0"/>
              <a:t>7/20/16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FF569-E9FC-ED42-8531-9A64E935B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85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D61F6-15F8-074F-974F-CAD3DF19F222}" type="datetimeFigureOut">
              <a:rPr lang="en-US" smtClean="0"/>
              <a:t>7/20/16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FF569-E9FC-ED42-8531-9A64E935B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869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D61F6-15F8-074F-974F-CAD3DF19F222}" type="datetimeFigureOut">
              <a:rPr lang="en-US" smtClean="0"/>
              <a:t>7/20/16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FF569-E9FC-ED42-8531-9A64E935B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907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D61F6-15F8-074F-974F-CAD3DF19F222}" type="datetimeFigureOut">
              <a:rPr lang="en-US" smtClean="0"/>
              <a:t>7/20/16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FF569-E9FC-ED42-8531-9A64E935B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238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D61F6-15F8-074F-974F-CAD3DF19F222}" type="datetimeFigureOut">
              <a:rPr lang="en-US" smtClean="0"/>
              <a:t>7/20/16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FF569-E9FC-ED42-8531-9A64E935B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666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D61F6-15F8-074F-974F-CAD3DF19F222}" type="datetimeFigureOut">
              <a:rPr lang="en-US" smtClean="0"/>
              <a:t>7/20/16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FF569-E9FC-ED42-8531-9A64E935B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791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D61F6-15F8-074F-974F-CAD3DF19F222}" type="datetimeFigureOut">
              <a:rPr lang="en-US" smtClean="0"/>
              <a:t>7/20/16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FF569-E9FC-ED42-8531-9A64E935B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0200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43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3C57A-DEEF-774C-B685-DFA1EA858032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7/20/16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3F6CA-A472-F64D-89D6-A643A03C02AB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095954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3C57A-DEEF-774C-B685-DFA1EA858032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7/20/16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3F6CA-A472-F64D-89D6-A643A03C02AB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143789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18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3C57A-DEEF-774C-B685-DFA1EA858032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7/20/16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3F6CA-A472-F64D-89D6-A643A03C02AB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442088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6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6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3C57A-DEEF-774C-B685-DFA1EA858032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7/20/16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3F6CA-A472-F64D-89D6-A643A03C02AB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658204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4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4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3C57A-DEEF-774C-B685-DFA1EA858032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7/20/16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3F6CA-A472-F64D-89D6-A643A03C02AB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156954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3C57A-DEEF-774C-B685-DFA1EA858032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7/20/16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3F6CA-A472-F64D-89D6-A643A03C02AB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914652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3C57A-DEEF-774C-B685-DFA1EA858032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7/20/16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3F6CA-A472-F64D-89D6-A643A03C02AB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925979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68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3C57A-DEEF-774C-B685-DFA1EA858032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7/20/16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3F6CA-A472-F64D-89D6-A643A03C02AB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14292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3C57A-DEEF-774C-B685-DFA1EA858032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7/20/16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3F6CA-A472-F64D-89D6-A643A03C02AB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40384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3C57A-DEEF-774C-B685-DFA1EA858032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7/20/16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3F6CA-A472-F64D-89D6-A643A03C02AB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015616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56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56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3C57A-DEEF-774C-B685-DFA1EA858032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7/20/16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3F6CA-A472-F64D-89D6-A643A03C02AB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27420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3D61F6-15F8-074F-974F-CAD3DF19F222}" type="datetimeFigureOut">
              <a:rPr lang="en-US" smtClean="0"/>
              <a:t>7/20/16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3FF569-E9FC-ED42-8531-9A64E935B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823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6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93C57A-DEEF-774C-B685-DFA1EA858032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7/20/16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68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6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3F6CA-A472-F64D-89D6-A643A03C02AB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8034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4" Type="http://schemas.openxmlformats.org/officeDocument/2006/relationships/image" Target="../media/image2.jpeg"/><Relationship Id="rId5" Type="http://schemas.openxmlformats.org/officeDocument/2006/relationships/image" Target="../media/image3.jpeg"/><Relationship Id="rId6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4" Type="http://schemas.openxmlformats.org/officeDocument/2006/relationships/image" Target="../media/image5.jp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4" Type="http://schemas.openxmlformats.org/officeDocument/2006/relationships/image" Target="../media/image6.jpg"/><Relationship Id="rId5" Type="http://schemas.openxmlformats.org/officeDocument/2006/relationships/image" Target="../media/image7.jpg"/><Relationship Id="rId6" Type="http://schemas.openxmlformats.org/officeDocument/2006/relationships/image" Target="../media/image8.jpg"/><Relationship Id="rId7" Type="http://schemas.openxmlformats.org/officeDocument/2006/relationships/image" Target="../media/image9.jpg"/><Relationship Id="rId8" Type="http://schemas.openxmlformats.org/officeDocument/2006/relationships/image" Target="../media/image10.pn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4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2.png"/><Relationship Id="rId3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4" Type="http://schemas.openxmlformats.org/officeDocument/2006/relationships/image" Target="../media/image13.emf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e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4.emf"/><Relationship Id="rId3" Type="http://schemas.openxmlformats.org/officeDocument/2006/relationships/image" Target="../media/image1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.jpe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.jpe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.jpe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.jpe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.jpe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.jpe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e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e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4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4" Type="http://schemas.openxmlformats.org/officeDocument/2006/relationships/image" Target="../media/image16.emf"/><Relationship Id="rId5" Type="http://schemas.openxmlformats.org/officeDocument/2006/relationships/image" Target="../media/image17.emf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4" Type="http://schemas.openxmlformats.org/officeDocument/2006/relationships/image" Target="../media/image18.emf"/><Relationship Id="rId5" Type="http://schemas.openxmlformats.org/officeDocument/2006/relationships/image" Target="../media/image19.emf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4" Type="http://schemas.openxmlformats.org/officeDocument/2006/relationships/image" Target="../media/image20.emf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4" Type="http://schemas.openxmlformats.org/officeDocument/2006/relationships/image" Target="../media/image21.emf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4" Type="http://schemas.openxmlformats.org/officeDocument/2006/relationships/image" Target="../media/image22.emf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/Relationships>
</file>

<file path=ppt/slides/_rels/slide36.xml.rels><?xml version="1.0" encoding="UTF-8" standalone="yes"?>
<Relationships xmlns="http://schemas.openxmlformats.org/package/2006/relationships"><Relationship Id="rId11" Type="http://schemas.openxmlformats.org/officeDocument/2006/relationships/image" Target="../media/image27.jpeg"/><Relationship Id="rId12" Type="http://schemas.openxmlformats.org/officeDocument/2006/relationships/image" Target="../media/image28.jp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jpeg"/><Relationship Id="rId4" Type="http://schemas.openxmlformats.org/officeDocument/2006/relationships/image" Target="../media/image6.jpg"/><Relationship Id="rId5" Type="http://schemas.openxmlformats.org/officeDocument/2006/relationships/image" Target="../media/image7.jpg"/><Relationship Id="rId6" Type="http://schemas.openxmlformats.org/officeDocument/2006/relationships/image" Target="../media/image8.jpg"/><Relationship Id="rId7" Type="http://schemas.openxmlformats.org/officeDocument/2006/relationships/image" Target="../media/image23.jpg"/><Relationship Id="rId8" Type="http://schemas.openxmlformats.org/officeDocument/2006/relationships/image" Target="../media/image24.jpg"/><Relationship Id="rId9" Type="http://schemas.openxmlformats.org/officeDocument/2006/relationships/image" Target="../media/image25.jpg"/><Relationship Id="rId10" Type="http://schemas.openxmlformats.org/officeDocument/2006/relationships/image" Target="../media/image26.jp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29.jpg"/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.jpe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.jpe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0.emf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1.emf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1.emf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1.emf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1.emf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1.emf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1.emf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.jpe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.jpeg"/><Relationship Id="rId3" Type="http://schemas.openxmlformats.org/officeDocument/2006/relationships/hyperlink" Target="https://sourceforge.net/projects/hipmer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>
            <a:grpSpLocks/>
          </p:cNvGrpSpPr>
          <p:nvPr/>
        </p:nvGrpSpPr>
        <p:grpSpPr bwMode="auto">
          <a:xfrm>
            <a:off x="0" y="19"/>
            <a:ext cx="9144000" cy="1294805"/>
            <a:chOff x="0" y="0"/>
            <a:chExt cx="8192" cy="1160"/>
          </a:xfrm>
        </p:grpSpPr>
        <p:sp>
          <p:nvSpPr>
            <p:cNvPr id="8194" name="Rectangle 2"/>
            <p:cNvSpPr>
              <a:spLocks/>
            </p:cNvSpPr>
            <p:nvPr/>
          </p:nvSpPr>
          <p:spPr bwMode="auto">
            <a:xfrm>
              <a:off x="0" y="0"/>
              <a:ext cx="8192" cy="1160"/>
            </a:xfrm>
            <a:prstGeom prst="rect">
              <a:avLst/>
            </a:prstGeom>
            <a:solidFill>
              <a:srgbClr val="000099"/>
            </a:solidFill>
            <a:ln w="127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>
                <a:solidFill>
                  <a:prstClr val="black"/>
                </a:solidFill>
                <a:latin typeface="Calibri"/>
              </a:endParaRPr>
            </a:p>
          </p:txBody>
        </p:sp>
        <p:pic>
          <p:nvPicPr>
            <p:cNvPr id="8195" name="Picture 3"/>
            <p:cNvPicPr>
              <a:picLocks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0"/>
              <a:ext cx="8191" cy="1160"/>
            </a:xfrm>
            <a:prstGeom prst="rect">
              <a:avLst/>
            </a:prstGeom>
            <a:noFill/>
            <a:ln w="9525" cap="flat">
              <a:noFill/>
              <a:miter lim="800000"/>
              <a:headEnd/>
              <a:tailEnd/>
            </a:ln>
          </p:spPr>
        </p:pic>
      </p:grpSp>
      <p:pic>
        <p:nvPicPr>
          <p:cNvPr id="8196" name="Picture 4"/>
          <p:cNvPicPr>
            <a:picLocks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768828" y="6307709"/>
            <a:ext cx="1375172" cy="550292"/>
          </a:xfrm>
          <a:prstGeom prst="rect">
            <a:avLst/>
          </a:prstGeom>
          <a:noFill/>
          <a:ln w="9525" cap="flat">
            <a:noFill/>
            <a:miter lim="800000"/>
            <a:headEnd/>
            <a:tailEnd/>
          </a:ln>
        </p:spPr>
      </p:pic>
      <p:pic>
        <p:nvPicPr>
          <p:cNvPr id="8197" name="Picture 5"/>
          <p:cNvPicPr>
            <a:picLocks noChangeArrowheads="1"/>
          </p:cNvPicPr>
          <p:nvPr/>
        </p:nvPicPr>
        <p:blipFill>
          <a:blip r:embed="rId5"/>
          <a:srcRect t="2895"/>
          <a:stretch>
            <a:fillRect/>
          </a:stretch>
        </p:blipFill>
        <p:spPr bwMode="auto">
          <a:xfrm>
            <a:off x="0" y="-27906"/>
            <a:ext cx="9144000" cy="6885906"/>
          </a:xfrm>
          <a:prstGeom prst="rect">
            <a:avLst/>
          </a:prstGeom>
          <a:noFill/>
          <a:ln w="9525" cap="flat">
            <a:noFill/>
            <a:miter lim="800000"/>
            <a:headEnd/>
            <a:tailEnd/>
          </a:ln>
        </p:spPr>
      </p:pic>
      <p:sp>
        <p:nvSpPr>
          <p:cNvPr id="8198" name="Rectangle 6"/>
          <p:cNvSpPr>
            <a:spLocks/>
          </p:cNvSpPr>
          <p:nvPr/>
        </p:nvSpPr>
        <p:spPr bwMode="auto">
          <a:xfrm>
            <a:off x="1" y="2674459"/>
            <a:ext cx="7188398" cy="482203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40620" bIns="0" anchor="ctr"/>
          <a:lstStyle/>
          <a:p>
            <a:pPr marL="40168"/>
            <a:r>
              <a:rPr lang="en-US" sz="2700" dirty="0">
                <a:solidFill>
                  <a:srgbClr val="FFCC99"/>
                </a:solidFill>
                <a:latin typeface="Verdana" charset="0"/>
                <a:ea typeface="Verdana" charset="0"/>
                <a:cs typeface="Verdana" charset="0"/>
                <a:sym typeface="Verdana" charset="0"/>
              </a:rPr>
              <a:t> </a:t>
            </a:r>
          </a:p>
        </p:txBody>
      </p:sp>
      <p:sp>
        <p:nvSpPr>
          <p:cNvPr id="8199" name="Rectangle 7"/>
          <p:cNvSpPr>
            <a:spLocks/>
          </p:cNvSpPr>
          <p:nvPr/>
        </p:nvSpPr>
        <p:spPr bwMode="auto">
          <a:xfrm>
            <a:off x="240044" y="2237898"/>
            <a:ext cx="8743809" cy="1401961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40620" bIns="0" anchor="ctr"/>
          <a:lstStyle/>
          <a:p>
            <a:r>
              <a:rPr lang="en-US" sz="4000" dirty="0" smtClean="0">
                <a:solidFill>
                  <a:srgbClr val="FFFF00"/>
                </a:solidFill>
              </a:rPr>
              <a:t>Parallel de novo Assembly of Complex (Meta) Genomes via HipMer</a:t>
            </a:r>
            <a:endParaRPr lang="en-US" sz="4000" dirty="0">
              <a:solidFill>
                <a:srgbClr val="FFFF00"/>
              </a:solidFill>
            </a:endParaRPr>
          </a:p>
        </p:txBody>
      </p:sp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152474" y="4124519"/>
            <a:ext cx="8936707" cy="19935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298" tIns="45649" rIns="91298" bIns="45649" anchor="ctr"/>
          <a:lstStyle/>
          <a:p>
            <a:pPr>
              <a:spcBef>
                <a:spcPct val="0"/>
              </a:spcBef>
            </a:pPr>
            <a:r>
              <a:rPr lang="en-US" sz="2800" b="1" dirty="0">
                <a:solidFill>
                  <a:srgbClr val="FFFF00"/>
                </a:solidFill>
                <a:latin typeface="Calibri"/>
                <a:cs typeface="Arial" charset="0"/>
              </a:rPr>
              <a:t>Aydın </a:t>
            </a:r>
            <a:r>
              <a:rPr lang="en-US" sz="2800" b="1" dirty="0" err="1">
                <a:solidFill>
                  <a:srgbClr val="FFFF00"/>
                </a:solidFill>
                <a:latin typeface="Calibri"/>
                <a:cs typeface="Arial" charset="0"/>
              </a:rPr>
              <a:t>Buluç</a:t>
            </a:r>
            <a:endParaRPr lang="en-US" sz="2800" b="1" dirty="0">
              <a:solidFill>
                <a:srgbClr val="FFFF00"/>
              </a:solidFill>
              <a:latin typeface="Calibri"/>
              <a:cs typeface="Arial" charset="0"/>
            </a:endParaRPr>
          </a:p>
          <a:p>
            <a:pPr>
              <a:spcBef>
                <a:spcPct val="0"/>
              </a:spcBef>
            </a:pPr>
            <a:r>
              <a:rPr lang="en-US" sz="2800" b="1" dirty="0" smtClean="0">
                <a:solidFill>
                  <a:srgbClr val="FFFF00"/>
                </a:solidFill>
                <a:latin typeface="Calibri"/>
                <a:cs typeface="Arial" charset="0"/>
              </a:rPr>
              <a:t>Computational Research Division, LBNL</a:t>
            </a:r>
            <a:endParaRPr lang="en-US" sz="2800" b="1" dirty="0">
              <a:solidFill>
                <a:srgbClr val="FFFF00"/>
              </a:solidFill>
              <a:latin typeface="Calibri"/>
              <a:cs typeface="Arial" charset="0"/>
            </a:endParaRPr>
          </a:p>
          <a:p>
            <a:pPr>
              <a:spcBef>
                <a:spcPct val="0"/>
              </a:spcBef>
            </a:pPr>
            <a:endParaRPr lang="en-US" sz="2400" dirty="0">
              <a:solidFill>
                <a:srgbClr val="FFFF00"/>
              </a:solidFill>
              <a:latin typeface="Calibri"/>
              <a:cs typeface="Calibri"/>
            </a:endParaRPr>
          </a:p>
          <a:p>
            <a:pPr>
              <a:spcBef>
                <a:spcPct val="0"/>
              </a:spcBef>
            </a:pPr>
            <a:r>
              <a:rPr lang="en-US" sz="2400" dirty="0" smtClean="0">
                <a:solidFill>
                  <a:srgbClr val="FFFF00"/>
                </a:solidFill>
                <a:latin typeface="Calibri"/>
                <a:cs typeface="Calibri"/>
              </a:rPr>
              <a:t>May 23, 2016</a:t>
            </a:r>
          </a:p>
          <a:p>
            <a:pPr>
              <a:spcBef>
                <a:spcPct val="0"/>
              </a:spcBef>
            </a:pPr>
            <a:r>
              <a:rPr lang="en-US" sz="2400" dirty="0" smtClean="0">
                <a:solidFill>
                  <a:srgbClr val="FFFF00"/>
                </a:solidFill>
                <a:latin typeface="Calibri"/>
                <a:cs typeface="Calibri"/>
              </a:rPr>
              <a:t>Invited Talk at </a:t>
            </a:r>
            <a:r>
              <a:rPr lang="en-US" sz="2400" dirty="0" err="1" smtClean="0">
                <a:solidFill>
                  <a:srgbClr val="FFFF00"/>
                </a:solidFill>
                <a:latin typeface="Calibri"/>
                <a:cs typeface="Calibri"/>
              </a:rPr>
              <a:t>HiCOMB</a:t>
            </a:r>
            <a:r>
              <a:rPr lang="en-US" sz="2400" dirty="0" smtClean="0">
                <a:solidFill>
                  <a:srgbClr val="FFFF00"/>
                </a:solidFill>
                <a:latin typeface="Calibri"/>
                <a:cs typeface="Calibri"/>
              </a:rPr>
              <a:t> 2016</a:t>
            </a:r>
          </a:p>
        </p:txBody>
      </p:sp>
      <p:pic>
        <p:nvPicPr>
          <p:cNvPr id="11" name="Picture 7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16" y="-27906"/>
            <a:ext cx="2080388" cy="13790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2438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37354" y="1540677"/>
            <a:ext cx="8229600" cy="4525963"/>
          </a:xfrm>
        </p:spPr>
        <p:txBody>
          <a:bodyPr/>
          <a:lstStyle/>
          <a:p>
            <a:pPr marL="0" lvl="1" indent="0">
              <a:buNone/>
            </a:pPr>
            <a:r>
              <a:rPr lang="en-US" sz="2000" b="1" dirty="0" smtClean="0"/>
              <a:t>Joint work (alphabetical) with </a:t>
            </a:r>
            <a:r>
              <a:rPr lang="en-US" sz="2000" dirty="0"/>
              <a:t>Chaitanya Aluru, </a:t>
            </a:r>
            <a:r>
              <a:rPr lang="en-US" sz="2000" dirty="0" smtClean="0"/>
              <a:t>Jarrod Chapman, Rob Egan, </a:t>
            </a:r>
            <a:r>
              <a:rPr lang="en-US" sz="2000" dirty="0" err="1" smtClean="0"/>
              <a:t>Evangelos</a:t>
            </a:r>
            <a:r>
              <a:rPr lang="en-US" sz="2000" dirty="0" smtClean="0"/>
              <a:t> </a:t>
            </a:r>
            <a:r>
              <a:rPr lang="en-US" sz="2000" dirty="0" err="1" smtClean="0"/>
              <a:t>Georganas</a:t>
            </a:r>
            <a:r>
              <a:rPr lang="en-US" sz="2000" dirty="0" smtClean="0"/>
              <a:t>, </a:t>
            </a:r>
            <a:r>
              <a:rPr lang="en-US" sz="2000" dirty="0"/>
              <a:t>Steven </a:t>
            </a:r>
            <a:r>
              <a:rPr lang="en-US" sz="2000" dirty="0" err="1"/>
              <a:t>Hofmeyr</a:t>
            </a:r>
            <a:r>
              <a:rPr lang="en-US" sz="2000" dirty="0" smtClean="0"/>
              <a:t>, </a:t>
            </a:r>
            <a:r>
              <a:rPr lang="en-US" sz="2000" dirty="0"/>
              <a:t>Lenny </a:t>
            </a:r>
            <a:r>
              <a:rPr lang="en-US" sz="2000" dirty="0" err="1"/>
              <a:t>Oliker</a:t>
            </a:r>
            <a:r>
              <a:rPr lang="en-US" sz="2000" dirty="0"/>
              <a:t>, Dan </a:t>
            </a:r>
            <a:r>
              <a:rPr lang="en-US" sz="2000" dirty="0" err="1"/>
              <a:t>Rokhsar</a:t>
            </a:r>
            <a:r>
              <a:rPr lang="en-US" sz="2000" dirty="0"/>
              <a:t>, Kathy </a:t>
            </a:r>
            <a:r>
              <a:rPr lang="en-US" sz="2000" dirty="0" err="1" smtClean="0"/>
              <a:t>Yelick</a:t>
            </a:r>
            <a:endParaRPr lang="en-US" sz="2000" b="1" dirty="0" smtClean="0"/>
          </a:p>
          <a:p>
            <a:pPr marL="0" indent="0">
              <a:buNone/>
            </a:pPr>
            <a:endParaRPr lang="en-US" sz="2000" b="1" dirty="0"/>
          </a:p>
          <a:p>
            <a:pPr marL="420624" indent="-420624">
              <a:buFont typeface="+mj-lt"/>
              <a:buAutoNum type="arabicPeriod"/>
            </a:pPr>
            <a:r>
              <a:rPr lang="en-US" sz="2000" b="1" dirty="0" smtClean="0"/>
              <a:t>Parallel </a:t>
            </a:r>
            <a:r>
              <a:rPr lang="en-US" sz="2000" b="1" dirty="0"/>
              <a:t>De </a:t>
            </a:r>
            <a:r>
              <a:rPr lang="en-US" sz="2000" b="1" dirty="0" err="1"/>
              <a:t>Bruijn</a:t>
            </a:r>
            <a:r>
              <a:rPr lang="en-US" sz="2000" b="1" dirty="0"/>
              <a:t> Graph Construction and Traversal for de novo Genome </a:t>
            </a:r>
            <a:r>
              <a:rPr lang="en-US" sz="2000" b="1" dirty="0" smtClean="0"/>
              <a:t>Assembly</a:t>
            </a:r>
            <a:r>
              <a:rPr lang="en-US" sz="2000" dirty="0" smtClean="0"/>
              <a:t>, SC’14</a:t>
            </a:r>
          </a:p>
          <a:p>
            <a:pPr marL="420624" indent="-420624">
              <a:buFont typeface="+mj-lt"/>
              <a:buAutoNum type="arabicPeriod"/>
            </a:pPr>
            <a:r>
              <a:rPr lang="en-US" sz="2000" b="1" dirty="0"/>
              <a:t>A whole-genome shotgun approach for assembling and anchoring the </a:t>
            </a:r>
            <a:r>
              <a:rPr lang="en-US" sz="2000" b="1" dirty="0" err="1"/>
              <a:t>hexaploid</a:t>
            </a:r>
            <a:r>
              <a:rPr lang="en-US" sz="2000" b="1" dirty="0"/>
              <a:t> bread wheat genome</a:t>
            </a:r>
            <a:r>
              <a:rPr lang="en-US" sz="2000" dirty="0"/>
              <a:t>. Genome Biology, 16(26), 2015.</a:t>
            </a:r>
            <a:endParaRPr lang="en-US" sz="2000" dirty="0" smtClean="0"/>
          </a:p>
          <a:p>
            <a:pPr marL="420624" indent="-420624">
              <a:buFont typeface="+mj-lt"/>
              <a:buAutoNum type="arabicPeriod"/>
            </a:pPr>
            <a:r>
              <a:rPr lang="en-US" sz="2000" b="1" dirty="0" err="1" smtClean="0"/>
              <a:t>meraligner</a:t>
            </a:r>
            <a:r>
              <a:rPr lang="en-US" sz="2000" b="1" dirty="0"/>
              <a:t>: A fully parallel sequence </a:t>
            </a:r>
            <a:r>
              <a:rPr lang="en-US" sz="2000" b="1" dirty="0" smtClean="0"/>
              <a:t>aligner</a:t>
            </a:r>
            <a:r>
              <a:rPr lang="en-US" sz="2000" dirty="0" smtClean="0"/>
              <a:t>, IPDPS’15</a:t>
            </a:r>
          </a:p>
          <a:p>
            <a:pPr marL="420624" indent="-420624">
              <a:buFont typeface="+mj-lt"/>
              <a:buAutoNum type="arabicPeriod"/>
            </a:pPr>
            <a:r>
              <a:rPr lang="en-US" sz="2000" b="1" dirty="0" err="1" smtClean="0"/>
              <a:t>HipMer</a:t>
            </a:r>
            <a:r>
              <a:rPr lang="en-US" sz="2000" b="1" dirty="0"/>
              <a:t>: An Extreme-Scale De Novo Genome </a:t>
            </a:r>
            <a:r>
              <a:rPr lang="en-US" sz="2000" b="1" dirty="0" smtClean="0"/>
              <a:t>Assembler</a:t>
            </a:r>
            <a:r>
              <a:rPr lang="en-US" sz="2000" dirty="0" smtClean="0"/>
              <a:t>, SC’15</a:t>
            </a:r>
          </a:p>
        </p:txBody>
      </p:sp>
      <p:grpSp>
        <p:nvGrpSpPr>
          <p:cNvPr id="13" name="Group 124"/>
          <p:cNvGrpSpPr/>
          <p:nvPr/>
        </p:nvGrpSpPr>
        <p:grpSpPr>
          <a:xfrm>
            <a:off x="0" y="-5557"/>
            <a:ext cx="9144000" cy="1300363"/>
            <a:chOff x="0" y="-7906"/>
            <a:chExt cx="13004800" cy="1849406"/>
          </a:xfrm>
        </p:grpSpPr>
        <p:pic>
          <p:nvPicPr>
            <p:cNvPr id="14" name="Picture 3"/>
            <p:cNvPicPr>
              <a:picLocks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0"/>
              <a:ext cx="13004800" cy="1841500"/>
            </a:xfrm>
            <a:prstGeom prst="rect">
              <a:avLst/>
            </a:prstGeom>
            <a:noFill/>
            <a:ln w="9525" cap="flat">
              <a:noFill/>
              <a:miter lim="800000"/>
              <a:headEnd/>
              <a:tailEnd/>
            </a:ln>
          </p:spPr>
        </p:pic>
        <p:sp>
          <p:nvSpPr>
            <p:cNvPr id="15" name="Rectangle 5"/>
            <p:cNvSpPr txBox="1">
              <a:spLocks noChangeArrowheads="1"/>
            </p:cNvSpPr>
            <p:nvPr/>
          </p:nvSpPr>
          <p:spPr bwMode="auto">
            <a:xfrm>
              <a:off x="257964" y="-7906"/>
              <a:ext cx="12031663" cy="140969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vert="horz" wrap="square" lIns="50777" tIns="50777" rIns="166318" bIns="50777" numCol="1" anchor="ctr" anchorCtr="0" compatLnSpc="1">
              <a:prstTxWarp prst="textNoShape">
                <a:avLst/>
              </a:prstTxWarp>
            </a:bodyPr>
            <a:lstStyle/>
            <a:p>
              <a:pPr marL="40160" defTabSz="642552">
                <a:defRPr/>
              </a:pPr>
              <a:r>
                <a:rPr lang="en-US" sz="3200" kern="0" dirty="0" smtClean="0">
                  <a:solidFill>
                    <a:srgbClr val="FFFF00"/>
                  </a:solidFill>
                  <a:latin typeface="Calibri"/>
                  <a:cs typeface="Calibri"/>
                  <a:sym typeface="Arial Bold" charset="0"/>
                </a:rPr>
                <a:t>Outline and Acknowledgments</a:t>
              </a: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1543979" y="5498312"/>
            <a:ext cx="6925260" cy="1280819"/>
            <a:chOff x="1543977" y="5498294"/>
            <a:chExt cx="6925260" cy="1280819"/>
          </a:xfrm>
        </p:grpSpPr>
        <p:pic>
          <p:nvPicPr>
            <p:cNvPr id="8" name="Picture 7" descr="DOE_logo.jpg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30495" y="5498294"/>
              <a:ext cx="4538742" cy="1280819"/>
            </a:xfrm>
            <a:prstGeom prst="rect">
              <a:avLst/>
            </a:prstGeom>
          </p:spPr>
        </p:pic>
        <p:sp>
          <p:nvSpPr>
            <p:cNvPr id="3" name="TextBox 2"/>
            <p:cNvSpPr txBox="1"/>
            <p:nvPr/>
          </p:nvSpPr>
          <p:spPr>
            <a:xfrm>
              <a:off x="1543977" y="5780552"/>
              <a:ext cx="301758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dirty="0">
                  <a:solidFill>
                    <a:prstClr val="black"/>
                  </a:solidFill>
                  <a:latin typeface="Calibri"/>
                </a:rPr>
                <a:t>W</a:t>
              </a:r>
              <a:r>
                <a:rPr lang="en-US" sz="2200" dirty="0" smtClean="0">
                  <a:solidFill>
                    <a:prstClr val="black"/>
                  </a:solidFill>
                  <a:latin typeface="Calibri"/>
                </a:rPr>
                <a:t>ork is funded by</a:t>
              </a:r>
              <a:endParaRPr lang="en-US" sz="2200" dirty="0">
                <a:solidFill>
                  <a:prstClr val="black"/>
                </a:solidFill>
                <a:latin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65764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124"/>
          <p:cNvGrpSpPr/>
          <p:nvPr/>
        </p:nvGrpSpPr>
        <p:grpSpPr>
          <a:xfrm>
            <a:off x="0" y="-5557"/>
            <a:ext cx="9144000" cy="1300363"/>
            <a:chOff x="0" y="-7906"/>
            <a:chExt cx="13004800" cy="1849406"/>
          </a:xfrm>
        </p:grpSpPr>
        <p:pic>
          <p:nvPicPr>
            <p:cNvPr id="84" name="Picture 3"/>
            <p:cNvPicPr>
              <a:picLocks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0"/>
              <a:ext cx="13004800" cy="1841500"/>
            </a:xfrm>
            <a:prstGeom prst="rect">
              <a:avLst/>
            </a:prstGeom>
            <a:noFill/>
            <a:ln w="9525" cap="flat">
              <a:noFill/>
              <a:miter lim="800000"/>
              <a:headEnd/>
              <a:tailEnd/>
            </a:ln>
          </p:spPr>
        </p:pic>
        <p:sp>
          <p:nvSpPr>
            <p:cNvPr id="85" name="Rectangle 5"/>
            <p:cNvSpPr txBox="1">
              <a:spLocks noChangeArrowheads="1"/>
            </p:cNvSpPr>
            <p:nvPr/>
          </p:nvSpPr>
          <p:spPr bwMode="auto">
            <a:xfrm>
              <a:off x="257964" y="-7906"/>
              <a:ext cx="12031663" cy="140969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vert="horz" wrap="square" lIns="50777" tIns="50777" rIns="166318" bIns="50777" numCol="1" anchor="ctr" anchorCtr="0" compatLnSpc="1">
              <a:prstTxWarp prst="textNoShape">
                <a:avLst/>
              </a:prstTxWarp>
            </a:bodyPr>
            <a:lstStyle/>
            <a:p>
              <a:pPr marL="40160" defTabSz="642552">
                <a:defRPr/>
              </a:pPr>
              <a:r>
                <a:rPr lang="en-US" sz="3100" kern="0" dirty="0">
                  <a:solidFill>
                    <a:srgbClr val="FFFF00"/>
                  </a:solidFill>
                  <a:latin typeface="Calibri"/>
                  <a:cs typeface="Calibri"/>
                  <a:sym typeface="Arial Bold" charset="0"/>
                </a:rPr>
                <a:t>De novo Genome Assembly</a:t>
              </a:r>
              <a:endParaRPr lang="en-US" sz="3100" kern="0" dirty="0" smtClean="0">
                <a:solidFill>
                  <a:srgbClr val="FFFF00"/>
                </a:solidFill>
                <a:latin typeface="Calibri"/>
                <a:cs typeface="Calibri"/>
                <a:sym typeface="Arial Bold" charset="0"/>
              </a:endParaRP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2573430" y="867461"/>
            <a:ext cx="1749536" cy="850789"/>
            <a:chOff x="238714" y="1112739"/>
            <a:chExt cx="2827325" cy="1274108"/>
          </a:xfrm>
        </p:grpSpPr>
        <p:pic>
          <p:nvPicPr>
            <p:cNvPr id="7" name="Picture 6" descr="mobydick.jpg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8714" y="1112739"/>
              <a:ext cx="926283" cy="1266691"/>
            </a:xfrm>
            <a:prstGeom prst="rect">
              <a:avLst/>
            </a:prstGeom>
          </p:spPr>
        </p:pic>
        <p:pic>
          <p:nvPicPr>
            <p:cNvPr id="8" name="Picture 7" descr="51t1kyruRgL.jpg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81188" y="1112739"/>
              <a:ext cx="784851" cy="1274108"/>
            </a:xfrm>
            <a:prstGeom prst="rect">
              <a:avLst/>
            </a:prstGeom>
          </p:spPr>
        </p:pic>
        <p:pic>
          <p:nvPicPr>
            <p:cNvPr id="9" name="Picture 8" descr="51HHNZHE02L.jpg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29194" y="1120156"/>
              <a:ext cx="800548" cy="1266691"/>
            </a:xfrm>
            <a:prstGeom prst="rect">
              <a:avLst/>
            </a:prstGeom>
          </p:spPr>
        </p:pic>
      </p:grpSp>
      <p:sp>
        <p:nvSpPr>
          <p:cNvPr id="10" name="TextBox 9"/>
          <p:cNvSpPr txBox="1"/>
          <p:nvPr/>
        </p:nvSpPr>
        <p:spPr>
          <a:xfrm>
            <a:off x="143745" y="1269544"/>
            <a:ext cx="25634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prstClr val="black"/>
                </a:solidFill>
                <a:latin typeface="Calibri"/>
              </a:rPr>
              <a:t>1. Three copies of the same novel.</a:t>
            </a:r>
            <a:endParaRPr lang="en-US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6342" y="2468239"/>
            <a:ext cx="4007862" cy="5539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prstClr val="black"/>
                </a:solidFill>
                <a:latin typeface="Courier New"/>
                <a:cs typeface="Courier New"/>
              </a:rPr>
              <a:t>For all men tragically great are made so through a certain </a:t>
            </a:r>
            <a:r>
              <a:rPr lang="en-US" sz="1000" dirty="0" err="1" smtClean="0">
                <a:solidFill>
                  <a:prstClr val="black"/>
                </a:solidFill>
                <a:latin typeface="Courier New"/>
                <a:cs typeface="Courier New"/>
              </a:rPr>
              <a:t>morbidness</a:t>
            </a:r>
            <a:r>
              <a:rPr lang="en-US" sz="1000" dirty="0" smtClean="0">
                <a:solidFill>
                  <a:prstClr val="black"/>
                </a:solidFill>
                <a:latin typeface="Courier New"/>
                <a:cs typeface="Courier New"/>
              </a:rPr>
              <a:t>… </a:t>
            </a:r>
            <a:r>
              <a:rPr lang="en-US" sz="1000" dirty="0">
                <a:solidFill>
                  <a:prstClr val="black"/>
                </a:solidFill>
                <a:latin typeface="Courier New"/>
                <a:cs typeface="Courier New"/>
              </a:rPr>
              <a:t>all mortal greatness is but disease.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71" y="1821908"/>
            <a:ext cx="42360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  <a:latin typeface="Calibri"/>
              </a:rPr>
              <a:t>2</a:t>
            </a:r>
            <a:r>
              <a:rPr lang="en-US" sz="1200" dirty="0" smtClean="0">
                <a:solidFill>
                  <a:prstClr val="black"/>
                </a:solidFill>
                <a:latin typeface="Calibri"/>
              </a:rPr>
              <a:t>. Some text from the novel. All pages will be randomly cut into strips of characters. Random </a:t>
            </a:r>
            <a:r>
              <a:rPr lang="en-US" sz="1200" b="1" dirty="0" smtClean="0">
                <a:solidFill>
                  <a:prstClr val="black"/>
                </a:solidFill>
                <a:latin typeface="Calibri"/>
              </a:rPr>
              <a:t>typos (errors)</a:t>
            </a:r>
            <a:r>
              <a:rPr lang="en-US" sz="1200" dirty="0" smtClean="0">
                <a:solidFill>
                  <a:prstClr val="black"/>
                </a:solidFill>
                <a:latin typeface="Calibri"/>
              </a:rPr>
              <a:t> throughout each novel.</a:t>
            </a:r>
            <a:endParaRPr lang="en-US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76342" y="5875504"/>
            <a:ext cx="789401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prstClr val="black"/>
                </a:solidFill>
                <a:latin typeface="Courier New"/>
                <a:cs typeface="Courier New"/>
              </a:rPr>
              <a:t>For </a:t>
            </a:r>
            <a:r>
              <a:rPr lang="en-US" sz="1000" dirty="0" smtClean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endParaRPr lang="en-US" sz="1000" dirty="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95269" y="6169395"/>
            <a:ext cx="2075189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 smtClean="0">
                <a:solidFill>
                  <a:prstClr val="black"/>
                </a:solidFill>
                <a:latin typeface="Courier New"/>
                <a:cs typeface="Courier New"/>
              </a:rPr>
              <a:t>all </a:t>
            </a:r>
            <a:r>
              <a:rPr lang="en-US" sz="1000" dirty="0">
                <a:solidFill>
                  <a:prstClr val="black"/>
                </a:solidFill>
                <a:latin typeface="Courier New"/>
                <a:cs typeface="Courier New"/>
              </a:rPr>
              <a:t>men tragically </a:t>
            </a:r>
            <a:r>
              <a:rPr lang="en-US" sz="1000" dirty="0" smtClean="0">
                <a:solidFill>
                  <a:prstClr val="black"/>
                </a:solidFill>
                <a:latin typeface="Courier New"/>
                <a:cs typeface="Courier New"/>
              </a:rPr>
              <a:t>g</a:t>
            </a:r>
            <a:endParaRPr lang="en-US" sz="1000" dirty="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574947" y="6461983"/>
            <a:ext cx="1132286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 smtClean="0">
                <a:solidFill>
                  <a:prstClr val="black"/>
                </a:solidFill>
                <a:latin typeface="Courier New"/>
                <a:cs typeface="Courier New"/>
              </a:rPr>
              <a:t>ally great</a:t>
            </a:r>
            <a:endParaRPr lang="en-US" sz="1000" dirty="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949637" y="5875504"/>
            <a:ext cx="1567499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 smtClean="0">
                <a:solidFill>
                  <a:prstClr val="black"/>
                </a:solidFill>
                <a:latin typeface="Courier New"/>
                <a:cs typeface="Courier New"/>
              </a:rPr>
              <a:t>great are </a:t>
            </a:r>
            <a:r>
              <a:rPr lang="en-US" sz="1000" dirty="0">
                <a:solidFill>
                  <a:prstClr val="black"/>
                </a:solidFill>
                <a:latin typeface="Courier New"/>
                <a:cs typeface="Courier New"/>
              </a:rPr>
              <a:t>made </a:t>
            </a:r>
            <a:r>
              <a:rPr lang="en-US" sz="1000" dirty="0" smtClean="0">
                <a:solidFill>
                  <a:prstClr val="black"/>
                </a:solidFill>
                <a:latin typeface="Courier New"/>
                <a:cs typeface="Courier New"/>
              </a:rPr>
              <a:t>so</a:t>
            </a:r>
            <a:endParaRPr lang="en-US" sz="1000" dirty="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6871" y="3080141"/>
            <a:ext cx="45028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prstClr val="black"/>
                </a:solidFill>
                <a:latin typeface="Calibri"/>
              </a:rPr>
              <a:t>3. A few strips of characters from one page.</a:t>
            </a:r>
            <a:endParaRPr lang="en-US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6871" y="4341176"/>
            <a:ext cx="3161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  <a:latin typeface="Calibri"/>
              </a:rPr>
              <a:t>4</a:t>
            </a:r>
            <a:r>
              <a:rPr lang="en-US" sz="1200" dirty="0" smtClean="0">
                <a:solidFill>
                  <a:prstClr val="black"/>
                </a:solidFill>
                <a:latin typeface="Calibri"/>
              </a:rPr>
              <a:t>. All of the strips of characters from the 3 novels.</a:t>
            </a:r>
            <a:endParaRPr lang="en-US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6871" y="5017515"/>
            <a:ext cx="45028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prstClr val="black"/>
                </a:solidFill>
                <a:latin typeface="Calibri"/>
              </a:rPr>
              <a:t>5. Every strip must be assembled as shown here to create a single copy of the novel.</a:t>
            </a:r>
            <a:endParaRPr lang="en-US" sz="1200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22" name="Picture 21" descr="shredded-paper.jp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9584" y="4174850"/>
            <a:ext cx="1273382" cy="84266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76342" y="5510019"/>
            <a:ext cx="3330387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prstClr val="black"/>
                </a:solidFill>
                <a:latin typeface="Courier New"/>
                <a:cs typeface="Courier New"/>
              </a:rPr>
              <a:t>For all men tragically great are made </a:t>
            </a:r>
            <a:r>
              <a:rPr lang="en-US" sz="1000" b="1" dirty="0" smtClean="0">
                <a:solidFill>
                  <a:prstClr val="black"/>
                </a:solidFill>
                <a:latin typeface="Courier New"/>
                <a:cs typeface="Courier New"/>
              </a:rPr>
              <a:t>so</a:t>
            </a:r>
            <a:endParaRPr lang="en-US" sz="1000" b="1" dirty="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76342" y="3369108"/>
            <a:ext cx="789401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prstClr val="black"/>
                </a:solidFill>
                <a:latin typeface="Courier New"/>
                <a:cs typeface="Courier New"/>
              </a:rPr>
              <a:t>For </a:t>
            </a:r>
            <a:r>
              <a:rPr lang="en-US" sz="1000" dirty="0" smtClean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endParaRPr lang="en-US" sz="1000" dirty="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373087" y="3382877"/>
            <a:ext cx="1132286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 smtClean="0">
                <a:solidFill>
                  <a:prstClr val="black"/>
                </a:solidFill>
                <a:latin typeface="Courier New"/>
                <a:cs typeface="Courier New"/>
              </a:rPr>
              <a:t>ally great</a:t>
            </a:r>
            <a:endParaRPr lang="en-US" sz="1000" dirty="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82138" y="3710794"/>
            <a:ext cx="1567499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 smtClean="0">
                <a:solidFill>
                  <a:prstClr val="black"/>
                </a:solidFill>
                <a:latin typeface="Courier New"/>
                <a:cs typeface="Courier New"/>
              </a:rPr>
              <a:t>great are </a:t>
            </a:r>
            <a:r>
              <a:rPr lang="en-US" sz="1000" dirty="0">
                <a:solidFill>
                  <a:prstClr val="black"/>
                </a:solidFill>
                <a:latin typeface="Courier New"/>
                <a:cs typeface="Courier New"/>
              </a:rPr>
              <a:t>made </a:t>
            </a:r>
            <a:r>
              <a:rPr lang="en-US" sz="1000" dirty="0" smtClean="0">
                <a:solidFill>
                  <a:prstClr val="black"/>
                </a:solidFill>
                <a:latin typeface="Courier New"/>
                <a:cs typeface="Courier New"/>
              </a:rPr>
              <a:t>so</a:t>
            </a:r>
            <a:endParaRPr lang="en-US" sz="1000" dirty="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109015" y="3718657"/>
            <a:ext cx="2075189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 smtClean="0">
                <a:solidFill>
                  <a:prstClr val="black"/>
                </a:solidFill>
                <a:latin typeface="Courier New"/>
                <a:cs typeface="Courier New"/>
              </a:rPr>
              <a:t>all </a:t>
            </a:r>
            <a:r>
              <a:rPr lang="en-US" sz="1000" dirty="0">
                <a:solidFill>
                  <a:prstClr val="black"/>
                </a:solidFill>
                <a:latin typeface="Courier New"/>
                <a:cs typeface="Courier New"/>
              </a:rPr>
              <a:t>men tragically </a:t>
            </a:r>
            <a:r>
              <a:rPr lang="en-US" sz="1000" dirty="0" smtClean="0">
                <a:solidFill>
                  <a:prstClr val="black"/>
                </a:solidFill>
                <a:latin typeface="Courier New"/>
                <a:cs typeface="Courier New"/>
              </a:rPr>
              <a:t>g</a:t>
            </a:r>
            <a:endParaRPr lang="en-US" sz="1000" dirty="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892468" y="986940"/>
            <a:ext cx="25634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prstClr val="black"/>
                </a:solidFill>
                <a:latin typeface="Calibri"/>
              </a:rPr>
              <a:t>1. Three copies of the same DNA.</a:t>
            </a:r>
            <a:endParaRPr lang="en-US" sz="1200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37" name="Picture 36" descr="DNA-Helix.pn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7762" y="1269544"/>
            <a:ext cx="1067706" cy="638780"/>
          </a:xfrm>
          <a:prstGeom prst="rect">
            <a:avLst/>
          </a:prstGeom>
        </p:spPr>
      </p:pic>
      <p:pic>
        <p:nvPicPr>
          <p:cNvPr id="38" name="Picture 37" descr="DNA-Helix.pn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3918" y="1250301"/>
            <a:ext cx="1067706" cy="638780"/>
          </a:xfrm>
          <a:prstGeom prst="rect">
            <a:avLst/>
          </a:prstGeom>
        </p:spPr>
      </p:pic>
      <p:pic>
        <p:nvPicPr>
          <p:cNvPr id="39" name="Picture 38" descr="DNA-Helix.pn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7655" y="1250301"/>
            <a:ext cx="1067706" cy="63878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4892468" y="1996062"/>
            <a:ext cx="42360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  <a:latin typeface="Calibri"/>
              </a:rPr>
              <a:t>2</a:t>
            </a:r>
            <a:r>
              <a:rPr lang="en-US" sz="1200" dirty="0" smtClean="0">
                <a:solidFill>
                  <a:prstClr val="black"/>
                </a:solidFill>
                <a:latin typeface="Calibri"/>
              </a:rPr>
              <a:t>. Some part of the DNA sequence. It will be read into strips. There are random </a:t>
            </a:r>
            <a:r>
              <a:rPr lang="en-US" sz="1200" b="1" dirty="0" smtClean="0">
                <a:solidFill>
                  <a:prstClr val="black"/>
                </a:solidFill>
                <a:latin typeface="Calibri"/>
              </a:rPr>
              <a:t>errors</a:t>
            </a:r>
            <a:r>
              <a:rPr lang="en-US" sz="1200" dirty="0" smtClean="0">
                <a:solidFill>
                  <a:prstClr val="black"/>
                </a:solidFill>
                <a:latin typeface="Calibri"/>
              </a:rPr>
              <a:t> throughout the sequence.</a:t>
            </a:r>
            <a:endParaRPr lang="en-US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272933" y="2642393"/>
            <a:ext cx="3405628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 smtClean="0">
                <a:solidFill>
                  <a:prstClr val="black"/>
                </a:solidFill>
                <a:latin typeface="Courier New"/>
                <a:cs typeface="Courier New"/>
              </a:rPr>
              <a:t>ACCGTAGCAAAACCGGGTAGTCATACTACTACGTACTCATCT</a:t>
            </a:r>
            <a:endParaRPr lang="en-US" sz="1000" dirty="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892468" y="3080141"/>
            <a:ext cx="45028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prstClr val="black"/>
                </a:solidFill>
                <a:latin typeface="Calibri"/>
              </a:rPr>
              <a:t>3. The sequence is read into smaller pieces (</a:t>
            </a:r>
            <a:r>
              <a:rPr lang="en-US" sz="1200" b="1" dirty="0" smtClean="0">
                <a:solidFill>
                  <a:prstClr val="black"/>
                </a:solidFill>
                <a:latin typeface="Calibri"/>
              </a:rPr>
              <a:t>reads</a:t>
            </a:r>
            <a:r>
              <a:rPr lang="en-US" sz="1200" dirty="0" smtClean="0">
                <a:solidFill>
                  <a:prstClr val="black"/>
                </a:solidFill>
                <a:latin typeface="Calibri"/>
              </a:rPr>
              <a:t>). Can not read whole DNA sequence </a:t>
            </a:r>
            <a:r>
              <a:rPr lang="en-US" sz="1200" i="1" dirty="0" smtClean="0">
                <a:solidFill>
                  <a:prstClr val="black"/>
                </a:solidFill>
                <a:latin typeface="Calibri"/>
              </a:rPr>
              <a:t>in one go.</a:t>
            </a:r>
            <a:endParaRPr lang="en-US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062186" y="5681898"/>
            <a:ext cx="990640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 smtClean="0">
                <a:solidFill>
                  <a:prstClr val="black"/>
                </a:solidFill>
                <a:latin typeface="Courier New"/>
                <a:cs typeface="Courier New"/>
              </a:rPr>
              <a:t>ACCGTAGCAA</a:t>
            </a:r>
            <a:endParaRPr lang="en-US" sz="1000" dirty="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110002" y="3595546"/>
            <a:ext cx="990640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 smtClean="0">
                <a:solidFill>
                  <a:prstClr val="black"/>
                </a:solidFill>
                <a:latin typeface="Courier New"/>
                <a:cs typeface="Courier New"/>
              </a:rPr>
              <a:t>AAACCGGGTA</a:t>
            </a:r>
            <a:endParaRPr lang="en-US" sz="1000" dirty="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351624" y="3587683"/>
            <a:ext cx="990640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 smtClean="0">
                <a:solidFill>
                  <a:prstClr val="black"/>
                </a:solidFill>
                <a:latin typeface="Courier New"/>
                <a:cs typeface="Courier New"/>
              </a:rPr>
              <a:t>TAGTCATACT</a:t>
            </a:r>
            <a:endParaRPr lang="en-US" sz="1000" dirty="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788598" y="5998614"/>
            <a:ext cx="990640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 smtClean="0">
                <a:solidFill>
                  <a:prstClr val="black"/>
                </a:solidFill>
                <a:latin typeface="Courier New"/>
                <a:cs typeface="Courier New"/>
              </a:rPr>
              <a:t>AAACCGGGTA</a:t>
            </a:r>
            <a:endParaRPr lang="en-US" sz="1000" dirty="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856304" y="3938947"/>
            <a:ext cx="990640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 smtClean="0">
                <a:solidFill>
                  <a:prstClr val="black"/>
                </a:solidFill>
                <a:latin typeface="Courier New"/>
                <a:cs typeface="Courier New"/>
              </a:rPr>
              <a:t>ACTACGTACT</a:t>
            </a:r>
            <a:endParaRPr lang="en-US" sz="1000" dirty="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4887037" y="4261556"/>
            <a:ext cx="31613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  <a:latin typeface="Calibri"/>
              </a:rPr>
              <a:t>4</a:t>
            </a:r>
            <a:r>
              <a:rPr lang="en-US" sz="1200" dirty="0" smtClean="0">
                <a:solidFill>
                  <a:prstClr val="black"/>
                </a:solidFill>
                <a:latin typeface="Calibri"/>
              </a:rPr>
              <a:t>. All reads</a:t>
            </a:r>
            <a:endParaRPr lang="en-US" sz="1200" dirty="0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69" name="Group 68"/>
          <p:cNvGrpSpPr/>
          <p:nvPr/>
        </p:nvGrpSpPr>
        <p:grpSpPr>
          <a:xfrm>
            <a:off x="5647805" y="4312642"/>
            <a:ext cx="3407637" cy="630369"/>
            <a:chOff x="3192618" y="1971149"/>
            <a:chExt cx="4289221" cy="596403"/>
          </a:xfrm>
        </p:grpSpPr>
        <p:sp>
          <p:nvSpPr>
            <p:cNvPr id="50" name="TextBox 49"/>
            <p:cNvSpPr txBox="1"/>
            <p:nvPr/>
          </p:nvSpPr>
          <p:spPr>
            <a:xfrm flipV="1">
              <a:off x="3431141" y="2003322"/>
              <a:ext cx="672328" cy="7230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txBody>
            <a:bodyPr wrap="square" rtlCol="0">
              <a:spAutoFit/>
            </a:bodyPr>
            <a:lstStyle/>
            <a:p>
              <a:pPr algn="r"/>
              <a:endParaRPr lang="en-US" sz="800" dirty="0">
                <a:solidFill>
                  <a:srgbClr val="008000"/>
                </a:solidFill>
                <a:latin typeface="Calibri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 flipV="1">
              <a:off x="3616907" y="2339882"/>
              <a:ext cx="672328" cy="7230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txBody>
            <a:bodyPr wrap="square" rtlCol="0">
              <a:spAutoFit/>
            </a:bodyPr>
            <a:lstStyle/>
            <a:p>
              <a:pPr algn="r"/>
              <a:endParaRPr lang="en-US" sz="800" dirty="0">
                <a:solidFill>
                  <a:srgbClr val="008000"/>
                </a:solidFill>
                <a:latin typeface="Calibri"/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 flipV="1">
              <a:off x="4262302" y="1996345"/>
              <a:ext cx="672328" cy="7230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txBody>
            <a:bodyPr wrap="square" rtlCol="0">
              <a:spAutoFit/>
            </a:bodyPr>
            <a:lstStyle/>
            <a:p>
              <a:pPr algn="r"/>
              <a:endParaRPr lang="en-US" sz="800" dirty="0">
                <a:solidFill>
                  <a:srgbClr val="008000"/>
                </a:solidFill>
                <a:latin typeface="Calibri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 flipV="1">
              <a:off x="4445543" y="2339413"/>
              <a:ext cx="672328" cy="7230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txBody>
            <a:bodyPr wrap="square" rtlCol="0">
              <a:spAutoFit/>
            </a:bodyPr>
            <a:lstStyle/>
            <a:p>
              <a:pPr algn="r"/>
              <a:endParaRPr lang="en-US" sz="800" dirty="0">
                <a:solidFill>
                  <a:srgbClr val="008000"/>
                </a:solidFill>
                <a:latin typeface="Calibri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 flipV="1">
              <a:off x="5062085" y="2007299"/>
              <a:ext cx="672328" cy="7230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txBody>
            <a:bodyPr wrap="square" rtlCol="0">
              <a:spAutoFit/>
            </a:bodyPr>
            <a:lstStyle/>
            <a:p>
              <a:pPr algn="r"/>
              <a:endParaRPr lang="en-US" sz="800" dirty="0">
                <a:solidFill>
                  <a:srgbClr val="008000"/>
                </a:solidFill>
                <a:latin typeface="Calibri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 flipV="1">
              <a:off x="5235514" y="2327193"/>
              <a:ext cx="672328" cy="7230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txBody>
            <a:bodyPr wrap="square" rtlCol="0">
              <a:spAutoFit/>
            </a:bodyPr>
            <a:lstStyle/>
            <a:p>
              <a:pPr algn="r"/>
              <a:endParaRPr lang="en-US" sz="800" dirty="0">
                <a:solidFill>
                  <a:srgbClr val="008000"/>
                </a:solidFill>
                <a:latin typeface="Calibri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 flipV="1">
              <a:off x="5835986" y="1988103"/>
              <a:ext cx="672328" cy="7230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txBody>
            <a:bodyPr wrap="square" rtlCol="0">
              <a:spAutoFit/>
            </a:bodyPr>
            <a:lstStyle/>
            <a:p>
              <a:pPr algn="r"/>
              <a:endParaRPr lang="en-US" sz="800" dirty="0">
                <a:solidFill>
                  <a:srgbClr val="008000"/>
                </a:solidFill>
                <a:latin typeface="Calibri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 flipV="1">
              <a:off x="6021752" y="2324194"/>
              <a:ext cx="672328" cy="7230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txBody>
            <a:bodyPr wrap="square" rtlCol="0">
              <a:spAutoFit/>
            </a:bodyPr>
            <a:lstStyle/>
            <a:p>
              <a:pPr algn="r"/>
              <a:endParaRPr lang="en-US" sz="800" dirty="0">
                <a:solidFill>
                  <a:srgbClr val="008000"/>
                </a:solidFill>
                <a:latin typeface="Calibri"/>
              </a:endParaRPr>
            </a:p>
          </p:txBody>
        </p:sp>
        <p:sp>
          <p:nvSpPr>
            <p:cNvPr id="58" name="TextBox 57"/>
            <p:cNvSpPr txBox="1"/>
            <p:nvPr/>
          </p:nvSpPr>
          <p:spPr>
            <a:xfrm flipV="1">
              <a:off x="6623745" y="1971149"/>
              <a:ext cx="672328" cy="7230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txBody>
            <a:bodyPr wrap="square" rtlCol="0">
              <a:spAutoFit/>
            </a:bodyPr>
            <a:lstStyle/>
            <a:p>
              <a:pPr algn="r"/>
              <a:endParaRPr lang="en-US" sz="800" dirty="0">
                <a:solidFill>
                  <a:srgbClr val="008000"/>
                </a:solidFill>
                <a:latin typeface="Calibri"/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 flipV="1">
              <a:off x="6809511" y="2325928"/>
              <a:ext cx="672328" cy="7230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txBody>
            <a:bodyPr wrap="square" rtlCol="0">
              <a:spAutoFit/>
            </a:bodyPr>
            <a:lstStyle/>
            <a:p>
              <a:pPr algn="r"/>
              <a:endParaRPr lang="en-US" sz="800" dirty="0">
                <a:solidFill>
                  <a:srgbClr val="008000"/>
                </a:solidFill>
                <a:latin typeface="Calibri"/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 flipV="1">
              <a:off x="3426662" y="2183856"/>
              <a:ext cx="672328" cy="72301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r"/>
              <a:endParaRPr lang="en-US" sz="800" dirty="0">
                <a:solidFill>
                  <a:srgbClr val="008000"/>
                </a:solidFill>
                <a:latin typeface="Calibri"/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 flipV="1">
              <a:off x="3192618" y="2480402"/>
              <a:ext cx="672328" cy="72301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r"/>
              <a:endParaRPr lang="en-US" sz="800" dirty="0">
                <a:solidFill>
                  <a:srgbClr val="008000"/>
                </a:solidFill>
                <a:latin typeface="Calibri"/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 flipV="1">
              <a:off x="4300385" y="2184619"/>
              <a:ext cx="672328" cy="72301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r"/>
              <a:endParaRPr lang="en-US" sz="800" dirty="0">
                <a:solidFill>
                  <a:srgbClr val="008000"/>
                </a:solidFill>
                <a:latin typeface="Calibri"/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 flipV="1">
              <a:off x="4066340" y="2481165"/>
              <a:ext cx="672328" cy="72301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r"/>
              <a:endParaRPr lang="en-US" sz="800" dirty="0">
                <a:solidFill>
                  <a:srgbClr val="008000"/>
                </a:solidFill>
                <a:latin typeface="Calibri"/>
              </a:endParaRPr>
            </a:p>
          </p:txBody>
        </p:sp>
        <p:sp>
          <p:nvSpPr>
            <p:cNvPr id="64" name="TextBox 63"/>
            <p:cNvSpPr txBox="1"/>
            <p:nvPr/>
          </p:nvSpPr>
          <p:spPr>
            <a:xfrm flipV="1">
              <a:off x="5135436" y="2185884"/>
              <a:ext cx="672328" cy="72301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r"/>
              <a:endParaRPr lang="en-US" sz="800" dirty="0">
                <a:solidFill>
                  <a:srgbClr val="008000"/>
                </a:solidFill>
                <a:latin typeface="Calibri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 flipV="1">
              <a:off x="4901391" y="2482430"/>
              <a:ext cx="672328" cy="72301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r"/>
              <a:endParaRPr lang="en-US" sz="800" dirty="0">
                <a:solidFill>
                  <a:srgbClr val="008000"/>
                </a:solidFill>
                <a:latin typeface="Calibri"/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 flipV="1">
              <a:off x="5966821" y="2186647"/>
              <a:ext cx="672328" cy="72301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r"/>
              <a:endParaRPr lang="en-US" sz="800" dirty="0">
                <a:solidFill>
                  <a:srgbClr val="008000"/>
                </a:solidFill>
                <a:latin typeface="Calibri"/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 flipV="1">
              <a:off x="5732776" y="2483193"/>
              <a:ext cx="672328" cy="72301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r"/>
              <a:endParaRPr lang="en-US" sz="800" dirty="0">
                <a:solidFill>
                  <a:srgbClr val="008000"/>
                </a:solidFill>
                <a:latin typeface="Calibri"/>
              </a:endParaRPr>
            </a:p>
          </p:txBody>
        </p:sp>
        <p:sp>
          <p:nvSpPr>
            <p:cNvPr id="68" name="TextBox 67"/>
            <p:cNvSpPr txBox="1"/>
            <p:nvPr/>
          </p:nvSpPr>
          <p:spPr>
            <a:xfrm flipV="1">
              <a:off x="6562220" y="2495251"/>
              <a:ext cx="672328" cy="72301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r"/>
              <a:endParaRPr lang="en-US" sz="800" dirty="0">
                <a:solidFill>
                  <a:srgbClr val="008000"/>
                </a:solidFill>
                <a:latin typeface="Calibri"/>
              </a:endParaRPr>
            </a:p>
          </p:txBody>
        </p:sp>
      </p:grpSp>
      <p:sp>
        <p:nvSpPr>
          <p:cNvPr id="70" name="TextBox 69"/>
          <p:cNvSpPr txBox="1"/>
          <p:nvPr/>
        </p:nvSpPr>
        <p:spPr>
          <a:xfrm>
            <a:off x="4887037" y="5017515"/>
            <a:ext cx="41642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prstClr val="black"/>
                </a:solidFill>
                <a:latin typeface="Calibri"/>
              </a:rPr>
              <a:t>5. Reconstruct original DNA sequence from the read set.</a:t>
            </a:r>
            <a:endParaRPr lang="en-US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5071532" y="5356069"/>
            <a:ext cx="3405628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b="1" dirty="0" smtClean="0">
                <a:solidFill>
                  <a:prstClr val="black"/>
                </a:solidFill>
                <a:latin typeface="Courier New"/>
                <a:cs typeface="Courier New"/>
              </a:rPr>
              <a:t>ACCGTAGCAAAACCGGGTAGTCATACTACTACGTACTCATCT</a:t>
            </a:r>
            <a:endParaRPr lang="en-US" sz="1000" b="1" dirty="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4929248" y="3610361"/>
            <a:ext cx="990640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 smtClean="0">
                <a:solidFill>
                  <a:prstClr val="black"/>
                </a:solidFill>
                <a:latin typeface="Courier New"/>
                <a:cs typeface="Courier New"/>
              </a:rPr>
              <a:t>ACCGTAGCAA</a:t>
            </a:r>
            <a:endParaRPr lang="en-US" sz="1000" dirty="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5445678" y="3950021"/>
            <a:ext cx="990640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 smtClean="0">
                <a:solidFill>
                  <a:prstClr val="black"/>
                </a:solidFill>
                <a:latin typeface="Courier New"/>
                <a:cs typeface="Courier New"/>
              </a:rPr>
              <a:t>AAACCGGGTA</a:t>
            </a:r>
            <a:endParaRPr lang="en-US" sz="1000" dirty="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6318507" y="5681898"/>
            <a:ext cx="1052359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 smtClean="0">
                <a:solidFill>
                  <a:prstClr val="black"/>
                </a:solidFill>
                <a:latin typeface="Courier New"/>
                <a:cs typeface="Courier New"/>
              </a:rPr>
              <a:t>GTAGTCATACT</a:t>
            </a:r>
            <a:endParaRPr lang="en-US" sz="1000" dirty="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7000717" y="5998614"/>
            <a:ext cx="1052359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 smtClean="0">
                <a:solidFill>
                  <a:prstClr val="black"/>
                </a:solidFill>
                <a:latin typeface="Courier New"/>
                <a:cs typeface="Courier New"/>
              </a:rPr>
              <a:t>CTACTACGTAC</a:t>
            </a:r>
            <a:endParaRPr lang="en-US" sz="1000" dirty="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7472818" y="6338872"/>
            <a:ext cx="1052359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prstClr val="black"/>
                </a:solidFill>
                <a:latin typeface="Courier New"/>
                <a:cs typeface="Courier New"/>
              </a:rPr>
              <a:t>CGTACTCATCT</a:t>
            </a:r>
          </a:p>
        </p:txBody>
      </p:sp>
      <p:sp>
        <p:nvSpPr>
          <p:cNvPr id="79" name="Left-Right Arrow 78"/>
          <p:cNvSpPr/>
          <p:nvPr/>
        </p:nvSpPr>
        <p:spPr>
          <a:xfrm>
            <a:off x="4322966" y="1263939"/>
            <a:ext cx="605503" cy="368822"/>
          </a:xfrm>
          <a:prstGeom prst="left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80" name="Left-Right Arrow 79"/>
          <p:cNvSpPr/>
          <p:nvPr/>
        </p:nvSpPr>
        <p:spPr>
          <a:xfrm>
            <a:off x="4286965" y="2099417"/>
            <a:ext cx="605503" cy="368822"/>
          </a:xfrm>
          <a:prstGeom prst="left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81" name="Left-Right Arrow 80"/>
          <p:cNvSpPr/>
          <p:nvPr/>
        </p:nvSpPr>
        <p:spPr>
          <a:xfrm>
            <a:off x="4286965" y="3080141"/>
            <a:ext cx="605503" cy="368822"/>
          </a:xfrm>
          <a:prstGeom prst="left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82" name="Left-Right Arrow 81"/>
          <p:cNvSpPr/>
          <p:nvPr/>
        </p:nvSpPr>
        <p:spPr>
          <a:xfrm>
            <a:off x="4322966" y="4196242"/>
            <a:ext cx="605503" cy="368822"/>
          </a:xfrm>
          <a:prstGeom prst="left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83" name="Left-Right Arrow 82"/>
          <p:cNvSpPr/>
          <p:nvPr/>
        </p:nvSpPr>
        <p:spPr>
          <a:xfrm>
            <a:off x="4323745" y="4975951"/>
            <a:ext cx="605503" cy="368822"/>
          </a:xfrm>
          <a:prstGeom prst="left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7452416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animBg="1"/>
      <p:bldP spid="13" grpId="0"/>
      <p:bldP spid="14" grpId="0" animBg="1"/>
      <p:bldP spid="15" grpId="0" animBg="1"/>
      <p:bldP spid="16" grpId="0" animBg="1"/>
      <p:bldP spid="17" grpId="0" animBg="1"/>
      <p:bldP spid="18" grpId="0"/>
      <p:bldP spid="19" grpId="0"/>
      <p:bldP spid="21" grpId="0"/>
      <p:bldP spid="24" grpId="0" animBg="1"/>
      <p:bldP spid="25" grpId="0" animBg="1"/>
      <p:bldP spid="26" grpId="0" animBg="1"/>
      <p:bldP spid="27" grpId="0" animBg="1"/>
      <p:bldP spid="28" grpId="0" animBg="1"/>
      <p:bldP spid="34" grpId="0"/>
      <p:bldP spid="40" grpId="0"/>
      <p:bldP spid="41" grpId="0" animBg="1"/>
      <p:bldP spid="42" grpId="0"/>
      <p:bldP spid="43" grpId="0" animBg="1"/>
      <p:bldP spid="45" grpId="0" animBg="1"/>
      <p:bldP spid="46" grpId="0" animBg="1"/>
      <p:bldP spid="47" grpId="0" animBg="1"/>
      <p:bldP spid="48" grpId="0" animBg="1"/>
      <p:bldP spid="49" grpId="0"/>
      <p:bldP spid="70" grpId="0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9" grpId="0" animBg="1"/>
      <p:bldP spid="80" grpId="0" animBg="1"/>
      <p:bldP spid="81" grpId="0" animBg="1"/>
      <p:bldP spid="82" grpId="0" animBg="1"/>
      <p:bldP spid="8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544" y="1479550"/>
            <a:ext cx="8229600" cy="48768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Arial" charset="0"/>
              </a:rPr>
              <a:t>There is no genome reference! </a:t>
            </a:r>
          </a:p>
          <a:p>
            <a:pPr lvl="1"/>
            <a:r>
              <a:rPr lang="en-US" sz="2000" dirty="0" smtClean="0">
                <a:latin typeface="Arial" charset="0"/>
              </a:rPr>
              <a:t>In principle we want to reconstruct unknown genome sequence.</a:t>
            </a:r>
          </a:p>
          <a:p>
            <a:endParaRPr lang="en-US" sz="2000" dirty="0">
              <a:latin typeface="Arial" charset="0"/>
            </a:endParaRPr>
          </a:p>
          <a:p>
            <a:r>
              <a:rPr lang="en-US" sz="2400" dirty="0" smtClean="0">
                <a:latin typeface="Arial" charset="0"/>
              </a:rPr>
              <a:t>Reads are significantly shorter than whole genome.</a:t>
            </a:r>
          </a:p>
          <a:p>
            <a:pPr lvl="1"/>
            <a:r>
              <a:rPr lang="en-US" sz="2000" dirty="0" smtClean="0">
                <a:latin typeface="Arial" charset="0"/>
              </a:rPr>
              <a:t>Reads consist of 20 to 30K bases</a:t>
            </a:r>
          </a:p>
          <a:p>
            <a:pPr lvl="1"/>
            <a:r>
              <a:rPr lang="en-US" sz="2000" dirty="0" smtClean="0">
                <a:latin typeface="Arial" charset="0"/>
              </a:rPr>
              <a:t>Genomes vary in length and complexity – up to 30G bases</a:t>
            </a:r>
          </a:p>
          <a:p>
            <a:endParaRPr lang="en-US" sz="2000" dirty="0">
              <a:latin typeface="Arial" charset="0"/>
            </a:endParaRPr>
          </a:p>
          <a:p>
            <a:r>
              <a:rPr lang="en-US" sz="2400" dirty="0" smtClean="0">
                <a:latin typeface="Arial" charset="0"/>
              </a:rPr>
              <a:t>Reads include </a:t>
            </a:r>
            <a:r>
              <a:rPr lang="en-US" sz="2400" b="1" dirty="0" smtClean="0">
                <a:latin typeface="Arial" charset="0"/>
              </a:rPr>
              <a:t>errors</a:t>
            </a:r>
            <a:r>
              <a:rPr lang="en-US" sz="2400" dirty="0" smtClean="0">
                <a:latin typeface="Arial" charset="0"/>
              </a:rPr>
              <a:t>.</a:t>
            </a:r>
          </a:p>
          <a:p>
            <a:endParaRPr lang="en-US" sz="2000" dirty="0">
              <a:latin typeface="Arial" charset="0"/>
            </a:endParaRPr>
          </a:p>
          <a:p>
            <a:r>
              <a:rPr lang="en-US" sz="2400" dirty="0" smtClean="0">
                <a:latin typeface="Arial" charset="0"/>
              </a:rPr>
              <a:t>Genomes have repetitive regions.</a:t>
            </a:r>
          </a:p>
          <a:p>
            <a:pPr lvl="1"/>
            <a:r>
              <a:rPr lang="en-US" sz="2000" dirty="0" smtClean="0">
                <a:latin typeface="Arial" charset="0"/>
              </a:rPr>
              <a:t>Repetitive regions increase genome complexity.</a:t>
            </a:r>
          </a:p>
        </p:txBody>
      </p:sp>
      <p:grpSp>
        <p:nvGrpSpPr>
          <p:cNvPr id="5" name="Group 124"/>
          <p:cNvGrpSpPr/>
          <p:nvPr/>
        </p:nvGrpSpPr>
        <p:grpSpPr>
          <a:xfrm>
            <a:off x="0" y="-5557"/>
            <a:ext cx="9144000" cy="1300363"/>
            <a:chOff x="0" y="-7906"/>
            <a:chExt cx="13004800" cy="1849406"/>
          </a:xfrm>
        </p:grpSpPr>
        <p:pic>
          <p:nvPicPr>
            <p:cNvPr id="6" name="Picture 3"/>
            <p:cNvPicPr>
              <a:picLocks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0"/>
              <a:ext cx="13004800" cy="1841500"/>
            </a:xfrm>
            <a:prstGeom prst="rect">
              <a:avLst/>
            </a:prstGeom>
            <a:noFill/>
            <a:ln w="9525" cap="flat">
              <a:noFill/>
              <a:miter lim="800000"/>
              <a:headEnd/>
              <a:tailEnd/>
            </a:ln>
          </p:spPr>
        </p:pic>
        <p:sp>
          <p:nvSpPr>
            <p:cNvPr id="7" name="Rectangle 5"/>
            <p:cNvSpPr txBox="1">
              <a:spLocks noChangeArrowheads="1"/>
            </p:cNvSpPr>
            <p:nvPr/>
          </p:nvSpPr>
          <p:spPr bwMode="auto">
            <a:xfrm>
              <a:off x="257964" y="-7906"/>
              <a:ext cx="12031663" cy="140969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vert="horz" wrap="square" lIns="50777" tIns="50777" rIns="166318" bIns="50777" numCol="1" anchor="ctr" anchorCtr="0" compatLnSpc="1">
              <a:prstTxWarp prst="textNoShape">
                <a:avLst/>
              </a:prstTxWarp>
            </a:bodyPr>
            <a:lstStyle/>
            <a:p>
              <a:pPr marL="40160" defTabSz="642552">
                <a:defRPr/>
              </a:pPr>
              <a:r>
                <a:rPr lang="en-US" sz="3200" kern="0" dirty="0">
                  <a:solidFill>
                    <a:srgbClr val="FFFF00"/>
                  </a:solidFill>
                  <a:latin typeface="Calibri"/>
                  <a:cs typeface="Calibri"/>
                  <a:sym typeface="Arial Bold" charset="0"/>
                </a:rPr>
                <a:t>De </a:t>
              </a:r>
              <a:r>
                <a:rPr lang="en-US" sz="3200" kern="0" dirty="0" smtClean="0">
                  <a:solidFill>
                    <a:srgbClr val="FFFF00"/>
                  </a:solidFill>
                  <a:latin typeface="Calibri"/>
                  <a:cs typeface="Calibri"/>
                  <a:sym typeface="Arial Bold" charset="0"/>
                </a:rPr>
                <a:t>novo </a:t>
              </a:r>
              <a:r>
                <a:rPr lang="en-US" sz="3200" kern="0" dirty="0">
                  <a:solidFill>
                    <a:srgbClr val="FFFF00"/>
                  </a:solidFill>
                  <a:latin typeface="Calibri"/>
                  <a:cs typeface="Calibri"/>
                  <a:sym typeface="Arial Bold" charset="0"/>
                </a:rPr>
                <a:t>Genome Assembly is </a:t>
              </a:r>
              <a:r>
                <a:rPr lang="en-US" sz="3200" kern="0" dirty="0" smtClean="0">
                  <a:solidFill>
                    <a:srgbClr val="FFFF00"/>
                  </a:solidFill>
                  <a:latin typeface="Calibri"/>
                  <a:cs typeface="Calibri"/>
                  <a:sym typeface="Arial Bold" charset="0"/>
                </a:rPr>
                <a:t>hard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6484857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181383" y="1675694"/>
            <a:ext cx="8512018" cy="4680656"/>
          </a:xfrm>
        </p:spPr>
        <p:txBody>
          <a:bodyPr>
            <a:normAutofit/>
          </a:bodyPr>
          <a:lstStyle/>
          <a:p>
            <a:r>
              <a:rPr lang="en-US" sz="2800" dirty="0" err="1" smtClean="0"/>
              <a:t>Switchgrass</a:t>
            </a:r>
            <a:r>
              <a:rPr lang="en-US" sz="2800" dirty="0" smtClean="0"/>
              <a:t>: 1.4 Giga-base</a:t>
            </a:r>
            <a:r>
              <a:rPr lang="en-US" sz="2800" dirty="0"/>
              <a:t> pairs (</a:t>
            </a:r>
            <a:r>
              <a:rPr lang="en-US" sz="2800" dirty="0" err="1" smtClean="0"/>
              <a:t>Gbp</a:t>
            </a:r>
            <a:r>
              <a:rPr lang="en-US" sz="2800" dirty="0" smtClean="0"/>
              <a:t>)</a:t>
            </a:r>
          </a:p>
          <a:p>
            <a:r>
              <a:rPr lang="en-US" sz="2800" dirty="0"/>
              <a:t>Maize: 2.4 </a:t>
            </a:r>
            <a:r>
              <a:rPr lang="en-US" sz="2800" dirty="0" err="1" smtClean="0"/>
              <a:t>Gbp</a:t>
            </a:r>
            <a:endParaRPr lang="en-US" sz="2800" dirty="0" smtClean="0"/>
          </a:p>
          <a:p>
            <a:r>
              <a:rPr lang="en-US" sz="2800" dirty="0" err="1" smtClean="0"/>
              <a:t>Miscanthus</a:t>
            </a:r>
            <a:r>
              <a:rPr lang="en-US" sz="2800" dirty="0" smtClean="0"/>
              <a:t>: 2.5 </a:t>
            </a:r>
            <a:r>
              <a:rPr lang="en-US" sz="2800" dirty="0" err="1" smtClean="0"/>
              <a:t>Gbp</a:t>
            </a:r>
            <a:endParaRPr lang="en-US" sz="2800" dirty="0" smtClean="0"/>
          </a:p>
          <a:p>
            <a:r>
              <a:rPr lang="en-US" sz="2800" b="1" dirty="0"/>
              <a:t>Human genome: 3 </a:t>
            </a:r>
            <a:r>
              <a:rPr lang="en-US" sz="2800" b="1" dirty="0" err="1" smtClean="0"/>
              <a:t>Gbp</a:t>
            </a:r>
            <a:endParaRPr lang="en-US" sz="2800" b="1" dirty="0"/>
          </a:p>
          <a:p>
            <a:r>
              <a:rPr lang="en-US" sz="2800" dirty="0" smtClean="0"/>
              <a:t>Barley genome: 7 </a:t>
            </a:r>
            <a:r>
              <a:rPr lang="en-US" sz="2800" dirty="0" err="1" smtClean="0"/>
              <a:t>Gbp</a:t>
            </a:r>
            <a:endParaRPr lang="en-US" sz="2800" dirty="0" smtClean="0"/>
          </a:p>
          <a:p>
            <a:r>
              <a:rPr lang="en-US" sz="2800" b="1" dirty="0" smtClean="0"/>
              <a:t>Wheat genome: 17 </a:t>
            </a:r>
            <a:r>
              <a:rPr lang="en-US" sz="2800" b="1" dirty="0" err="1" smtClean="0"/>
              <a:t>Gbp</a:t>
            </a:r>
            <a:r>
              <a:rPr lang="en-US" sz="2800" b="1" dirty="0" smtClean="0"/>
              <a:t> </a:t>
            </a:r>
          </a:p>
          <a:p>
            <a:r>
              <a:rPr lang="en-US" sz="2800" dirty="0" smtClean="0"/>
              <a:t>Pine genome: 20 </a:t>
            </a:r>
            <a:r>
              <a:rPr lang="en-US" sz="2800" dirty="0" err="1" smtClean="0"/>
              <a:t>Gbp</a:t>
            </a:r>
            <a:endParaRPr lang="en-US" sz="2800" dirty="0" smtClean="0"/>
          </a:p>
          <a:p>
            <a:r>
              <a:rPr lang="en-US" sz="2800" dirty="0" smtClean="0"/>
              <a:t>Salamander: 20-30 </a:t>
            </a:r>
            <a:r>
              <a:rPr lang="en-US" sz="2800" dirty="0" err="1" smtClean="0"/>
              <a:t>Gbp</a:t>
            </a:r>
            <a:endParaRPr lang="en-US" sz="2800" dirty="0"/>
          </a:p>
        </p:txBody>
      </p:sp>
      <p:pic>
        <p:nvPicPr>
          <p:cNvPr id="8" name="Picture 7" descr="chromosomes2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7224" y="2274413"/>
            <a:ext cx="4070201" cy="3545014"/>
          </a:xfrm>
          <a:prstGeom prst="rect">
            <a:avLst/>
          </a:prstGeom>
        </p:spPr>
      </p:pic>
      <p:grpSp>
        <p:nvGrpSpPr>
          <p:cNvPr id="11" name="Group 124"/>
          <p:cNvGrpSpPr/>
          <p:nvPr/>
        </p:nvGrpSpPr>
        <p:grpSpPr>
          <a:xfrm>
            <a:off x="0" y="-5557"/>
            <a:ext cx="9144000" cy="1300363"/>
            <a:chOff x="0" y="-7906"/>
            <a:chExt cx="13004800" cy="1849406"/>
          </a:xfrm>
        </p:grpSpPr>
        <p:pic>
          <p:nvPicPr>
            <p:cNvPr id="12" name="Picture 3"/>
            <p:cNvPicPr>
              <a:picLocks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0" y="0"/>
              <a:ext cx="13004800" cy="1841500"/>
            </a:xfrm>
            <a:prstGeom prst="rect">
              <a:avLst/>
            </a:prstGeom>
            <a:noFill/>
            <a:ln w="9525" cap="flat">
              <a:noFill/>
              <a:miter lim="800000"/>
              <a:headEnd/>
              <a:tailEnd/>
            </a:ln>
          </p:spPr>
        </p:pic>
        <p:sp>
          <p:nvSpPr>
            <p:cNvPr id="13" name="Rectangle 5"/>
            <p:cNvSpPr txBox="1">
              <a:spLocks noChangeArrowheads="1"/>
            </p:cNvSpPr>
            <p:nvPr/>
          </p:nvSpPr>
          <p:spPr bwMode="auto">
            <a:xfrm>
              <a:off x="257964" y="-7906"/>
              <a:ext cx="12031663" cy="140969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vert="horz" wrap="square" lIns="50777" tIns="50777" rIns="166318" bIns="50777" numCol="1" anchor="ctr" anchorCtr="0" compatLnSpc="1">
              <a:prstTxWarp prst="textNoShape">
                <a:avLst/>
              </a:prstTxWarp>
            </a:bodyPr>
            <a:lstStyle/>
            <a:p>
              <a:pPr marL="40160" defTabSz="642552">
                <a:defRPr/>
              </a:pPr>
              <a:r>
                <a:rPr lang="en-US" sz="3200" kern="0" dirty="0">
                  <a:solidFill>
                    <a:srgbClr val="FFFF00"/>
                  </a:solidFill>
                  <a:latin typeface="Calibri"/>
                  <a:cs typeface="Calibri"/>
                  <a:sym typeface="Arial Bold" charset="0"/>
                </a:rPr>
                <a:t>Genomes vary in size</a:t>
              </a:r>
              <a:endParaRPr lang="en-US" sz="3200" kern="0" dirty="0" smtClean="0">
                <a:solidFill>
                  <a:srgbClr val="FFFF00"/>
                </a:solidFill>
                <a:latin typeface="Calibri"/>
                <a:cs typeface="Calibri"/>
                <a:sym typeface="Arial Bold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856651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Down Arrow 74"/>
          <p:cNvSpPr>
            <a:spLocks noChangeArrowheads="1"/>
          </p:cNvSpPr>
          <p:nvPr/>
        </p:nvSpPr>
        <p:spPr bwMode="auto">
          <a:xfrm>
            <a:off x="3390723" y="3935913"/>
            <a:ext cx="617284" cy="426341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914400" indent="-457200" algn="ctr" eaLnBrk="0" hangingPunct="0">
              <a:lnSpc>
                <a:spcPct val="120000"/>
              </a:lnSpc>
              <a:spcBef>
                <a:spcPct val="50000"/>
              </a:spcBef>
              <a:buClr>
                <a:srgbClr val="063DE8"/>
              </a:buClr>
              <a:buFont typeface="Wingdings" charset="0"/>
              <a:buAutoNum type="arabicPeriod"/>
            </a:pPr>
            <a:endParaRPr lang="en-US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-1011083" y="1624988"/>
            <a:ext cx="3593004" cy="4583631"/>
            <a:chOff x="-1224743" y="1541898"/>
            <a:chExt cx="3593004" cy="4583631"/>
          </a:xfrm>
        </p:grpSpPr>
        <p:sp>
          <p:nvSpPr>
            <p:cNvPr id="118" name="TextBox 17"/>
            <p:cNvSpPr txBox="1">
              <a:spLocks noChangeArrowheads="1"/>
            </p:cNvSpPr>
            <p:nvPr/>
          </p:nvSpPr>
          <p:spPr bwMode="auto">
            <a:xfrm>
              <a:off x="-769244" y="1541898"/>
              <a:ext cx="2465178" cy="6241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8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eaLnBrk="0" hangingPunct="0">
                <a:defRPr sz="28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eaLnBrk="0" hangingPunct="0">
                <a:defRPr sz="28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eaLnBrk="0" hangingPunct="0">
                <a:defRPr sz="28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ct val="120000"/>
                </a:lnSpc>
                <a:spcBef>
                  <a:spcPct val="50000"/>
                </a:spcBef>
                <a:buClr>
                  <a:srgbClr val="063DE8"/>
                </a:buClr>
                <a:buFont typeface="Wingdings" charset="0"/>
                <a:buNone/>
              </a:pPr>
              <a:r>
                <a:rPr lang="en-US" sz="2000" dirty="0">
                  <a:solidFill>
                    <a:prstClr val="black"/>
                  </a:solidFill>
                  <a:latin typeface="cmr10"/>
                  <a:cs typeface="cmr10"/>
                </a:rPr>
                <a:t>r</a:t>
              </a:r>
              <a:r>
                <a:rPr lang="en-US" sz="2000" dirty="0" smtClean="0">
                  <a:solidFill>
                    <a:prstClr val="black"/>
                  </a:solidFill>
                  <a:latin typeface="cmr10"/>
                  <a:cs typeface="cmr10"/>
                </a:rPr>
                <a:t>eads</a:t>
              </a:r>
              <a:endParaRPr lang="en-US" sz="2000" dirty="0">
                <a:solidFill>
                  <a:prstClr val="black"/>
                </a:solidFill>
                <a:latin typeface="cmr10"/>
                <a:cs typeface="cmr10"/>
              </a:endParaRPr>
            </a:p>
          </p:txBody>
        </p:sp>
        <p:sp>
          <p:nvSpPr>
            <p:cNvPr id="119" name="TextBox 17"/>
            <p:cNvSpPr txBox="1">
              <a:spLocks noChangeArrowheads="1"/>
            </p:cNvSpPr>
            <p:nvPr/>
          </p:nvSpPr>
          <p:spPr bwMode="auto">
            <a:xfrm>
              <a:off x="-1199996" y="4307728"/>
              <a:ext cx="3452152" cy="6248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8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eaLnBrk="0" hangingPunct="0">
                <a:defRPr sz="28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eaLnBrk="0" hangingPunct="0">
                <a:defRPr sz="28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eaLnBrk="0" hangingPunct="0">
                <a:defRPr sz="28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ct val="120000"/>
                </a:lnSpc>
                <a:spcBef>
                  <a:spcPct val="50000"/>
                </a:spcBef>
                <a:buClr>
                  <a:srgbClr val="063DE8"/>
                </a:buClr>
                <a:buFont typeface="Wingdings" charset="0"/>
                <a:buNone/>
              </a:pPr>
              <a:r>
                <a:rPr lang="en-US" sz="2000" dirty="0" err="1" smtClean="0">
                  <a:solidFill>
                    <a:prstClr val="black"/>
                  </a:solidFill>
                  <a:latin typeface="cmr10"/>
                  <a:cs typeface="cmr10"/>
                </a:rPr>
                <a:t>contigs</a:t>
              </a:r>
              <a:endParaRPr lang="en-US" sz="2000" dirty="0">
                <a:solidFill>
                  <a:prstClr val="black"/>
                </a:solidFill>
                <a:latin typeface="cmr10"/>
                <a:cs typeface="cmr10"/>
              </a:endParaRPr>
            </a:p>
          </p:txBody>
        </p:sp>
        <p:sp>
          <p:nvSpPr>
            <p:cNvPr id="120" name="TextBox 64"/>
            <p:cNvSpPr txBox="1">
              <a:spLocks noChangeArrowheads="1"/>
            </p:cNvSpPr>
            <p:nvPr/>
          </p:nvSpPr>
          <p:spPr bwMode="auto">
            <a:xfrm>
              <a:off x="-1199996" y="5500631"/>
              <a:ext cx="3568257" cy="6248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8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eaLnBrk="0" hangingPunct="0">
                <a:defRPr sz="28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eaLnBrk="0" hangingPunct="0">
                <a:defRPr sz="28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eaLnBrk="0" hangingPunct="0">
                <a:defRPr sz="28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ct val="120000"/>
                </a:lnSpc>
                <a:spcBef>
                  <a:spcPct val="50000"/>
                </a:spcBef>
                <a:buClr>
                  <a:srgbClr val="063DE8"/>
                </a:buClr>
                <a:buFont typeface="Wingdings" charset="0"/>
                <a:buNone/>
              </a:pPr>
              <a:r>
                <a:rPr lang="en-US" sz="2000" dirty="0">
                  <a:solidFill>
                    <a:prstClr val="black"/>
                  </a:solidFill>
                  <a:latin typeface="cmr10"/>
                  <a:cs typeface="cmr10"/>
                </a:rPr>
                <a:t>s</a:t>
              </a:r>
              <a:r>
                <a:rPr lang="en-US" sz="2000" dirty="0" smtClean="0">
                  <a:solidFill>
                    <a:prstClr val="black"/>
                  </a:solidFill>
                  <a:latin typeface="cmr10"/>
                  <a:cs typeface="cmr10"/>
                </a:rPr>
                <a:t>caffolds</a:t>
              </a:r>
              <a:endParaRPr lang="en-US" sz="2000" dirty="0">
                <a:solidFill>
                  <a:prstClr val="black"/>
                </a:solidFill>
                <a:latin typeface="cmr10"/>
                <a:cs typeface="cmr10"/>
              </a:endParaRPr>
            </a:p>
          </p:txBody>
        </p:sp>
        <p:sp>
          <p:nvSpPr>
            <p:cNvPr id="140" name="TextBox 17"/>
            <p:cNvSpPr txBox="1">
              <a:spLocks noChangeArrowheads="1"/>
            </p:cNvSpPr>
            <p:nvPr/>
          </p:nvSpPr>
          <p:spPr bwMode="auto">
            <a:xfrm>
              <a:off x="-1224743" y="2969045"/>
              <a:ext cx="3452152" cy="6248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8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eaLnBrk="0" hangingPunct="0">
                <a:defRPr sz="28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eaLnBrk="0" hangingPunct="0">
                <a:defRPr sz="28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eaLnBrk="0" hangingPunct="0">
                <a:defRPr sz="28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ct val="120000"/>
                </a:lnSpc>
                <a:spcBef>
                  <a:spcPct val="50000"/>
                </a:spcBef>
                <a:buClr>
                  <a:srgbClr val="063DE8"/>
                </a:buClr>
                <a:buFont typeface="Wingdings" charset="0"/>
                <a:buNone/>
              </a:pPr>
              <a:r>
                <a:rPr lang="en-US" sz="2000" i="1" dirty="0">
                  <a:solidFill>
                    <a:prstClr val="black"/>
                  </a:solidFill>
                  <a:latin typeface="cmr10"/>
                  <a:cs typeface="cmr10"/>
                </a:rPr>
                <a:t>k</a:t>
              </a:r>
              <a:r>
                <a:rPr lang="en-US" sz="2000" dirty="0" smtClean="0">
                  <a:solidFill>
                    <a:prstClr val="black"/>
                  </a:solidFill>
                  <a:latin typeface="cmr10"/>
                  <a:cs typeface="cmr10"/>
                </a:rPr>
                <a:t>-</a:t>
              </a:r>
              <a:r>
                <a:rPr lang="en-US" sz="2000" dirty="0" err="1" smtClean="0">
                  <a:solidFill>
                    <a:prstClr val="black"/>
                  </a:solidFill>
                  <a:latin typeface="cmr10"/>
                  <a:cs typeface="cmr10"/>
                </a:rPr>
                <a:t>mers</a:t>
              </a:r>
              <a:endParaRPr lang="en-US" sz="2000" dirty="0">
                <a:solidFill>
                  <a:prstClr val="black"/>
                </a:solidFill>
                <a:latin typeface="cmr10"/>
                <a:cs typeface="cmr10"/>
              </a:endParaRPr>
            </a:p>
          </p:txBody>
        </p:sp>
      </p:grpSp>
      <p:grpSp>
        <p:nvGrpSpPr>
          <p:cNvPr id="141" name="Group 140"/>
          <p:cNvGrpSpPr/>
          <p:nvPr/>
        </p:nvGrpSpPr>
        <p:grpSpPr>
          <a:xfrm>
            <a:off x="3391133" y="2466977"/>
            <a:ext cx="617284" cy="511280"/>
            <a:chOff x="4344026" y="1975206"/>
            <a:chExt cx="506412" cy="369332"/>
          </a:xfrm>
        </p:grpSpPr>
        <p:sp>
          <p:nvSpPr>
            <p:cNvPr id="199" name="Down Arrow 400"/>
            <p:cNvSpPr>
              <a:spLocks noChangeArrowheads="1"/>
            </p:cNvSpPr>
            <p:nvPr/>
          </p:nvSpPr>
          <p:spPr bwMode="auto">
            <a:xfrm>
              <a:off x="4344026" y="2008646"/>
              <a:ext cx="506412" cy="309563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914400" indent="-457200" algn="ctr" eaLnBrk="0" hangingPunct="0">
                <a:lnSpc>
                  <a:spcPct val="120000"/>
                </a:lnSpc>
                <a:spcBef>
                  <a:spcPct val="50000"/>
                </a:spcBef>
                <a:buClr>
                  <a:srgbClr val="063DE8"/>
                </a:buClr>
                <a:buFont typeface="Wingdings" charset="0"/>
                <a:buAutoNum type="arabicPeriod"/>
              </a:pPr>
              <a:endParaRPr lang="en-US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00" name="TextBox 199"/>
            <p:cNvSpPr txBox="1"/>
            <p:nvPr/>
          </p:nvSpPr>
          <p:spPr>
            <a:xfrm>
              <a:off x="4474170" y="1975206"/>
              <a:ext cx="2878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rgbClr val="FFFFFF"/>
                  </a:solidFill>
                  <a:latin typeface="cmr10"/>
                  <a:cs typeface="cmr10"/>
                </a:rPr>
                <a:t>1</a:t>
              </a:r>
              <a:endParaRPr lang="en-US" dirty="0">
                <a:solidFill>
                  <a:srgbClr val="FFFFFF"/>
                </a:solidFill>
                <a:latin typeface="cmr10"/>
                <a:cs typeface="cmr10"/>
              </a:endParaRPr>
            </a:p>
          </p:txBody>
        </p:sp>
      </p:grpSp>
      <p:sp>
        <p:nvSpPr>
          <p:cNvPr id="142" name="TextBox 141"/>
          <p:cNvSpPr txBox="1"/>
          <p:nvPr/>
        </p:nvSpPr>
        <p:spPr>
          <a:xfrm>
            <a:off x="3552532" y="3897024"/>
            <a:ext cx="350876" cy="5112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  <a:latin typeface="cmr10"/>
                <a:cs typeface="cmr10"/>
              </a:rPr>
              <a:t>2</a:t>
            </a:r>
          </a:p>
        </p:txBody>
      </p:sp>
      <p:grpSp>
        <p:nvGrpSpPr>
          <p:cNvPr id="143" name="Group 142"/>
          <p:cNvGrpSpPr/>
          <p:nvPr/>
        </p:nvGrpSpPr>
        <p:grpSpPr>
          <a:xfrm>
            <a:off x="3390723" y="4890852"/>
            <a:ext cx="617284" cy="511280"/>
            <a:chOff x="4323532" y="4057252"/>
            <a:chExt cx="506412" cy="369332"/>
          </a:xfrm>
        </p:grpSpPr>
        <p:sp>
          <p:nvSpPr>
            <p:cNvPr id="197" name="Down Arrow 399"/>
            <p:cNvSpPr>
              <a:spLocks noChangeArrowheads="1"/>
            </p:cNvSpPr>
            <p:nvPr/>
          </p:nvSpPr>
          <p:spPr bwMode="auto">
            <a:xfrm>
              <a:off x="4323532" y="4085469"/>
              <a:ext cx="506412" cy="309563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914400" indent="-457200" algn="ctr" eaLnBrk="0" hangingPunct="0">
                <a:lnSpc>
                  <a:spcPct val="120000"/>
                </a:lnSpc>
                <a:spcBef>
                  <a:spcPct val="50000"/>
                </a:spcBef>
                <a:buClr>
                  <a:srgbClr val="063DE8"/>
                </a:buClr>
                <a:buFont typeface="Wingdings" charset="0"/>
                <a:buAutoNum type="arabicPeriod"/>
              </a:pPr>
              <a:endParaRPr lang="en-US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8" name="TextBox 197"/>
            <p:cNvSpPr txBox="1"/>
            <p:nvPr/>
          </p:nvSpPr>
          <p:spPr>
            <a:xfrm>
              <a:off x="4446631" y="4057252"/>
              <a:ext cx="2878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FFFF"/>
                  </a:solidFill>
                  <a:latin typeface="cmr10"/>
                  <a:cs typeface="cmr10"/>
                </a:rPr>
                <a:t>3</a:t>
              </a:r>
            </a:p>
          </p:txBody>
        </p:sp>
      </p:grpSp>
      <p:grpSp>
        <p:nvGrpSpPr>
          <p:cNvPr id="172" name="Group 171"/>
          <p:cNvGrpSpPr/>
          <p:nvPr/>
        </p:nvGrpSpPr>
        <p:grpSpPr>
          <a:xfrm>
            <a:off x="1529753" y="4575794"/>
            <a:ext cx="4032400" cy="114051"/>
            <a:chOff x="2796817" y="3538864"/>
            <a:chExt cx="3308127" cy="149838"/>
          </a:xfrm>
        </p:grpSpPr>
        <p:sp>
          <p:nvSpPr>
            <p:cNvPr id="193" name="TextBox 192"/>
            <p:cNvSpPr txBox="1"/>
            <p:nvPr/>
          </p:nvSpPr>
          <p:spPr>
            <a:xfrm flipV="1">
              <a:off x="2796817" y="3538864"/>
              <a:ext cx="696855" cy="142076"/>
            </a:xfrm>
            <a:prstGeom prst="rect">
              <a:avLst/>
            </a:prstGeom>
            <a:solidFill>
              <a:srgbClr val="008000"/>
            </a:solidFill>
          </p:spPr>
          <p:txBody>
            <a:bodyPr wrap="square" rtlCol="0">
              <a:spAutoFit/>
            </a:bodyPr>
            <a:lstStyle/>
            <a:p>
              <a:pPr algn="r"/>
              <a:endParaRPr lang="en-US" sz="800" dirty="0">
                <a:solidFill>
                  <a:srgbClr val="008000"/>
                </a:solidFill>
                <a:latin typeface="Calibri"/>
              </a:endParaRPr>
            </a:p>
          </p:txBody>
        </p:sp>
        <p:sp>
          <p:nvSpPr>
            <p:cNvPr id="194" name="TextBox 193"/>
            <p:cNvSpPr txBox="1"/>
            <p:nvPr/>
          </p:nvSpPr>
          <p:spPr>
            <a:xfrm flipV="1">
              <a:off x="3695017" y="3538864"/>
              <a:ext cx="445092" cy="149838"/>
            </a:xfrm>
            <a:prstGeom prst="rect">
              <a:avLst/>
            </a:prstGeom>
            <a:solidFill>
              <a:srgbClr val="008000"/>
            </a:solidFill>
          </p:spPr>
          <p:txBody>
            <a:bodyPr wrap="square" rtlCol="0">
              <a:spAutoFit/>
            </a:bodyPr>
            <a:lstStyle/>
            <a:p>
              <a:pPr algn="r"/>
              <a:endParaRPr lang="en-US" sz="800" dirty="0">
                <a:solidFill>
                  <a:srgbClr val="008000"/>
                </a:solidFill>
                <a:latin typeface="Calibri"/>
              </a:endParaRPr>
            </a:p>
          </p:txBody>
        </p:sp>
        <p:sp>
          <p:nvSpPr>
            <p:cNvPr id="195" name="TextBox 194"/>
            <p:cNvSpPr txBox="1"/>
            <p:nvPr/>
          </p:nvSpPr>
          <p:spPr>
            <a:xfrm flipV="1">
              <a:off x="4386279" y="3538864"/>
              <a:ext cx="899209" cy="142076"/>
            </a:xfrm>
            <a:prstGeom prst="rect">
              <a:avLst/>
            </a:prstGeom>
            <a:solidFill>
              <a:srgbClr val="008000"/>
            </a:solidFill>
          </p:spPr>
          <p:txBody>
            <a:bodyPr wrap="square" rtlCol="0">
              <a:spAutoFit/>
            </a:bodyPr>
            <a:lstStyle/>
            <a:p>
              <a:pPr algn="r"/>
              <a:endParaRPr lang="en-US" sz="800" dirty="0">
                <a:solidFill>
                  <a:srgbClr val="008000"/>
                </a:solidFill>
                <a:latin typeface="Calibri"/>
              </a:endParaRPr>
            </a:p>
          </p:txBody>
        </p:sp>
        <p:sp>
          <p:nvSpPr>
            <p:cNvPr id="196" name="TextBox 195"/>
            <p:cNvSpPr txBox="1"/>
            <p:nvPr/>
          </p:nvSpPr>
          <p:spPr>
            <a:xfrm flipV="1">
              <a:off x="5581392" y="3538864"/>
              <a:ext cx="523552" cy="142076"/>
            </a:xfrm>
            <a:prstGeom prst="rect">
              <a:avLst/>
            </a:prstGeom>
            <a:solidFill>
              <a:srgbClr val="008000"/>
            </a:solidFill>
          </p:spPr>
          <p:txBody>
            <a:bodyPr wrap="square" rtlCol="0">
              <a:spAutoFit/>
            </a:bodyPr>
            <a:lstStyle/>
            <a:p>
              <a:pPr algn="r"/>
              <a:endParaRPr lang="en-US" sz="800" dirty="0">
                <a:solidFill>
                  <a:srgbClr val="008000"/>
                </a:solidFill>
                <a:latin typeface="Calibri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1529753" y="5436472"/>
            <a:ext cx="4032400" cy="566685"/>
            <a:chOff x="1695933" y="5207441"/>
            <a:chExt cx="4032400" cy="566685"/>
          </a:xfrm>
        </p:grpSpPr>
        <p:sp>
          <p:nvSpPr>
            <p:cNvPr id="174" name="TextBox 173"/>
            <p:cNvSpPr txBox="1"/>
            <p:nvPr/>
          </p:nvSpPr>
          <p:spPr>
            <a:xfrm flipV="1">
              <a:off x="2172062" y="5483585"/>
              <a:ext cx="359659" cy="778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txBody>
            <a:bodyPr wrap="square" rtlCol="0">
              <a:spAutoFit/>
            </a:bodyPr>
            <a:lstStyle/>
            <a:p>
              <a:pPr algn="r"/>
              <a:endParaRPr lang="en-US" sz="800" dirty="0">
                <a:solidFill>
                  <a:srgbClr val="008000"/>
                </a:solidFill>
                <a:latin typeface="Calibri"/>
              </a:endParaRPr>
            </a:p>
          </p:txBody>
        </p:sp>
        <p:sp>
          <p:nvSpPr>
            <p:cNvPr id="175" name="TextBox 174"/>
            <p:cNvSpPr txBox="1"/>
            <p:nvPr/>
          </p:nvSpPr>
          <p:spPr>
            <a:xfrm flipV="1">
              <a:off x="2494431" y="5207442"/>
              <a:ext cx="301860" cy="7230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txBody>
            <a:bodyPr wrap="square" rtlCol="0">
              <a:spAutoFit/>
            </a:bodyPr>
            <a:lstStyle/>
            <a:p>
              <a:pPr algn="r"/>
              <a:endParaRPr lang="en-US" sz="800" dirty="0">
                <a:solidFill>
                  <a:srgbClr val="008000"/>
                </a:solidFill>
                <a:latin typeface="Calibri"/>
              </a:endParaRPr>
            </a:p>
          </p:txBody>
        </p:sp>
        <p:grpSp>
          <p:nvGrpSpPr>
            <p:cNvPr id="176" name="Group 175"/>
            <p:cNvGrpSpPr/>
            <p:nvPr/>
          </p:nvGrpSpPr>
          <p:grpSpPr>
            <a:xfrm>
              <a:off x="1695933" y="5660073"/>
              <a:ext cx="4032400" cy="114051"/>
              <a:chOff x="2796817" y="3538864"/>
              <a:chExt cx="3308127" cy="149838"/>
            </a:xfrm>
          </p:grpSpPr>
          <p:sp>
            <p:nvSpPr>
              <p:cNvPr id="189" name="TextBox 188"/>
              <p:cNvSpPr txBox="1"/>
              <p:nvPr/>
            </p:nvSpPr>
            <p:spPr>
              <a:xfrm flipV="1">
                <a:off x="2796817" y="3538864"/>
                <a:ext cx="696855" cy="142076"/>
              </a:xfrm>
              <a:prstGeom prst="rect">
                <a:avLst/>
              </a:prstGeom>
              <a:solidFill>
                <a:srgbClr val="008000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190" name="TextBox 189"/>
              <p:cNvSpPr txBox="1"/>
              <p:nvPr/>
            </p:nvSpPr>
            <p:spPr>
              <a:xfrm flipV="1">
                <a:off x="3695017" y="3538864"/>
                <a:ext cx="445092" cy="149838"/>
              </a:xfrm>
              <a:prstGeom prst="rect">
                <a:avLst/>
              </a:prstGeom>
              <a:solidFill>
                <a:srgbClr val="008000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191" name="TextBox 190"/>
              <p:cNvSpPr txBox="1"/>
              <p:nvPr/>
            </p:nvSpPr>
            <p:spPr>
              <a:xfrm flipV="1">
                <a:off x="4386279" y="3538864"/>
                <a:ext cx="899209" cy="142076"/>
              </a:xfrm>
              <a:prstGeom prst="rect">
                <a:avLst/>
              </a:prstGeom>
              <a:solidFill>
                <a:srgbClr val="008000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192" name="TextBox 191"/>
              <p:cNvSpPr txBox="1"/>
              <p:nvPr/>
            </p:nvSpPr>
            <p:spPr>
              <a:xfrm flipV="1">
                <a:off x="5581392" y="3538864"/>
                <a:ext cx="523552" cy="142076"/>
              </a:xfrm>
              <a:prstGeom prst="rect">
                <a:avLst/>
              </a:prstGeom>
              <a:solidFill>
                <a:srgbClr val="008000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</p:grpSp>
        <p:sp>
          <p:nvSpPr>
            <p:cNvPr id="177" name="TextBox 176"/>
            <p:cNvSpPr txBox="1"/>
            <p:nvPr/>
          </p:nvSpPr>
          <p:spPr>
            <a:xfrm flipV="1">
              <a:off x="3128951" y="5489156"/>
              <a:ext cx="261204" cy="7230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txBody>
            <a:bodyPr wrap="square" rtlCol="0">
              <a:spAutoFit/>
            </a:bodyPr>
            <a:lstStyle/>
            <a:p>
              <a:pPr algn="r"/>
              <a:endParaRPr lang="en-US" sz="800" dirty="0">
                <a:solidFill>
                  <a:srgbClr val="008000"/>
                </a:solidFill>
                <a:latin typeface="Calibri"/>
              </a:endParaRPr>
            </a:p>
          </p:txBody>
        </p:sp>
        <p:sp>
          <p:nvSpPr>
            <p:cNvPr id="178" name="TextBox 177"/>
            <p:cNvSpPr txBox="1"/>
            <p:nvPr/>
          </p:nvSpPr>
          <p:spPr>
            <a:xfrm flipV="1">
              <a:off x="4520663" y="5483585"/>
              <a:ext cx="232647" cy="7230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txBody>
            <a:bodyPr wrap="square" rtlCol="0">
              <a:spAutoFit/>
            </a:bodyPr>
            <a:lstStyle/>
            <a:p>
              <a:pPr algn="r"/>
              <a:endParaRPr lang="en-US" sz="800" dirty="0">
                <a:solidFill>
                  <a:srgbClr val="008000"/>
                </a:solidFill>
                <a:latin typeface="Calibri"/>
              </a:endParaRPr>
            </a:p>
          </p:txBody>
        </p:sp>
        <p:sp>
          <p:nvSpPr>
            <p:cNvPr id="179" name="TextBox 178"/>
            <p:cNvSpPr txBox="1"/>
            <p:nvPr/>
          </p:nvSpPr>
          <p:spPr>
            <a:xfrm flipV="1">
              <a:off x="4884372" y="5207441"/>
              <a:ext cx="245806" cy="8556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txBody>
            <a:bodyPr wrap="square" rtlCol="0">
              <a:spAutoFit/>
            </a:bodyPr>
            <a:lstStyle/>
            <a:p>
              <a:pPr algn="r"/>
              <a:endParaRPr lang="en-US" sz="800" dirty="0">
                <a:solidFill>
                  <a:srgbClr val="008000"/>
                </a:solidFill>
                <a:latin typeface="Calibri"/>
              </a:endParaRPr>
            </a:p>
          </p:txBody>
        </p:sp>
        <p:sp>
          <p:nvSpPr>
            <p:cNvPr id="180" name="TextBox 179"/>
            <p:cNvSpPr txBox="1"/>
            <p:nvPr/>
          </p:nvSpPr>
          <p:spPr>
            <a:xfrm flipV="1">
              <a:off x="4668040" y="5336699"/>
              <a:ext cx="188846" cy="723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r"/>
              <a:endParaRPr lang="en-US" sz="800" dirty="0">
                <a:solidFill>
                  <a:srgbClr val="008000"/>
                </a:solidFill>
                <a:latin typeface="Calibri"/>
              </a:endParaRPr>
            </a:p>
          </p:txBody>
        </p:sp>
        <p:sp>
          <p:nvSpPr>
            <p:cNvPr id="181" name="TextBox 180"/>
            <p:cNvSpPr txBox="1"/>
            <p:nvPr/>
          </p:nvSpPr>
          <p:spPr>
            <a:xfrm flipV="1">
              <a:off x="3373305" y="5336698"/>
              <a:ext cx="272914" cy="72301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r"/>
              <a:endParaRPr lang="en-US" sz="800" dirty="0">
                <a:solidFill>
                  <a:srgbClr val="008000"/>
                </a:solidFill>
                <a:latin typeface="Calibri"/>
              </a:endParaRPr>
            </a:p>
          </p:txBody>
        </p:sp>
        <p:sp>
          <p:nvSpPr>
            <p:cNvPr id="182" name="TextBox 181"/>
            <p:cNvSpPr txBox="1"/>
            <p:nvPr/>
          </p:nvSpPr>
          <p:spPr>
            <a:xfrm flipV="1">
              <a:off x="2354358" y="5336697"/>
              <a:ext cx="305051" cy="72302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r"/>
              <a:endParaRPr lang="en-US" sz="800" dirty="0">
                <a:solidFill>
                  <a:srgbClr val="008000"/>
                </a:solidFill>
                <a:latin typeface="Calibri"/>
              </a:endParaRPr>
            </a:p>
          </p:txBody>
        </p:sp>
        <p:sp>
          <p:nvSpPr>
            <p:cNvPr id="186" name="TextBox 185"/>
            <p:cNvSpPr txBox="1"/>
            <p:nvPr/>
          </p:nvSpPr>
          <p:spPr>
            <a:xfrm flipV="1">
              <a:off x="2542661" y="5660070"/>
              <a:ext cx="244619" cy="114053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txBody>
            <a:bodyPr wrap="square" rtlCol="0">
              <a:spAutoFit/>
            </a:bodyPr>
            <a:lstStyle/>
            <a:p>
              <a:pPr algn="r"/>
              <a:endParaRPr lang="en-US" sz="800" dirty="0">
                <a:solidFill>
                  <a:srgbClr val="008000"/>
                </a:solidFill>
                <a:latin typeface="Calibri"/>
              </a:endParaRPr>
            </a:p>
          </p:txBody>
        </p:sp>
        <p:sp>
          <p:nvSpPr>
            <p:cNvPr id="187" name="TextBox 186"/>
            <p:cNvSpPr txBox="1"/>
            <p:nvPr/>
          </p:nvSpPr>
          <p:spPr>
            <a:xfrm flipV="1">
              <a:off x="3315139" y="5660073"/>
              <a:ext cx="318250" cy="114053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txBody>
            <a:bodyPr wrap="square" rtlCol="0">
              <a:spAutoFit/>
            </a:bodyPr>
            <a:lstStyle/>
            <a:p>
              <a:pPr algn="r"/>
              <a:endParaRPr lang="en-US" sz="800" dirty="0">
                <a:solidFill>
                  <a:srgbClr val="008000"/>
                </a:solidFill>
                <a:latin typeface="Calibri"/>
              </a:endParaRPr>
            </a:p>
          </p:txBody>
        </p:sp>
        <p:sp>
          <p:nvSpPr>
            <p:cNvPr id="188" name="TextBox 187"/>
            <p:cNvSpPr txBox="1"/>
            <p:nvPr/>
          </p:nvSpPr>
          <p:spPr>
            <a:xfrm flipV="1">
              <a:off x="4720010" y="5660071"/>
              <a:ext cx="370147" cy="114053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txBody>
            <a:bodyPr wrap="square" rtlCol="0">
              <a:spAutoFit/>
            </a:bodyPr>
            <a:lstStyle/>
            <a:p>
              <a:pPr algn="r"/>
              <a:endParaRPr lang="en-US" sz="800" dirty="0">
                <a:solidFill>
                  <a:srgbClr val="008000"/>
                </a:solidFill>
                <a:latin typeface="Calibri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1468326" y="1484358"/>
            <a:ext cx="3955901" cy="807142"/>
            <a:chOff x="1634506" y="1255327"/>
            <a:chExt cx="3955901" cy="807142"/>
          </a:xfrm>
        </p:grpSpPr>
        <p:grpSp>
          <p:nvGrpSpPr>
            <p:cNvPr id="6" name="Group 5"/>
            <p:cNvGrpSpPr/>
            <p:nvPr/>
          </p:nvGrpSpPr>
          <p:grpSpPr>
            <a:xfrm>
              <a:off x="1634506" y="1255327"/>
              <a:ext cx="1998882" cy="803951"/>
              <a:chOff x="1634505" y="1255327"/>
              <a:chExt cx="4289221" cy="891101"/>
            </a:xfrm>
          </p:grpSpPr>
          <p:sp>
            <p:nvSpPr>
              <p:cNvPr id="144" name="TextBox 143"/>
              <p:cNvSpPr txBox="1"/>
              <p:nvPr/>
            </p:nvSpPr>
            <p:spPr>
              <a:xfrm flipV="1">
                <a:off x="1695933" y="1255327"/>
                <a:ext cx="672328" cy="72301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145" name="TextBox 144"/>
              <p:cNvSpPr txBox="1"/>
              <p:nvPr/>
            </p:nvSpPr>
            <p:spPr>
              <a:xfrm flipV="1">
                <a:off x="1873028" y="1582198"/>
                <a:ext cx="672328" cy="72301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146" name="TextBox 145"/>
              <p:cNvSpPr txBox="1"/>
              <p:nvPr/>
            </p:nvSpPr>
            <p:spPr>
              <a:xfrm flipV="1">
                <a:off x="2058794" y="1918758"/>
                <a:ext cx="672328" cy="72301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147" name="TextBox 146"/>
              <p:cNvSpPr txBox="1"/>
              <p:nvPr/>
            </p:nvSpPr>
            <p:spPr>
              <a:xfrm flipV="1">
                <a:off x="2515898" y="1258864"/>
                <a:ext cx="672328" cy="72301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148" name="TextBox 147"/>
              <p:cNvSpPr txBox="1"/>
              <p:nvPr/>
            </p:nvSpPr>
            <p:spPr>
              <a:xfrm flipV="1">
                <a:off x="2704189" y="1575221"/>
                <a:ext cx="672328" cy="72301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149" name="TextBox 148"/>
              <p:cNvSpPr txBox="1"/>
              <p:nvPr/>
            </p:nvSpPr>
            <p:spPr>
              <a:xfrm flipV="1">
                <a:off x="2887430" y="1918289"/>
                <a:ext cx="672328" cy="72301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150" name="TextBox 149"/>
              <p:cNvSpPr txBox="1"/>
              <p:nvPr/>
            </p:nvSpPr>
            <p:spPr>
              <a:xfrm flipV="1">
                <a:off x="3296422" y="1258864"/>
                <a:ext cx="672328" cy="72301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151" name="TextBox 150"/>
              <p:cNvSpPr txBox="1"/>
              <p:nvPr/>
            </p:nvSpPr>
            <p:spPr>
              <a:xfrm flipV="1">
                <a:off x="3503972" y="1586175"/>
                <a:ext cx="672328" cy="72301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152" name="TextBox 151"/>
              <p:cNvSpPr txBox="1"/>
              <p:nvPr/>
            </p:nvSpPr>
            <p:spPr>
              <a:xfrm flipV="1">
                <a:off x="3677401" y="1906069"/>
                <a:ext cx="672328" cy="72301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153" name="TextBox 152"/>
              <p:cNvSpPr txBox="1"/>
              <p:nvPr/>
            </p:nvSpPr>
            <p:spPr>
              <a:xfrm flipV="1">
                <a:off x="4127474" y="1257422"/>
                <a:ext cx="672328" cy="72301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154" name="TextBox 153"/>
              <p:cNvSpPr txBox="1"/>
              <p:nvPr/>
            </p:nvSpPr>
            <p:spPr>
              <a:xfrm flipV="1">
                <a:off x="4277873" y="1566979"/>
                <a:ext cx="672328" cy="72301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155" name="TextBox 154"/>
              <p:cNvSpPr txBox="1"/>
              <p:nvPr/>
            </p:nvSpPr>
            <p:spPr>
              <a:xfrm flipV="1">
                <a:off x="4463639" y="1903070"/>
                <a:ext cx="672328" cy="72301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156" name="TextBox 155"/>
              <p:cNvSpPr txBox="1"/>
              <p:nvPr/>
            </p:nvSpPr>
            <p:spPr>
              <a:xfrm flipV="1">
                <a:off x="4903084" y="1257422"/>
                <a:ext cx="672328" cy="72301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157" name="TextBox 156"/>
              <p:cNvSpPr txBox="1"/>
              <p:nvPr/>
            </p:nvSpPr>
            <p:spPr>
              <a:xfrm flipV="1">
                <a:off x="5065632" y="1550025"/>
                <a:ext cx="672328" cy="72301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158" name="TextBox 157"/>
              <p:cNvSpPr txBox="1"/>
              <p:nvPr/>
            </p:nvSpPr>
            <p:spPr>
              <a:xfrm flipV="1">
                <a:off x="5251398" y="1904804"/>
                <a:ext cx="672328" cy="72301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159" name="TextBox 158"/>
              <p:cNvSpPr txBox="1"/>
              <p:nvPr/>
            </p:nvSpPr>
            <p:spPr>
              <a:xfrm flipV="1">
                <a:off x="2189309" y="1423642"/>
                <a:ext cx="672328" cy="72301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160" name="TextBox 159"/>
              <p:cNvSpPr txBox="1"/>
              <p:nvPr/>
            </p:nvSpPr>
            <p:spPr>
              <a:xfrm flipV="1">
                <a:off x="1868549" y="1762732"/>
                <a:ext cx="672328" cy="72301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161" name="TextBox 160"/>
              <p:cNvSpPr txBox="1"/>
              <p:nvPr/>
            </p:nvSpPr>
            <p:spPr>
              <a:xfrm flipV="1">
                <a:off x="1634505" y="2059278"/>
                <a:ext cx="672328" cy="72301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162" name="TextBox 161"/>
              <p:cNvSpPr txBox="1"/>
              <p:nvPr/>
            </p:nvSpPr>
            <p:spPr>
              <a:xfrm flipV="1">
                <a:off x="3063031" y="1424404"/>
                <a:ext cx="672328" cy="72301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163" name="TextBox 162"/>
              <p:cNvSpPr txBox="1"/>
              <p:nvPr/>
            </p:nvSpPr>
            <p:spPr>
              <a:xfrm flipV="1">
                <a:off x="2742272" y="1763495"/>
                <a:ext cx="672328" cy="72301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164" name="TextBox 163"/>
              <p:cNvSpPr txBox="1"/>
              <p:nvPr/>
            </p:nvSpPr>
            <p:spPr>
              <a:xfrm flipV="1">
                <a:off x="2508227" y="2060041"/>
                <a:ext cx="672328" cy="72301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165" name="TextBox 164"/>
              <p:cNvSpPr txBox="1"/>
              <p:nvPr/>
            </p:nvSpPr>
            <p:spPr>
              <a:xfrm flipV="1">
                <a:off x="3898083" y="1425670"/>
                <a:ext cx="672328" cy="72301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166" name="TextBox 165"/>
              <p:cNvSpPr txBox="1"/>
              <p:nvPr/>
            </p:nvSpPr>
            <p:spPr>
              <a:xfrm flipV="1">
                <a:off x="3577323" y="1764760"/>
                <a:ext cx="672328" cy="72301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167" name="TextBox 166"/>
              <p:cNvSpPr txBox="1"/>
              <p:nvPr/>
            </p:nvSpPr>
            <p:spPr>
              <a:xfrm flipV="1">
                <a:off x="3343278" y="2061306"/>
                <a:ext cx="672328" cy="72301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168" name="TextBox 167"/>
              <p:cNvSpPr txBox="1"/>
              <p:nvPr/>
            </p:nvSpPr>
            <p:spPr>
              <a:xfrm flipV="1">
                <a:off x="4729467" y="1426432"/>
                <a:ext cx="672328" cy="72301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169" name="TextBox 168"/>
              <p:cNvSpPr txBox="1"/>
              <p:nvPr/>
            </p:nvSpPr>
            <p:spPr>
              <a:xfrm flipV="1">
                <a:off x="4408708" y="1765523"/>
                <a:ext cx="672328" cy="72301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170" name="TextBox 169"/>
              <p:cNvSpPr txBox="1"/>
              <p:nvPr/>
            </p:nvSpPr>
            <p:spPr>
              <a:xfrm flipV="1">
                <a:off x="4174663" y="2062069"/>
                <a:ext cx="672328" cy="72301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171" name="TextBox 170"/>
              <p:cNvSpPr txBox="1"/>
              <p:nvPr/>
            </p:nvSpPr>
            <p:spPr>
              <a:xfrm flipV="1">
                <a:off x="5004107" y="2074127"/>
                <a:ext cx="672328" cy="72301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</p:grpSp>
        <p:grpSp>
          <p:nvGrpSpPr>
            <p:cNvPr id="173" name="Group 172"/>
            <p:cNvGrpSpPr/>
            <p:nvPr/>
          </p:nvGrpSpPr>
          <p:grpSpPr>
            <a:xfrm>
              <a:off x="3591525" y="1258518"/>
              <a:ext cx="1998882" cy="803951"/>
              <a:chOff x="1634505" y="1255327"/>
              <a:chExt cx="4289221" cy="891101"/>
            </a:xfrm>
          </p:grpSpPr>
          <p:sp>
            <p:nvSpPr>
              <p:cNvPr id="183" name="TextBox 182"/>
              <p:cNvSpPr txBox="1"/>
              <p:nvPr/>
            </p:nvSpPr>
            <p:spPr>
              <a:xfrm flipV="1">
                <a:off x="1695933" y="1255327"/>
                <a:ext cx="672328" cy="72301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184" name="TextBox 183"/>
              <p:cNvSpPr txBox="1"/>
              <p:nvPr/>
            </p:nvSpPr>
            <p:spPr>
              <a:xfrm flipV="1">
                <a:off x="1873028" y="1582198"/>
                <a:ext cx="672328" cy="72301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185" name="TextBox 184"/>
              <p:cNvSpPr txBox="1"/>
              <p:nvPr/>
            </p:nvSpPr>
            <p:spPr>
              <a:xfrm flipV="1">
                <a:off x="2058794" y="1918758"/>
                <a:ext cx="672328" cy="72301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215" name="TextBox 214"/>
              <p:cNvSpPr txBox="1"/>
              <p:nvPr/>
            </p:nvSpPr>
            <p:spPr>
              <a:xfrm flipV="1">
                <a:off x="2515898" y="1258864"/>
                <a:ext cx="672328" cy="72301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216" name="TextBox 215"/>
              <p:cNvSpPr txBox="1"/>
              <p:nvPr/>
            </p:nvSpPr>
            <p:spPr>
              <a:xfrm flipV="1">
                <a:off x="2704189" y="1575221"/>
                <a:ext cx="672328" cy="72301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217" name="TextBox 216"/>
              <p:cNvSpPr txBox="1"/>
              <p:nvPr/>
            </p:nvSpPr>
            <p:spPr>
              <a:xfrm flipV="1">
                <a:off x="2887430" y="1918289"/>
                <a:ext cx="672328" cy="72301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218" name="TextBox 217"/>
              <p:cNvSpPr txBox="1"/>
              <p:nvPr/>
            </p:nvSpPr>
            <p:spPr>
              <a:xfrm flipV="1">
                <a:off x="3296422" y="1258864"/>
                <a:ext cx="672328" cy="72301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219" name="TextBox 218"/>
              <p:cNvSpPr txBox="1"/>
              <p:nvPr/>
            </p:nvSpPr>
            <p:spPr>
              <a:xfrm flipV="1">
                <a:off x="3503972" y="1586175"/>
                <a:ext cx="672328" cy="72301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220" name="TextBox 219"/>
              <p:cNvSpPr txBox="1"/>
              <p:nvPr/>
            </p:nvSpPr>
            <p:spPr>
              <a:xfrm flipV="1">
                <a:off x="3677401" y="1906069"/>
                <a:ext cx="672328" cy="72301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221" name="TextBox 220"/>
              <p:cNvSpPr txBox="1"/>
              <p:nvPr/>
            </p:nvSpPr>
            <p:spPr>
              <a:xfrm flipV="1">
                <a:off x="4127474" y="1257422"/>
                <a:ext cx="672328" cy="72301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222" name="TextBox 221"/>
              <p:cNvSpPr txBox="1"/>
              <p:nvPr/>
            </p:nvSpPr>
            <p:spPr>
              <a:xfrm flipV="1">
                <a:off x="4277873" y="1566979"/>
                <a:ext cx="672328" cy="72301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223" name="TextBox 222"/>
              <p:cNvSpPr txBox="1"/>
              <p:nvPr/>
            </p:nvSpPr>
            <p:spPr>
              <a:xfrm flipV="1">
                <a:off x="4463639" y="1903070"/>
                <a:ext cx="672328" cy="72301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224" name="TextBox 223"/>
              <p:cNvSpPr txBox="1"/>
              <p:nvPr/>
            </p:nvSpPr>
            <p:spPr>
              <a:xfrm flipV="1">
                <a:off x="4903084" y="1257422"/>
                <a:ext cx="672328" cy="72301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225" name="TextBox 224"/>
              <p:cNvSpPr txBox="1"/>
              <p:nvPr/>
            </p:nvSpPr>
            <p:spPr>
              <a:xfrm flipV="1">
                <a:off x="5065632" y="1550025"/>
                <a:ext cx="672328" cy="72301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226" name="TextBox 225"/>
              <p:cNvSpPr txBox="1"/>
              <p:nvPr/>
            </p:nvSpPr>
            <p:spPr>
              <a:xfrm flipV="1">
                <a:off x="5251398" y="1904804"/>
                <a:ext cx="672328" cy="72301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227" name="TextBox 226"/>
              <p:cNvSpPr txBox="1"/>
              <p:nvPr/>
            </p:nvSpPr>
            <p:spPr>
              <a:xfrm flipV="1">
                <a:off x="2189309" y="1423642"/>
                <a:ext cx="672328" cy="72301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228" name="TextBox 227"/>
              <p:cNvSpPr txBox="1"/>
              <p:nvPr/>
            </p:nvSpPr>
            <p:spPr>
              <a:xfrm flipV="1">
                <a:off x="1868549" y="1762732"/>
                <a:ext cx="672328" cy="72301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229" name="TextBox 228"/>
              <p:cNvSpPr txBox="1"/>
              <p:nvPr/>
            </p:nvSpPr>
            <p:spPr>
              <a:xfrm flipV="1">
                <a:off x="1634505" y="2059278"/>
                <a:ext cx="672328" cy="72301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230" name="TextBox 229"/>
              <p:cNvSpPr txBox="1"/>
              <p:nvPr/>
            </p:nvSpPr>
            <p:spPr>
              <a:xfrm flipV="1">
                <a:off x="3063031" y="1424404"/>
                <a:ext cx="672328" cy="72301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231" name="TextBox 230"/>
              <p:cNvSpPr txBox="1"/>
              <p:nvPr/>
            </p:nvSpPr>
            <p:spPr>
              <a:xfrm flipV="1">
                <a:off x="2742272" y="1763495"/>
                <a:ext cx="672328" cy="72301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232" name="TextBox 231"/>
              <p:cNvSpPr txBox="1"/>
              <p:nvPr/>
            </p:nvSpPr>
            <p:spPr>
              <a:xfrm flipV="1">
                <a:off x="2508227" y="2060041"/>
                <a:ext cx="672328" cy="72301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233" name="TextBox 232"/>
              <p:cNvSpPr txBox="1"/>
              <p:nvPr/>
            </p:nvSpPr>
            <p:spPr>
              <a:xfrm flipV="1">
                <a:off x="3898083" y="1425670"/>
                <a:ext cx="672328" cy="72301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234" name="TextBox 233"/>
              <p:cNvSpPr txBox="1"/>
              <p:nvPr/>
            </p:nvSpPr>
            <p:spPr>
              <a:xfrm flipV="1">
                <a:off x="3577323" y="1764760"/>
                <a:ext cx="672328" cy="72301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235" name="TextBox 234"/>
              <p:cNvSpPr txBox="1"/>
              <p:nvPr/>
            </p:nvSpPr>
            <p:spPr>
              <a:xfrm flipV="1">
                <a:off x="3343278" y="2061306"/>
                <a:ext cx="672328" cy="72301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236" name="TextBox 235"/>
              <p:cNvSpPr txBox="1"/>
              <p:nvPr/>
            </p:nvSpPr>
            <p:spPr>
              <a:xfrm flipV="1">
                <a:off x="4729467" y="1426432"/>
                <a:ext cx="672328" cy="72301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237" name="TextBox 236"/>
              <p:cNvSpPr txBox="1"/>
              <p:nvPr/>
            </p:nvSpPr>
            <p:spPr>
              <a:xfrm flipV="1">
                <a:off x="4408708" y="1765523"/>
                <a:ext cx="672328" cy="72301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238" name="TextBox 237"/>
              <p:cNvSpPr txBox="1"/>
              <p:nvPr/>
            </p:nvSpPr>
            <p:spPr>
              <a:xfrm flipV="1">
                <a:off x="4174663" y="2062069"/>
                <a:ext cx="672328" cy="72301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239" name="TextBox 238"/>
              <p:cNvSpPr txBox="1"/>
              <p:nvPr/>
            </p:nvSpPr>
            <p:spPr>
              <a:xfrm flipV="1">
                <a:off x="5004107" y="2074127"/>
                <a:ext cx="672328" cy="72301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</p:grpSp>
        <p:sp>
          <p:nvSpPr>
            <p:cNvPr id="240" name="TextBox 239"/>
            <p:cNvSpPr txBox="1"/>
            <p:nvPr/>
          </p:nvSpPr>
          <p:spPr>
            <a:xfrm flipV="1">
              <a:off x="3314404" y="1713796"/>
              <a:ext cx="313321" cy="6523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r"/>
              <a:endParaRPr lang="en-US" sz="800" dirty="0">
                <a:solidFill>
                  <a:srgbClr val="008000"/>
                </a:solidFill>
                <a:latin typeface="Calibri"/>
              </a:endParaRPr>
            </a:p>
          </p:txBody>
        </p:sp>
        <p:sp>
          <p:nvSpPr>
            <p:cNvPr id="241" name="TextBox 240"/>
            <p:cNvSpPr txBox="1"/>
            <p:nvPr/>
          </p:nvSpPr>
          <p:spPr>
            <a:xfrm flipV="1">
              <a:off x="3471065" y="1412889"/>
              <a:ext cx="313321" cy="6523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r"/>
              <a:endParaRPr lang="en-US" sz="800" dirty="0">
                <a:solidFill>
                  <a:srgbClr val="008000"/>
                </a:solidFill>
                <a:latin typeface="Calibri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1488756" y="3156434"/>
            <a:ext cx="3967176" cy="425256"/>
            <a:chOff x="1654936" y="2927403"/>
            <a:chExt cx="3967176" cy="425256"/>
          </a:xfrm>
        </p:grpSpPr>
        <p:grpSp>
          <p:nvGrpSpPr>
            <p:cNvPr id="5" name="Group 4"/>
            <p:cNvGrpSpPr/>
            <p:nvPr/>
          </p:nvGrpSpPr>
          <p:grpSpPr>
            <a:xfrm>
              <a:off x="1654936" y="2927403"/>
              <a:ext cx="1014698" cy="372028"/>
              <a:chOff x="1689491" y="2897723"/>
              <a:chExt cx="2177724" cy="607698"/>
            </a:xfrm>
          </p:grpSpPr>
          <p:sp>
            <p:nvSpPr>
              <p:cNvPr id="121" name="TextBox 120"/>
              <p:cNvSpPr txBox="1"/>
              <p:nvPr/>
            </p:nvSpPr>
            <p:spPr>
              <a:xfrm flipV="1">
                <a:off x="1689491" y="2897723"/>
                <a:ext cx="250549" cy="72301"/>
              </a:xfrm>
              <a:prstGeom prst="rect">
                <a:avLst/>
              </a:prstGeom>
              <a:solidFill>
                <a:srgbClr val="008000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122" name="TextBox 121"/>
              <p:cNvSpPr txBox="1"/>
              <p:nvPr/>
            </p:nvSpPr>
            <p:spPr>
              <a:xfrm flipV="1">
                <a:off x="1814765" y="3138732"/>
                <a:ext cx="250549" cy="72301"/>
              </a:xfrm>
              <a:prstGeom prst="rect">
                <a:avLst/>
              </a:prstGeom>
              <a:solidFill>
                <a:srgbClr val="008000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123" name="TextBox 122"/>
              <p:cNvSpPr txBox="1"/>
              <p:nvPr/>
            </p:nvSpPr>
            <p:spPr>
              <a:xfrm flipV="1">
                <a:off x="1689491" y="3379742"/>
                <a:ext cx="250549" cy="72301"/>
              </a:xfrm>
              <a:prstGeom prst="rect">
                <a:avLst/>
              </a:prstGeom>
              <a:solidFill>
                <a:srgbClr val="008000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124" name="TextBox 123"/>
              <p:cNvSpPr txBox="1"/>
              <p:nvPr/>
            </p:nvSpPr>
            <p:spPr>
              <a:xfrm flipV="1">
                <a:off x="2099465" y="2917882"/>
                <a:ext cx="250549" cy="72301"/>
              </a:xfrm>
              <a:prstGeom prst="rect">
                <a:avLst/>
              </a:prstGeom>
              <a:solidFill>
                <a:srgbClr val="008000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125" name="TextBox 124"/>
              <p:cNvSpPr txBox="1"/>
              <p:nvPr/>
            </p:nvSpPr>
            <p:spPr>
              <a:xfrm flipV="1">
                <a:off x="2144410" y="3211033"/>
                <a:ext cx="250549" cy="72301"/>
              </a:xfrm>
              <a:prstGeom prst="rect">
                <a:avLst/>
              </a:prstGeom>
              <a:solidFill>
                <a:srgbClr val="008000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126" name="TextBox 125"/>
              <p:cNvSpPr txBox="1"/>
              <p:nvPr/>
            </p:nvSpPr>
            <p:spPr>
              <a:xfrm flipV="1">
                <a:off x="2453641" y="3066431"/>
                <a:ext cx="250549" cy="72301"/>
              </a:xfrm>
              <a:prstGeom prst="rect">
                <a:avLst/>
              </a:prstGeom>
              <a:solidFill>
                <a:srgbClr val="008000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127" name="TextBox 126"/>
              <p:cNvSpPr txBox="1"/>
              <p:nvPr/>
            </p:nvSpPr>
            <p:spPr>
              <a:xfrm flipV="1">
                <a:off x="2427754" y="3374997"/>
                <a:ext cx="250549" cy="72301"/>
              </a:xfrm>
              <a:prstGeom prst="rect">
                <a:avLst/>
              </a:prstGeom>
              <a:solidFill>
                <a:srgbClr val="008000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128" name="TextBox 127"/>
              <p:cNvSpPr txBox="1"/>
              <p:nvPr/>
            </p:nvSpPr>
            <p:spPr>
              <a:xfrm flipV="1">
                <a:off x="2787280" y="2933872"/>
                <a:ext cx="250549" cy="72301"/>
              </a:xfrm>
              <a:prstGeom prst="rect">
                <a:avLst/>
              </a:prstGeom>
              <a:solidFill>
                <a:srgbClr val="008000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129" name="TextBox 128"/>
              <p:cNvSpPr txBox="1"/>
              <p:nvPr/>
            </p:nvSpPr>
            <p:spPr>
              <a:xfrm flipV="1">
                <a:off x="3037828" y="3211033"/>
                <a:ext cx="250549" cy="72301"/>
              </a:xfrm>
              <a:prstGeom prst="rect">
                <a:avLst/>
              </a:prstGeom>
              <a:solidFill>
                <a:srgbClr val="008000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130" name="TextBox 129"/>
              <p:cNvSpPr txBox="1"/>
              <p:nvPr/>
            </p:nvSpPr>
            <p:spPr>
              <a:xfrm flipV="1">
                <a:off x="2878402" y="3433120"/>
                <a:ext cx="250549" cy="72301"/>
              </a:xfrm>
              <a:prstGeom prst="rect">
                <a:avLst/>
              </a:prstGeom>
              <a:solidFill>
                <a:srgbClr val="008000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131" name="TextBox 130"/>
              <p:cNvSpPr txBox="1"/>
              <p:nvPr/>
            </p:nvSpPr>
            <p:spPr>
              <a:xfrm flipV="1">
                <a:off x="3399196" y="2933872"/>
                <a:ext cx="250549" cy="72301"/>
              </a:xfrm>
              <a:prstGeom prst="rect">
                <a:avLst/>
              </a:prstGeom>
              <a:solidFill>
                <a:srgbClr val="008000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132" name="TextBox 131"/>
              <p:cNvSpPr txBox="1"/>
              <p:nvPr/>
            </p:nvSpPr>
            <p:spPr>
              <a:xfrm flipV="1">
                <a:off x="3333321" y="3126853"/>
                <a:ext cx="250549" cy="72301"/>
              </a:xfrm>
              <a:prstGeom prst="rect">
                <a:avLst/>
              </a:prstGeom>
              <a:solidFill>
                <a:srgbClr val="008000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133" name="TextBox 132"/>
              <p:cNvSpPr txBox="1"/>
              <p:nvPr/>
            </p:nvSpPr>
            <p:spPr>
              <a:xfrm flipV="1">
                <a:off x="2662006" y="3211033"/>
                <a:ext cx="250549" cy="72301"/>
              </a:xfrm>
              <a:prstGeom prst="rect">
                <a:avLst/>
              </a:prstGeom>
              <a:solidFill>
                <a:srgbClr val="008000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134" name="TextBox 133"/>
              <p:cNvSpPr txBox="1"/>
              <p:nvPr/>
            </p:nvSpPr>
            <p:spPr>
              <a:xfrm flipV="1">
                <a:off x="3366118" y="3428375"/>
                <a:ext cx="250549" cy="72301"/>
              </a:xfrm>
              <a:prstGeom prst="rect">
                <a:avLst/>
              </a:prstGeom>
              <a:solidFill>
                <a:srgbClr val="008000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136" name="TextBox 135"/>
              <p:cNvSpPr txBox="1"/>
              <p:nvPr/>
            </p:nvSpPr>
            <p:spPr>
              <a:xfrm flipV="1">
                <a:off x="3616666" y="3247689"/>
                <a:ext cx="250549" cy="72301"/>
              </a:xfrm>
              <a:prstGeom prst="rect">
                <a:avLst/>
              </a:prstGeom>
              <a:solidFill>
                <a:srgbClr val="008000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137" name="TextBox 136"/>
              <p:cNvSpPr txBox="1"/>
              <p:nvPr/>
            </p:nvSpPr>
            <p:spPr>
              <a:xfrm flipV="1">
                <a:off x="3021603" y="3042324"/>
                <a:ext cx="250549" cy="72301"/>
              </a:xfrm>
              <a:prstGeom prst="rect">
                <a:avLst/>
              </a:prstGeom>
              <a:solidFill>
                <a:srgbClr val="008000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</p:grpSp>
        <p:grpSp>
          <p:nvGrpSpPr>
            <p:cNvPr id="242" name="Group 241"/>
            <p:cNvGrpSpPr/>
            <p:nvPr/>
          </p:nvGrpSpPr>
          <p:grpSpPr>
            <a:xfrm>
              <a:off x="2659410" y="2961406"/>
              <a:ext cx="1014698" cy="372028"/>
              <a:chOff x="1689491" y="2897723"/>
              <a:chExt cx="2177724" cy="607698"/>
            </a:xfrm>
          </p:grpSpPr>
          <p:sp>
            <p:nvSpPr>
              <p:cNvPr id="243" name="TextBox 242"/>
              <p:cNvSpPr txBox="1"/>
              <p:nvPr/>
            </p:nvSpPr>
            <p:spPr>
              <a:xfrm flipV="1">
                <a:off x="1689491" y="2897723"/>
                <a:ext cx="250549" cy="72301"/>
              </a:xfrm>
              <a:prstGeom prst="rect">
                <a:avLst/>
              </a:prstGeom>
              <a:solidFill>
                <a:srgbClr val="008000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244" name="TextBox 243"/>
              <p:cNvSpPr txBox="1"/>
              <p:nvPr/>
            </p:nvSpPr>
            <p:spPr>
              <a:xfrm flipV="1">
                <a:off x="1814765" y="3138732"/>
                <a:ext cx="250549" cy="72301"/>
              </a:xfrm>
              <a:prstGeom prst="rect">
                <a:avLst/>
              </a:prstGeom>
              <a:solidFill>
                <a:srgbClr val="008000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245" name="TextBox 244"/>
              <p:cNvSpPr txBox="1"/>
              <p:nvPr/>
            </p:nvSpPr>
            <p:spPr>
              <a:xfrm flipV="1">
                <a:off x="1689491" y="3379742"/>
                <a:ext cx="250549" cy="72301"/>
              </a:xfrm>
              <a:prstGeom prst="rect">
                <a:avLst/>
              </a:prstGeom>
              <a:solidFill>
                <a:srgbClr val="008000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246" name="TextBox 245"/>
              <p:cNvSpPr txBox="1"/>
              <p:nvPr/>
            </p:nvSpPr>
            <p:spPr>
              <a:xfrm flipV="1">
                <a:off x="2099465" y="2917882"/>
                <a:ext cx="250549" cy="72301"/>
              </a:xfrm>
              <a:prstGeom prst="rect">
                <a:avLst/>
              </a:prstGeom>
              <a:solidFill>
                <a:srgbClr val="008000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247" name="TextBox 246"/>
              <p:cNvSpPr txBox="1"/>
              <p:nvPr/>
            </p:nvSpPr>
            <p:spPr>
              <a:xfrm flipV="1">
                <a:off x="2144410" y="3211033"/>
                <a:ext cx="250549" cy="72301"/>
              </a:xfrm>
              <a:prstGeom prst="rect">
                <a:avLst/>
              </a:prstGeom>
              <a:solidFill>
                <a:srgbClr val="008000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248" name="TextBox 247"/>
              <p:cNvSpPr txBox="1"/>
              <p:nvPr/>
            </p:nvSpPr>
            <p:spPr>
              <a:xfrm flipV="1">
                <a:off x="2453641" y="3066431"/>
                <a:ext cx="250549" cy="72301"/>
              </a:xfrm>
              <a:prstGeom prst="rect">
                <a:avLst/>
              </a:prstGeom>
              <a:solidFill>
                <a:srgbClr val="008000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249" name="TextBox 248"/>
              <p:cNvSpPr txBox="1"/>
              <p:nvPr/>
            </p:nvSpPr>
            <p:spPr>
              <a:xfrm flipV="1">
                <a:off x="2427754" y="3374997"/>
                <a:ext cx="250549" cy="72301"/>
              </a:xfrm>
              <a:prstGeom prst="rect">
                <a:avLst/>
              </a:prstGeom>
              <a:solidFill>
                <a:srgbClr val="008000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250" name="TextBox 249"/>
              <p:cNvSpPr txBox="1"/>
              <p:nvPr/>
            </p:nvSpPr>
            <p:spPr>
              <a:xfrm flipV="1">
                <a:off x="2787280" y="2933872"/>
                <a:ext cx="250549" cy="72301"/>
              </a:xfrm>
              <a:prstGeom prst="rect">
                <a:avLst/>
              </a:prstGeom>
              <a:solidFill>
                <a:srgbClr val="008000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251" name="TextBox 250"/>
              <p:cNvSpPr txBox="1"/>
              <p:nvPr/>
            </p:nvSpPr>
            <p:spPr>
              <a:xfrm flipV="1">
                <a:off x="3037828" y="3211033"/>
                <a:ext cx="250549" cy="72301"/>
              </a:xfrm>
              <a:prstGeom prst="rect">
                <a:avLst/>
              </a:prstGeom>
              <a:solidFill>
                <a:srgbClr val="008000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252" name="TextBox 251"/>
              <p:cNvSpPr txBox="1"/>
              <p:nvPr/>
            </p:nvSpPr>
            <p:spPr>
              <a:xfrm flipV="1">
                <a:off x="2878402" y="3433120"/>
                <a:ext cx="250549" cy="72301"/>
              </a:xfrm>
              <a:prstGeom prst="rect">
                <a:avLst/>
              </a:prstGeom>
              <a:solidFill>
                <a:srgbClr val="008000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253" name="TextBox 252"/>
              <p:cNvSpPr txBox="1"/>
              <p:nvPr/>
            </p:nvSpPr>
            <p:spPr>
              <a:xfrm flipV="1">
                <a:off x="3399196" y="2933872"/>
                <a:ext cx="250549" cy="72301"/>
              </a:xfrm>
              <a:prstGeom prst="rect">
                <a:avLst/>
              </a:prstGeom>
              <a:solidFill>
                <a:srgbClr val="008000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254" name="TextBox 253"/>
              <p:cNvSpPr txBox="1"/>
              <p:nvPr/>
            </p:nvSpPr>
            <p:spPr>
              <a:xfrm flipV="1">
                <a:off x="3333321" y="3126853"/>
                <a:ext cx="250549" cy="72301"/>
              </a:xfrm>
              <a:prstGeom prst="rect">
                <a:avLst/>
              </a:prstGeom>
              <a:solidFill>
                <a:srgbClr val="008000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255" name="TextBox 254"/>
              <p:cNvSpPr txBox="1"/>
              <p:nvPr/>
            </p:nvSpPr>
            <p:spPr>
              <a:xfrm flipV="1">
                <a:off x="2662006" y="3211033"/>
                <a:ext cx="250549" cy="72301"/>
              </a:xfrm>
              <a:prstGeom prst="rect">
                <a:avLst/>
              </a:prstGeom>
              <a:solidFill>
                <a:srgbClr val="008000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256" name="TextBox 255"/>
              <p:cNvSpPr txBox="1"/>
              <p:nvPr/>
            </p:nvSpPr>
            <p:spPr>
              <a:xfrm flipV="1">
                <a:off x="3366118" y="3428375"/>
                <a:ext cx="250549" cy="72301"/>
              </a:xfrm>
              <a:prstGeom prst="rect">
                <a:avLst/>
              </a:prstGeom>
              <a:solidFill>
                <a:srgbClr val="008000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257" name="TextBox 256"/>
              <p:cNvSpPr txBox="1"/>
              <p:nvPr/>
            </p:nvSpPr>
            <p:spPr>
              <a:xfrm flipV="1">
                <a:off x="3616666" y="3247689"/>
                <a:ext cx="250549" cy="72301"/>
              </a:xfrm>
              <a:prstGeom prst="rect">
                <a:avLst/>
              </a:prstGeom>
              <a:solidFill>
                <a:srgbClr val="008000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258" name="TextBox 257"/>
              <p:cNvSpPr txBox="1"/>
              <p:nvPr/>
            </p:nvSpPr>
            <p:spPr>
              <a:xfrm flipV="1">
                <a:off x="3021603" y="3042324"/>
                <a:ext cx="250549" cy="72301"/>
              </a:xfrm>
              <a:prstGeom prst="rect">
                <a:avLst/>
              </a:prstGeom>
              <a:solidFill>
                <a:srgbClr val="008000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</p:grpSp>
        <p:grpSp>
          <p:nvGrpSpPr>
            <p:cNvPr id="259" name="Group 258"/>
            <p:cNvGrpSpPr/>
            <p:nvPr/>
          </p:nvGrpSpPr>
          <p:grpSpPr>
            <a:xfrm>
              <a:off x="3646219" y="2980631"/>
              <a:ext cx="1014698" cy="372028"/>
              <a:chOff x="1689491" y="2897723"/>
              <a:chExt cx="2177724" cy="607698"/>
            </a:xfrm>
          </p:grpSpPr>
          <p:sp>
            <p:nvSpPr>
              <p:cNvPr id="260" name="TextBox 259"/>
              <p:cNvSpPr txBox="1"/>
              <p:nvPr/>
            </p:nvSpPr>
            <p:spPr>
              <a:xfrm flipV="1">
                <a:off x="1689491" y="2897723"/>
                <a:ext cx="250549" cy="72301"/>
              </a:xfrm>
              <a:prstGeom prst="rect">
                <a:avLst/>
              </a:prstGeom>
              <a:solidFill>
                <a:srgbClr val="008000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261" name="TextBox 260"/>
              <p:cNvSpPr txBox="1"/>
              <p:nvPr/>
            </p:nvSpPr>
            <p:spPr>
              <a:xfrm flipV="1">
                <a:off x="1814765" y="3138732"/>
                <a:ext cx="250549" cy="72301"/>
              </a:xfrm>
              <a:prstGeom prst="rect">
                <a:avLst/>
              </a:prstGeom>
              <a:solidFill>
                <a:srgbClr val="008000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262" name="TextBox 261"/>
              <p:cNvSpPr txBox="1"/>
              <p:nvPr/>
            </p:nvSpPr>
            <p:spPr>
              <a:xfrm flipV="1">
                <a:off x="1689491" y="3379742"/>
                <a:ext cx="250549" cy="72301"/>
              </a:xfrm>
              <a:prstGeom prst="rect">
                <a:avLst/>
              </a:prstGeom>
              <a:solidFill>
                <a:srgbClr val="008000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263" name="TextBox 262"/>
              <p:cNvSpPr txBox="1"/>
              <p:nvPr/>
            </p:nvSpPr>
            <p:spPr>
              <a:xfrm flipV="1">
                <a:off x="2099465" y="2917882"/>
                <a:ext cx="250549" cy="72301"/>
              </a:xfrm>
              <a:prstGeom prst="rect">
                <a:avLst/>
              </a:prstGeom>
              <a:solidFill>
                <a:srgbClr val="008000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264" name="TextBox 263"/>
              <p:cNvSpPr txBox="1"/>
              <p:nvPr/>
            </p:nvSpPr>
            <p:spPr>
              <a:xfrm flipV="1">
                <a:off x="2144410" y="3211033"/>
                <a:ext cx="250549" cy="72301"/>
              </a:xfrm>
              <a:prstGeom prst="rect">
                <a:avLst/>
              </a:prstGeom>
              <a:solidFill>
                <a:srgbClr val="008000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265" name="TextBox 264"/>
              <p:cNvSpPr txBox="1"/>
              <p:nvPr/>
            </p:nvSpPr>
            <p:spPr>
              <a:xfrm flipV="1">
                <a:off x="2453641" y="3066431"/>
                <a:ext cx="250549" cy="72301"/>
              </a:xfrm>
              <a:prstGeom prst="rect">
                <a:avLst/>
              </a:prstGeom>
              <a:solidFill>
                <a:srgbClr val="008000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266" name="TextBox 265"/>
              <p:cNvSpPr txBox="1"/>
              <p:nvPr/>
            </p:nvSpPr>
            <p:spPr>
              <a:xfrm flipV="1">
                <a:off x="2427754" y="3374997"/>
                <a:ext cx="250549" cy="72301"/>
              </a:xfrm>
              <a:prstGeom prst="rect">
                <a:avLst/>
              </a:prstGeom>
              <a:solidFill>
                <a:srgbClr val="008000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267" name="TextBox 266"/>
              <p:cNvSpPr txBox="1"/>
              <p:nvPr/>
            </p:nvSpPr>
            <p:spPr>
              <a:xfrm flipV="1">
                <a:off x="2787280" y="2933872"/>
                <a:ext cx="250549" cy="72301"/>
              </a:xfrm>
              <a:prstGeom prst="rect">
                <a:avLst/>
              </a:prstGeom>
              <a:solidFill>
                <a:srgbClr val="008000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268" name="TextBox 267"/>
              <p:cNvSpPr txBox="1"/>
              <p:nvPr/>
            </p:nvSpPr>
            <p:spPr>
              <a:xfrm flipV="1">
                <a:off x="3037828" y="3211033"/>
                <a:ext cx="250549" cy="72301"/>
              </a:xfrm>
              <a:prstGeom prst="rect">
                <a:avLst/>
              </a:prstGeom>
              <a:solidFill>
                <a:srgbClr val="008000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269" name="TextBox 268"/>
              <p:cNvSpPr txBox="1"/>
              <p:nvPr/>
            </p:nvSpPr>
            <p:spPr>
              <a:xfrm flipV="1">
                <a:off x="2878402" y="3433120"/>
                <a:ext cx="250549" cy="72301"/>
              </a:xfrm>
              <a:prstGeom prst="rect">
                <a:avLst/>
              </a:prstGeom>
              <a:solidFill>
                <a:srgbClr val="008000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270" name="TextBox 269"/>
              <p:cNvSpPr txBox="1"/>
              <p:nvPr/>
            </p:nvSpPr>
            <p:spPr>
              <a:xfrm flipV="1">
                <a:off x="3399196" y="2933872"/>
                <a:ext cx="250549" cy="72301"/>
              </a:xfrm>
              <a:prstGeom prst="rect">
                <a:avLst/>
              </a:prstGeom>
              <a:solidFill>
                <a:srgbClr val="008000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271" name="TextBox 270"/>
              <p:cNvSpPr txBox="1"/>
              <p:nvPr/>
            </p:nvSpPr>
            <p:spPr>
              <a:xfrm flipV="1">
                <a:off x="3333321" y="3126853"/>
                <a:ext cx="250549" cy="72301"/>
              </a:xfrm>
              <a:prstGeom prst="rect">
                <a:avLst/>
              </a:prstGeom>
              <a:solidFill>
                <a:srgbClr val="008000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272" name="TextBox 271"/>
              <p:cNvSpPr txBox="1"/>
              <p:nvPr/>
            </p:nvSpPr>
            <p:spPr>
              <a:xfrm flipV="1">
                <a:off x="2662006" y="3211033"/>
                <a:ext cx="250549" cy="72301"/>
              </a:xfrm>
              <a:prstGeom prst="rect">
                <a:avLst/>
              </a:prstGeom>
              <a:solidFill>
                <a:srgbClr val="008000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273" name="TextBox 272"/>
              <p:cNvSpPr txBox="1"/>
              <p:nvPr/>
            </p:nvSpPr>
            <p:spPr>
              <a:xfrm flipV="1">
                <a:off x="3366118" y="3428375"/>
                <a:ext cx="250549" cy="72301"/>
              </a:xfrm>
              <a:prstGeom prst="rect">
                <a:avLst/>
              </a:prstGeom>
              <a:solidFill>
                <a:srgbClr val="008000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274" name="TextBox 273"/>
              <p:cNvSpPr txBox="1"/>
              <p:nvPr/>
            </p:nvSpPr>
            <p:spPr>
              <a:xfrm flipV="1">
                <a:off x="3616666" y="3247689"/>
                <a:ext cx="250549" cy="72301"/>
              </a:xfrm>
              <a:prstGeom prst="rect">
                <a:avLst/>
              </a:prstGeom>
              <a:solidFill>
                <a:srgbClr val="008000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275" name="TextBox 274"/>
              <p:cNvSpPr txBox="1"/>
              <p:nvPr/>
            </p:nvSpPr>
            <p:spPr>
              <a:xfrm flipV="1">
                <a:off x="3021603" y="3042324"/>
                <a:ext cx="250549" cy="72301"/>
              </a:xfrm>
              <a:prstGeom prst="rect">
                <a:avLst/>
              </a:prstGeom>
              <a:solidFill>
                <a:srgbClr val="008000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</p:grpSp>
        <p:grpSp>
          <p:nvGrpSpPr>
            <p:cNvPr id="276" name="Group 275"/>
            <p:cNvGrpSpPr/>
            <p:nvPr/>
          </p:nvGrpSpPr>
          <p:grpSpPr>
            <a:xfrm>
              <a:off x="4607414" y="2971665"/>
              <a:ext cx="1014698" cy="372028"/>
              <a:chOff x="1689491" y="2897723"/>
              <a:chExt cx="2177724" cy="607698"/>
            </a:xfrm>
          </p:grpSpPr>
          <p:sp>
            <p:nvSpPr>
              <p:cNvPr id="277" name="TextBox 276"/>
              <p:cNvSpPr txBox="1"/>
              <p:nvPr/>
            </p:nvSpPr>
            <p:spPr>
              <a:xfrm flipV="1">
                <a:off x="1689491" y="2897723"/>
                <a:ext cx="250549" cy="72301"/>
              </a:xfrm>
              <a:prstGeom prst="rect">
                <a:avLst/>
              </a:prstGeom>
              <a:solidFill>
                <a:srgbClr val="008000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278" name="TextBox 277"/>
              <p:cNvSpPr txBox="1"/>
              <p:nvPr/>
            </p:nvSpPr>
            <p:spPr>
              <a:xfrm flipV="1">
                <a:off x="1814765" y="3138732"/>
                <a:ext cx="250549" cy="72301"/>
              </a:xfrm>
              <a:prstGeom prst="rect">
                <a:avLst/>
              </a:prstGeom>
              <a:solidFill>
                <a:srgbClr val="008000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279" name="TextBox 278"/>
              <p:cNvSpPr txBox="1"/>
              <p:nvPr/>
            </p:nvSpPr>
            <p:spPr>
              <a:xfrm flipV="1">
                <a:off x="1689491" y="3379742"/>
                <a:ext cx="250549" cy="72301"/>
              </a:xfrm>
              <a:prstGeom prst="rect">
                <a:avLst/>
              </a:prstGeom>
              <a:solidFill>
                <a:srgbClr val="008000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280" name="TextBox 279"/>
              <p:cNvSpPr txBox="1"/>
              <p:nvPr/>
            </p:nvSpPr>
            <p:spPr>
              <a:xfrm flipV="1">
                <a:off x="2099465" y="2917882"/>
                <a:ext cx="250549" cy="72301"/>
              </a:xfrm>
              <a:prstGeom prst="rect">
                <a:avLst/>
              </a:prstGeom>
              <a:solidFill>
                <a:srgbClr val="008000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281" name="TextBox 280"/>
              <p:cNvSpPr txBox="1"/>
              <p:nvPr/>
            </p:nvSpPr>
            <p:spPr>
              <a:xfrm flipV="1">
                <a:off x="2144410" y="3211033"/>
                <a:ext cx="250549" cy="72301"/>
              </a:xfrm>
              <a:prstGeom prst="rect">
                <a:avLst/>
              </a:prstGeom>
              <a:solidFill>
                <a:srgbClr val="008000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282" name="TextBox 281"/>
              <p:cNvSpPr txBox="1"/>
              <p:nvPr/>
            </p:nvSpPr>
            <p:spPr>
              <a:xfrm flipV="1">
                <a:off x="2453641" y="3066431"/>
                <a:ext cx="250549" cy="72301"/>
              </a:xfrm>
              <a:prstGeom prst="rect">
                <a:avLst/>
              </a:prstGeom>
              <a:solidFill>
                <a:srgbClr val="008000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283" name="TextBox 282"/>
              <p:cNvSpPr txBox="1"/>
              <p:nvPr/>
            </p:nvSpPr>
            <p:spPr>
              <a:xfrm flipV="1">
                <a:off x="2427754" y="3374997"/>
                <a:ext cx="250549" cy="72301"/>
              </a:xfrm>
              <a:prstGeom prst="rect">
                <a:avLst/>
              </a:prstGeom>
              <a:solidFill>
                <a:srgbClr val="008000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284" name="TextBox 283"/>
              <p:cNvSpPr txBox="1"/>
              <p:nvPr/>
            </p:nvSpPr>
            <p:spPr>
              <a:xfrm flipV="1">
                <a:off x="2787280" y="2933872"/>
                <a:ext cx="250549" cy="72301"/>
              </a:xfrm>
              <a:prstGeom prst="rect">
                <a:avLst/>
              </a:prstGeom>
              <a:solidFill>
                <a:srgbClr val="008000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285" name="TextBox 284"/>
              <p:cNvSpPr txBox="1"/>
              <p:nvPr/>
            </p:nvSpPr>
            <p:spPr>
              <a:xfrm flipV="1">
                <a:off x="3037828" y="3211033"/>
                <a:ext cx="250549" cy="72301"/>
              </a:xfrm>
              <a:prstGeom prst="rect">
                <a:avLst/>
              </a:prstGeom>
              <a:solidFill>
                <a:srgbClr val="008000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286" name="TextBox 285"/>
              <p:cNvSpPr txBox="1"/>
              <p:nvPr/>
            </p:nvSpPr>
            <p:spPr>
              <a:xfrm flipV="1">
                <a:off x="2878402" y="3433120"/>
                <a:ext cx="250549" cy="72301"/>
              </a:xfrm>
              <a:prstGeom prst="rect">
                <a:avLst/>
              </a:prstGeom>
              <a:solidFill>
                <a:srgbClr val="008000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287" name="TextBox 286"/>
              <p:cNvSpPr txBox="1"/>
              <p:nvPr/>
            </p:nvSpPr>
            <p:spPr>
              <a:xfrm flipV="1">
                <a:off x="3399196" y="2933872"/>
                <a:ext cx="250549" cy="72301"/>
              </a:xfrm>
              <a:prstGeom prst="rect">
                <a:avLst/>
              </a:prstGeom>
              <a:solidFill>
                <a:srgbClr val="008000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288" name="TextBox 287"/>
              <p:cNvSpPr txBox="1"/>
              <p:nvPr/>
            </p:nvSpPr>
            <p:spPr>
              <a:xfrm flipV="1">
                <a:off x="3333321" y="3126853"/>
                <a:ext cx="250549" cy="72301"/>
              </a:xfrm>
              <a:prstGeom prst="rect">
                <a:avLst/>
              </a:prstGeom>
              <a:solidFill>
                <a:srgbClr val="008000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289" name="TextBox 288"/>
              <p:cNvSpPr txBox="1"/>
              <p:nvPr/>
            </p:nvSpPr>
            <p:spPr>
              <a:xfrm flipV="1">
                <a:off x="2662006" y="3211033"/>
                <a:ext cx="250549" cy="72301"/>
              </a:xfrm>
              <a:prstGeom prst="rect">
                <a:avLst/>
              </a:prstGeom>
              <a:solidFill>
                <a:srgbClr val="008000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290" name="TextBox 289"/>
              <p:cNvSpPr txBox="1"/>
              <p:nvPr/>
            </p:nvSpPr>
            <p:spPr>
              <a:xfrm flipV="1">
                <a:off x="3366118" y="3428375"/>
                <a:ext cx="250549" cy="72301"/>
              </a:xfrm>
              <a:prstGeom prst="rect">
                <a:avLst/>
              </a:prstGeom>
              <a:solidFill>
                <a:srgbClr val="008000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291" name="TextBox 290"/>
              <p:cNvSpPr txBox="1"/>
              <p:nvPr/>
            </p:nvSpPr>
            <p:spPr>
              <a:xfrm flipV="1">
                <a:off x="3616666" y="3247689"/>
                <a:ext cx="250549" cy="72301"/>
              </a:xfrm>
              <a:prstGeom prst="rect">
                <a:avLst/>
              </a:prstGeom>
              <a:solidFill>
                <a:srgbClr val="008000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  <p:sp>
            <p:nvSpPr>
              <p:cNvPr id="292" name="TextBox 291"/>
              <p:cNvSpPr txBox="1"/>
              <p:nvPr/>
            </p:nvSpPr>
            <p:spPr>
              <a:xfrm flipV="1">
                <a:off x="3021603" y="3042324"/>
                <a:ext cx="250549" cy="72301"/>
              </a:xfrm>
              <a:prstGeom prst="rect">
                <a:avLst/>
              </a:prstGeom>
              <a:solidFill>
                <a:srgbClr val="008000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  <a:latin typeface="Calibri"/>
                </a:endParaRPr>
              </a:p>
            </p:txBody>
          </p:sp>
        </p:grpSp>
      </p:grpSp>
      <p:sp>
        <p:nvSpPr>
          <p:cNvPr id="8" name="TextBox 7"/>
          <p:cNvSpPr txBox="1"/>
          <p:nvPr/>
        </p:nvSpPr>
        <p:spPr>
          <a:xfrm>
            <a:off x="5455932" y="1505779"/>
            <a:ext cx="3688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prstClr val="black"/>
                </a:solidFill>
                <a:latin typeface="Calibri"/>
              </a:rPr>
              <a:t>Input: </a:t>
            </a:r>
            <a:r>
              <a:rPr lang="en-US" dirty="0" smtClean="0">
                <a:solidFill>
                  <a:prstClr val="black"/>
                </a:solidFill>
                <a:latin typeface="Calibri"/>
              </a:rPr>
              <a:t>Reads that may contain errors</a:t>
            </a:r>
            <a:endParaRPr lang="en-US" b="1" dirty="0" smtClean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93" name="TextBox 292"/>
          <p:cNvSpPr txBox="1"/>
          <p:nvPr/>
        </p:nvSpPr>
        <p:spPr>
          <a:xfrm>
            <a:off x="5455932" y="2344984"/>
            <a:ext cx="37114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prstClr val="black"/>
                </a:solidFill>
                <a:latin typeface="Calibri"/>
              </a:rPr>
              <a:t>Chop reads into k-</a:t>
            </a:r>
            <a:r>
              <a:rPr lang="en-US" dirty="0" err="1" smtClean="0">
                <a:solidFill>
                  <a:prstClr val="black"/>
                </a:solidFill>
                <a:latin typeface="Calibri"/>
              </a:rPr>
              <a:t>mers</a:t>
            </a:r>
            <a:r>
              <a:rPr lang="en-US" dirty="0" smtClean="0">
                <a:solidFill>
                  <a:prstClr val="black"/>
                </a:solidFill>
                <a:latin typeface="Calibri"/>
              </a:rPr>
              <a:t>, process </a:t>
            </a:r>
          </a:p>
          <a:p>
            <a:r>
              <a:rPr lang="en-US" dirty="0">
                <a:solidFill>
                  <a:prstClr val="black"/>
                </a:solidFill>
                <a:latin typeface="Calibri"/>
              </a:rPr>
              <a:t>k</a:t>
            </a:r>
            <a:r>
              <a:rPr lang="en-US" dirty="0" smtClean="0">
                <a:solidFill>
                  <a:prstClr val="black"/>
                </a:solidFill>
                <a:latin typeface="Calibri"/>
              </a:rPr>
              <a:t>-</a:t>
            </a:r>
            <a:r>
              <a:rPr lang="en-US" dirty="0" err="1" smtClean="0">
                <a:solidFill>
                  <a:prstClr val="black"/>
                </a:solidFill>
                <a:latin typeface="Calibri"/>
              </a:rPr>
              <a:t>mers</a:t>
            </a:r>
            <a:r>
              <a:rPr lang="en-US" dirty="0" smtClean="0">
                <a:solidFill>
                  <a:prstClr val="black"/>
                </a:solidFill>
                <a:latin typeface="Calibri"/>
              </a:rPr>
              <a:t> to </a:t>
            </a:r>
            <a:r>
              <a:rPr lang="en-US" b="1" dirty="0" smtClean="0">
                <a:solidFill>
                  <a:prstClr val="black"/>
                </a:solidFill>
                <a:latin typeface="Calibri"/>
              </a:rPr>
              <a:t>exclude errors 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5424227" y="3715923"/>
            <a:ext cx="37114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prstClr val="black"/>
                </a:solidFill>
                <a:latin typeface="Calibri"/>
              </a:rPr>
              <a:t>Construct &amp; traverse de </a:t>
            </a:r>
            <a:r>
              <a:rPr lang="en-US" dirty="0" err="1" smtClean="0">
                <a:solidFill>
                  <a:prstClr val="black"/>
                </a:solidFill>
                <a:latin typeface="Calibri"/>
              </a:rPr>
              <a:t>Bruijn</a:t>
            </a:r>
            <a:r>
              <a:rPr lang="en-US" dirty="0" smtClean="0">
                <a:solidFill>
                  <a:prstClr val="black"/>
                </a:solidFill>
                <a:latin typeface="Calibri"/>
              </a:rPr>
              <a:t> graph of k-</a:t>
            </a:r>
            <a:r>
              <a:rPr lang="en-US" dirty="0" err="1" smtClean="0">
                <a:solidFill>
                  <a:prstClr val="black"/>
                </a:solidFill>
                <a:latin typeface="Calibri"/>
              </a:rPr>
              <a:t>mers</a:t>
            </a:r>
            <a:r>
              <a:rPr lang="en-US" dirty="0" smtClean="0">
                <a:solidFill>
                  <a:prstClr val="black"/>
                </a:solidFill>
                <a:latin typeface="Calibri"/>
              </a:rPr>
              <a:t>, generate </a:t>
            </a:r>
            <a:r>
              <a:rPr lang="en-US" dirty="0" err="1" smtClean="0">
                <a:solidFill>
                  <a:prstClr val="black"/>
                </a:solidFill>
                <a:latin typeface="Calibri"/>
              </a:rPr>
              <a:t>contigs</a:t>
            </a:r>
            <a:endParaRPr lang="en-US" dirty="0" smtClean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95" name="TextBox 294"/>
          <p:cNvSpPr txBox="1"/>
          <p:nvPr/>
        </p:nvSpPr>
        <p:spPr>
          <a:xfrm>
            <a:off x="5455932" y="4806618"/>
            <a:ext cx="37114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prstClr val="black"/>
                </a:solidFill>
                <a:latin typeface="Calibri"/>
              </a:rPr>
              <a:t>Leverage read information to link </a:t>
            </a:r>
            <a:r>
              <a:rPr lang="en-US" dirty="0" err="1" smtClean="0">
                <a:solidFill>
                  <a:prstClr val="black"/>
                </a:solidFill>
                <a:latin typeface="Calibri"/>
              </a:rPr>
              <a:t>contigs</a:t>
            </a:r>
            <a:r>
              <a:rPr lang="en-US" dirty="0" smtClean="0">
                <a:solidFill>
                  <a:prstClr val="black"/>
                </a:solidFill>
                <a:latin typeface="Calibri"/>
              </a:rPr>
              <a:t> and generate scaffolds.</a:t>
            </a:r>
          </a:p>
        </p:txBody>
      </p:sp>
      <p:grpSp>
        <p:nvGrpSpPr>
          <p:cNvPr id="202" name="Group 124"/>
          <p:cNvGrpSpPr/>
          <p:nvPr/>
        </p:nvGrpSpPr>
        <p:grpSpPr>
          <a:xfrm>
            <a:off x="0" y="2"/>
            <a:ext cx="9144000" cy="1294804"/>
            <a:chOff x="0" y="0"/>
            <a:chExt cx="13004800" cy="1841500"/>
          </a:xfrm>
        </p:grpSpPr>
        <p:pic>
          <p:nvPicPr>
            <p:cNvPr id="203" name="Picture 3"/>
            <p:cNvPicPr>
              <a:picLocks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0"/>
              <a:ext cx="13004800" cy="1841500"/>
            </a:xfrm>
            <a:prstGeom prst="rect">
              <a:avLst/>
            </a:prstGeom>
            <a:noFill/>
            <a:ln w="9525" cap="flat">
              <a:noFill/>
              <a:miter lim="800000"/>
              <a:headEnd/>
              <a:tailEnd/>
            </a:ln>
          </p:spPr>
        </p:pic>
        <p:sp>
          <p:nvSpPr>
            <p:cNvPr id="204" name="Rectangle 5"/>
            <p:cNvSpPr txBox="1">
              <a:spLocks noChangeArrowheads="1"/>
            </p:cNvSpPr>
            <p:nvPr/>
          </p:nvSpPr>
          <p:spPr bwMode="auto">
            <a:xfrm>
              <a:off x="177638" y="21706"/>
              <a:ext cx="12031663" cy="140969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vert="horz" wrap="square" lIns="50777" tIns="50777" rIns="166318" bIns="50777" numCol="1" anchor="ctr" anchorCtr="0" compatLnSpc="1">
              <a:prstTxWarp prst="textNoShape">
                <a:avLst/>
              </a:prstTxWarp>
            </a:bodyPr>
            <a:lstStyle/>
            <a:p>
              <a:pPr marL="40160" defTabSz="642552">
                <a:defRPr/>
              </a:pPr>
              <a:r>
                <a:rPr lang="en-US" sz="3200" kern="0" dirty="0" smtClean="0">
                  <a:solidFill>
                    <a:srgbClr val="FFFF00"/>
                  </a:solidFill>
                  <a:latin typeface="Calibri"/>
                  <a:cs typeface="Calibri"/>
                  <a:sym typeface="Arial Bold" charset="0"/>
                </a:rPr>
                <a:t>Genome </a:t>
              </a:r>
              <a:r>
                <a:rPr lang="en-US" sz="3200" kern="0" dirty="0">
                  <a:solidFill>
                    <a:srgbClr val="FFFF00"/>
                  </a:solidFill>
                  <a:latin typeface="Calibri"/>
                  <a:cs typeface="Calibri"/>
                  <a:sym typeface="Arial Bold" charset="0"/>
                </a:rPr>
                <a:t>Assembly </a:t>
              </a:r>
              <a:r>
                <a:rPr lang="en-US" sz="3200" kern="0" dirty="0" smtClean="0">
                  <a:solidFill>
                    <a:srgbClr val="FFFF00"/>
                  </a:solidFill>
                  <a:latin typeface="Calibri"/>
                  <a:cs typeface="Calibri"/>
                  <a:sym typeface="Arial Bold" charset="0"/>
                </a:rPr>
                <a:t>a </a:t>
              </a:r>
              <a:r>
                <a:rPr lang="en-US" sz="3200" kern="0" dirty="0">
                  <a:solidFill>
                    <a:srgbClr val="FFFF00"/>
                  </a:solidFill>
                  <a:latin typeface="Calibri"/>
                  <a:cs typeface="Calibri"/>
                  <a:sym typeface="Arial Bold" charset="0"/>
                </a:rPr>
                <a:t>la Meraculous</a:t>
              </a:r>
              <a:endParaRPr lang="en-US" sz="3200" kern="0" dirty="0" smtClean="0">
                <a:solidFill>
                  <a:srgbClr val="FFFF00"/>
                </a:solidFill>
                <a:latin typeface="Calibri"/>
                <a:cs typeface="Calibri"/>
                <a:sym typeface="Arial Bold" charset="0"/>
              </a:endParaRPr>
            </a:p>
          </p:txBody>
        </p:sp>
      </p:grpSp>
      <p:sp>
        <p:nvSpPr>
          <p:cNvPr id="201" name="TextBox 200"/>
          <p:cNvSpPr txBox="1"/>
          <p:nvPr/>
        </p:nvSpPr>
        <p:spPr>
          <a:xfrm>
            <a:off x="5528287" y="2917891"/>
            <a:ext cx="38862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rgbClr val="FF0000"/>
                </a:solidFill>
                <a:latin typeface="Calibri"/>
              </a:rPr>
              <a:t>I/O, bandwidth, and memory intensive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5680687" y="4360817"/>
            <a:ext cx="38862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rgbClr val="FF0000"/>
                </a:solidFill>
                <a:latin typeface="Calibri"/>
              </a:rPr>
              <a:t>Latency bound </a:t>
            </a:r>
            <a:r>
              <a:rPr lang="en-US" sz="1600" b="1" dirty="0">
                <a:solidFill>
                  <a:srgbClr val="FF0000"/>
                </a:solidFill>
                <a:latin typeface="Calibri"/>
              </a:rPr>
              <a:t>(</a:t>
            </a:r>
            <a:r>
              <a:rPr lang="en-US" sz="1600" b="1" dirty="0" smtClean="0">
                <a:solidFill>
                  <a:srgbClr val="FF0000"/>
                </a:solidFill>
                <a:latin typeface="Calibri"/>
              </a:rPr>
              <a:t>irregular accesses)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5680687" y="5444853"/>
            <a:ext cx="38862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rgbClr val="FF0000"/>
                </a:solidFill>
                <a:latin typeface="Calibri"/>
              </a:rPr>
              <a:t>Compute and I/O intensive</a:t>
            </a:r>
          </a:p>
        </p:txBody>
      </p:sp>
    </p:spTree>
    <p:extLst>
      <p:ext uri="{BB962C8B-B14F-4D97-AF65-F5344CB8AC3E}">
        <p14:creationId xmlns:p14="http://schemas.microsoft.com/office/powerpoint/2010/main" val="174188482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" grpId="0" animBg="1"/>
      <p:bldP spid="8" grpId="0"/>
      <p:bldP spid="293" grpId="0"/>
      <p:bldP spid="294" grpId="0"/>
      <p:bldP spid="295" grpId="0"/>
      <p:bldP spid="201" grpId="0"/>
      <p:bldP spid="205" grpId="0"/>
      <p:bldP spid="20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roup 124"/>
          <p:cNvGrpSpPr/>
          <p:nvPr/>
        </p:nvGrpSpPr>
        <p:grpSpPr>
          <a:xfrm>
            <a:off x="0" y="2"/>
            <a:ext cx="9144000" cy="1294804"/>
            <a:chOff x="0" y="0"/>
            <a:chExt cx="13004800" cy="1841500"/>
          </a:xfrm>
        </p:grpSpPr>
        <p:pic>
          <p:nvPicPr>
            <p:cNvPr id="203" name="Picture 3"/>
            <p:cNvPicPr>
              <a:picLocks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0"/>
              <a:ext cx="13004800" cy="1841500"/>
            </a:xfrm>
            <a:prstGeom prst="rect">
              <a:avLst/>
            </a:prstGeom>
            <a:noFill/>
            <a:ln w="9525" cap="flat">
              <a:noFill/>
              <a:miter lim="800000"/>
              <a:headEnd/>
              <a:tailEnd/>
            </a:ln>
          </p:spPr>
        </p:pic>
        <p:sp>
          <p:nvSpPr>
            <p:cNvPr id="204" name="Rectangle 5"/>
            <p:cNvSpPr txBox="1">
              <a:spLocks noChangeArrowheads="1"/>
            </p:cNvSpPr>
            <p:nvPr/>
          </p:nvSpPr>
          <p:spPr bwMode="auto">
            <a:xfrm>
              <a:off x="177638" y="21706"/>
              <a:ext cx="12031663" cy="140969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vert="horz" wrap="square" lIns="50777" tIns="50777" rIns="166318" bIns="50777" numCol="1" anchor="ctr" anchorCtr="0" compatLnSpc="1">
              <a:prstTxWarp prst="textNoShape">
                <a:avLst/>
              </a:prstTxWarp>
            </a:bodyPr>
            <a:lstStyle/>
            <a:p>
              <a:pPr marL="40160" defTabSz="642552">
                <a:defRPr/>
              </a:pPr>
              <a:r>
                <a:rPr lang="en-US" sz="3200" kern="0" dirty="0">
                  <a:solidFill>
                    <a:srgbClr val="FFFF00"/>
                  </a:solidFill>
                  <a:latin typeface="Calibri"/>
                  <a:cs typeface="Calibri"/>
                  <a:sym typeface="Arial Bold" charset="0"/>
                </a:rPr>
                <a:t>Meraculous parallelization with UPC</a:t>
              </a:r>
              <a:endParaRPr lang="en-US" sz="3200" kern="0" dirty="0" smtClean="0">
                <a:solidFill>
                  <a:srgbClr val="FFFF00"/>
                </a:solidFill>
                <a:latin typeface="Calibri"/>
                <a:cs typeface="Calibri"/>
                <a:sym typeface="Arial Bold" charset="0"/>
              </a:endParaRPr>
            </a:p>
          </p:txBody>
        </p:sp>
      </p:grpSp>
      <p:sp>
        <p:nvSpPr>
          <p:cNvPr id="209" name="Content Placeholder 2"/>
          <p:cNvSpPr>
            <a:spLocks noGrp="1"/>
          </p:cNvSpPr>
          <p:nvPr>
            <p:ph idx="1"/>
          </p:nvPr>
        </p:nvSpPr>
        <p:spPr>
          <a:xfrm>
            <a:off x="457203" y="754591"/>
            <a:ext cx="8336463" cy="5517373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endParaRPr lang="en-US" sz="1800" dirty="0" smtClean="0"/>
          </a:p>
          <a:p>
            <a:pPr>
              <a:lnSpc>
                <a:spcPct val="120000"/>
              </a:lnSpc>
            </a:pPr>
            <a:r>
              <a:rPr lang="en-US" sz="2200" dirty="0" smtClean="0">
                <a:latin typeface="Arial"/>
                <a:cs typeface="Arial"/>
              </a:rPr>
              <a:t>UPC is a PGAS (</a:t>
            </a:r>
            <a:r>
              <a:rPr lang="en-US" sz="2200" b="1" dirty="0" smtClean="0">
                <a:latin typeface="Arial"/>
                <a:cs typeface="Arial"/>
              </a:rPr>
              <a:t>P</a:t>
            </a:r>
            <a:r>
              <a:rPr lang="en-US" sz="2200" dirty="0" smtClean="0">
                <a:latin typeface="Arial"/>
                <a:cs typeface="Arial"/>
              </a:rPr>
              <a:t>artitioned</a:t>
            </a:r>
            <a:r>
              <a:rPr lang="en-US" sz="2200" b="1" dirty="0" smtClean="0">
                <a:latin typeface="Arial"/>
                <a:cs typeface="Arial"/>
              </a:rPr>
              <a:t> G</a:t>
            </a:r>
            <a:r>
              <a:rPr lang="en-US" sz="2200" dirty="0" smtClean="0">
                <a:latin typeface="Arial"/>
                <a:cs typeface="Arial"/>
              </a:rPr>
              <a:t>lobal</a:t>
            </a:r>
            <a:r>
              <a:rPr lang="en-US" sz="2200" b="1" dirty="0" smtClean="0">
                <a:latin typeface="Arial"/>
                <a:cs typeface="Arial"/>
              </a:rPr>
              <a:t> A</a:t>
            </a:r>
            <a:r>
              <a:rPr lang="en-US" sz="2200" dirty="0" smtClean="0">
                <a:latin typeface="Arial"/>
                <a:cs typeface="Arial"/>
              </a:rPr>
              <a:t>ddress</a:t>
            </a:r>
            <a:r>
              <a:rPr lang="en-US" sz="2200" b="1" dirty="0" smtClean="0">
                <a:latin typeface="Arial"/>
                <a:cs typeface="Arial"/>
              </a:rPr>
              <a:t> S</a:t>
            </a:r>
            <a:r>
              <a:rPr lang="en-US" sz="2200" dirty="0" smtClean="0">
                <a:latin typeface="Arial"/>
                <a:cs typeface="Arial"/>
              </a:rPr>
              <a:t>pace) parallel language with </a:t>
            </a:r>
            <a:r>
              <a:rPr lang="en-US" sz="2200" b="1" dirty="0" smtClean="0">
                <a:latin typeface="Arial"/>
                <a:cs typeface="Arial"/>
              </a:rPr>
              <a:t>one-sided communication</a:t>
            </a:r>
            <a:r>
              <a:rPr lang="en-US" sz="2200" dirty="0" smtClean="0">
                <a:latin typeface="Arial"/>
                <a:cs typeface="Arial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sz="2200" dirty="0" smtClean="0">
                <a:latin typeface="Arial"/>
                <a:cs typeface="Arial"/>
              </a:rPr>
              <a:t>Core </a:t>
            </a:r>
            <a:r>
              <a:rPr lang="en-US" sz="2200" dirty="0">
                <a:latin typeface="Arial"/>
                <a:cs typeface="Arial"/>
              </a:rPr>
              <a:t>g</a:t>
            </a:r>
            <a:r>
              <a:rPr lang="en-US" sz="2200" dirty="0" smtClean="0">
                <a:latin typeface="Arial"/>
                <a:cs typeface="Arial"/>
              </a:rPr>
              <a:t>raph algorithms implemented in UPC (graph </a:t>
            </a:r>
            <a:r>
              <a:rPr lang="en-US" sz="2200" dirty="0" smtClean="0">
                <a:latin typeface="Arial"/>
                <a:cs typeface="Arial"/>
                <a:sym typeface="Wingdings"/>
              </a:rPr>
              <a:t> hash table</a:t>
            </a:r>
            <a:r>
              <a:rPr lang="en-US" sz="2200" dirty="0" smtClean="0">
                <a:latin typeface="Arial"/>
                <a:cs typeface="Arial"/>
              </a:rPr>
              <a:t>).</a:t>
            </a:r>
            <a:endParaRPr lang="en-US" sz="2200" dirty="0">
              <a:latin typeface="Arial"/>
              <a:cs typeface="Arial"/>
            </a:endParaRPr>
          </a:p>
          <a:p>
            <a:pPr>
              <a:lnSpc>
                <a:spcPct val="120000"/>
              </a:lnSpc>
            </a:pPr>
            <a:r>
              <a:rPr lang="en-US" sz="2200" dirty="0" smtClean="0">
                <a:latin typeface="Arial"/>
                <a:cs typeface="Arial"/>
              </a:rPr>
              <a:t>We need the notion of </a:t>
            </a:r>
            <a:r>
              <a:rPr lang="en-US" sz="2200" b="1" dirty="0" smtClean="0">
                <a:latin typeface="Arial"/>
                <a:cs typeface="Arial"/>
              </a:rPr>
              <a:t>a huge global distributed hash table</a:t>
            </a:r>
            <a:r>
              <a:rPr lang="en-US" sz="2200" dirty="0" smtClean="0">
                <a:latin typeface="Arial"/>
                <a:cs typeface="Arial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sz="2200" b="1" dirty="0" smtClean="0">
                <a:latin typeface="Arial"/>
                <a:cs typeface="Arial"/>
              </a:rPr>
              <a:t>Irregular access pattern </a:t>
            </a:r>
            <a:r>
              <a:rPr lang="en-US" sz="2200" dirty="0" smtClean="0">
                <a:latin typeface="Arial"/>
                <a:cs typeface="Arial"/>
              </a:rPr>
              <a:t>in the the distributed hash table</a:t>
            </a:r>
          </a:p>
          <a:p>
            <a:pPr lvl="1">
              <a:lnSpc>
                <a:spcPct val="120000"/>
              </a:lnSpc>
            </a:pPr>
            <a:r>
              <a:rPr lang="en-US" sz="2200" dirty="0" smtClean="0">
                <a:latin typeface="Arial"/>
                <a:cs typeface="Arial"/>
              </a:rPr>
              <a:t>One-sided communication is handy!</a:t>
            </a:r>
          </a:p>
          <a:p>
            <a:pPr>
              <a:lnSpc>
                <a:spcPct val="120000"/>
              </a:lnSpc>
            </a:pPr>
            <a:r>
              <a:rPr lang="en-US" sz="2200" dirty="0" smtClean="0">
                <a:latin typeface="Arial"/>
                <a:cs typeface="Arial"/>
              </a:rPr>
              <a:t>Portable implementation: can run any machine without change!</a:t>
            </a:r>
          </a:p>
          <a:p>
            <a:pPr>
              <a:lnSpc>
                <a:spcPct val="120000"/>
              </a:lnSpc>
            </a:pPr>
            <a:r>
              <a:rPr lang="en-US" sz="2200" b="1" dirty="0" smtClean="0">
                <a:latin typeface="Arial"/>
                <a:cs typeface="Arial"/>
              </a:rPr>
              <a:t>Result of this work</a:t>
            </a:r>
            <a:r>
              <a:rPr lang="en-US" sz="2200" b="1" i="1" dirty="0" smtClean="0">
                <a:latin typeface="Arial"/>
                <a:cs typeface="Arial"/>
              </a:rPr>
              <a:t>: </a:t>
            </a:r>
            <a:r>
              <a:rPr lang="en-US" sz="2200" i="1" dirty="0" smtClean="0">
                <a:latin typeface="Arial"/>
                <a:cs typeface="Arial"/>
              </a:rPr>
              <a:t>Complete assembly of human genome in </a:t>
            </a:r>
            <a:r>
              <a:rPr lang="en-US" sz="2200" b="1" i="1" dirty="0" smtClean="0">
                <a:latin typeface="Arial"/>
                <a:cs typeface="Arial"/>
              </a:rPr>
              <a:t>8.4 minutes </a:t>
            </a:r>
            <a:r>
              <a:rPr lang="en-US" sz="2200" i="1" dirty="0" smtClean="0">
                <a:latin typeface="Arial"/>
                <a:cs typeface="Arial"/>
              </a:rPr>
              <a:t>using 15K cores</a:t>
            </a:r>
          </a:p>
          <a:p>
            <a:pPr>
              <a:lnSpc>
                <a:spcPct val="120000"/>
              </a:lnSpc>
            </a:pPr>
            <a:r>
              <a:rPr lang="en-US" sz="2200" dirty="0" smtClean="0">
                <a:latin typeface="Arial"/>
                <a:cs typeface="Arial"/>
              </a:rPr>
              <a:t>Original code required </a:t>
            </a:r>
            <a:r>
              <a:rPr lang="en-US" sz="2200" b="1" dirty="0" smtClean="0">
                <a:latin typeface="Arial"/>
                <a:cs typeface="Arial"/>
              </a:rPr>
              <a:t>2 days </a:t>
            </a:r>
            <a:r>
              <a:rPr lang="en-US" sz="2200" dirty="0" smtClean="0">
                <a:latin typeface="Arial"/>
                <a:cs typeface="Arial"/>
              </a:rPr>
              <a:t>and a large memory machine</a:t>
            </a:r>
            <a:r>
              <a:rPr lang="en-US" sz="2200" b="1" dirty="0">
                <a:latin typeface="Arial"/>
                <a:cs typeface="Arial"/>
              </a:rPr>
              <a:t>.</a:t>
            </a:r>
            <a:endParaRPr lang="en-US" sz="2200" dirty="0" smtClean="0">
              <a:latin typeface="Arial"/>
              <a:cs typeface="Arial"/>
            </a:endParaRPr>
          </a:p>
          <a:p>
            <a:pPr lvl="1">
              <a:lnSpc>
                <a:spcPct val="120000"/>
              </a:lnSpc>
            </a:pPr>
            <a:endParaRPr lang="en-US" sz="1800" b="1" dirty="0" smtClean="0"/>
          </a:p>
        </p:txBody>
      </p:sp>
    </p:spTree>
    <p:extLst>
      <p:ext uri="{BB962C8B-B14F-4D97-AF65-F5344CB8AC3E}">
        <p14:creationId xmlns:p14="http://schemas.microsoft.com/office/powerpoint/2010/main" val="412915834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 flipV="1">
            <a:off x="321617" y="1823252"/>
            <a:ext cx="485705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 flipV="1">
            <a:off x="401755" y="1941772"/>
            <a:ext cx="485705" cy="7230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cxnSp>
        <p:nvCxnSpPr>
          <p:cNvPr id="71" name="Straight Connector 70"/>
          <p:cNvCxnSpPr/>
          <p:nvPr/>
        </p:nvCxnSpPr>
        <p:spPr>
          <a:xfrm>
            <a:off x="275840" y="2840804"/>
            <a:ext cx="1164983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TextBox 157"/>
          <p:cNvSpPr txBox="1"/>
          <p:nvPr/>
        </p:nvSpPr>
        <p:spPr>
          <a:xfrm flipV="1">
            <a:off x="890916" y="1823252"/>
            <a:ext cx="485705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59" name="TextBox 158"/>
          <p:cNvSpPr txBox="1"/>
          <p:nvPr/>
        </p:nvSpPr>
        <p:spPr>
          <a:xfrm flipV="1">
            <a:off x="920483" y="1941772"/>
            <a:ext cx="485705" cy="7230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60" name="TextBox 159"/>
          <p:cNvSpPr txBox="1"/>
          <p:nvPr/>
        </p:nvSpPr>
        <p:spPr>
          <a:xfrm flipV="1">
            <a:off x="321617" y="2068836"/>
            <a:ext cx="485705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61" name="TextBox 160"/>
          <p:cNvSpPr txBox="1"/>
          <p:nvPr/>
        </p:nvSpPr>
        <p:spPr>
          <a:xfrm flipV="1">
            <a:off x="884484" y="2068836"/>
            <a:ext cx="485705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62" name="TextBox 161"/>
          <p:cNvSpPr txBox="1"/>
          <p:nvPr/>
        </p:nvSpPr>
        <p:spPr>
          <a:xfrm flipV="1">
            <a:off x="471992" y="2186582"/>
            <a:ext cx="485705" cy="7230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63" name="TextBox 162"/>
          <p:cNvSpPr txBox="1"/>
          <p:nvPr/>
        </p:nvSpPr>
        <p:spPr>
          <a:xfrm flipV="1">
            <a:off x="321617" y="2313910"/>
            <a:ext cx="485705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64" name="TextBox 163"/>
          <p:cNvSpPr txBox="1"/>
          <p:nvPr/>
        </p:nvSpPr>
        <p:spPr>
          <a:xfrm flipV="1">
            <a:off x="884484" y="2313910"/>
            <a:ext cx="485705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65" name="TextBox 164"/>
          <p:cNvSpPr txBox="1"/>
          <p:nvPr/>
        </p:nvSpPr>
        <p:spPr>
          <a:xfrm flipV="1">
            <a:off x="647210" y="2430130"/>
            <a:ext cx="485705" cy="7230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66" name="TextBox 165"/>
          <p:cNvSpPr txBox="1"/>
          <p:nvPr/>
        </p:nvSpPr>
        <p:spPr>
          <a:xfrm flipV="1">
            <a:off x="564469" y="2558985"/>
            <a:ext cx="485705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67" name="TextBox 166"/>
          <p:cNvSpPr txBox="1"/>
          <p:nvPr/>
        </p:nvSpPr>
        <p:spPr>
          <a:xfrm flipV="1">
            <a:off x="391308" y="2664141"/>
            <a:ext cx="485705" cy="7230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69" name="TextBox 168"/>
          <p:cNvSpPr txBox="1"/>
          <p:nvPr/>
        </p:nvSpPr>
        <p:spPr>
          <a:xfrm flipV="1">
            <a:off x="920483" y="2664141"/>
            <a:ext cx="485705" cy="7230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70" name="TextBox 169"/>
          <p:cNvSpPr txBox="1"/>
          <p:nvPr/>
        </p:nvSpPr>
        <p:spPr>
          <a:xfrm flipV="1">
            <a:off x="335738" y="2957053"/>
            <a:ext cx="485705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71" name="TextBox 170"/>
          <p:cNvSpPr txBox="1"/>
          <p:nvPr/>
        </p:nvSpPr>
        <p:spPr>
          <a:xfrm flipV="1">
            <a:off x="415876" y="3075573"/>
            <a:ext cx="485705" cy="7230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cxnSp>
        <p:nvCxnSpPr>
          <p:cNvPr id="172" name="Straight Connector 171"/>
          <p:cNvCxnSpPr/>
          <p:nvPr/>
        </p:nvCxnSpPr>
        <p:spPr>
          <a:xfrm>
            <a:off x="289961" y="3974605"/>
            <a:ext cx="1164983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TextBox 172"/>
          <p:cNvSpPr txBox="1"/>
          <p:nvPr/>
        </p:nvSpPr>
        <p:spPr>
          <a:xfrm flipV="1">
            <a:off x="905037" y="2957053"/>
            <a:ext cx="485705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74" name="TextBox 173"/>
          <p:cNvSpPr txBox="1"/>
          <p:nvPr/>
        </p:nvSpPr>
        <p:spPr>
          <a:xfrm flipV="1">
            <a:off x="934604" y="3075573"/>
            <a:ext cx="485705" cy="7230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75" name="TextBox 174"/>
          <p:cNvSpPr txBox="1"/>
          <p:nvPr/>
        </p:nvSpPr>
        <p:spPr>
          <a:xfrm flipV="1">
            <a:off x="335738" y="3202637"/>
            <a:ext cx="485705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76" name="TextBox 175"/>
          <p:cNvSpPr txBox="1"/>
          <p:nvPr/>
        </p:nvSpPr>
        <p:spPr>
          <a:xfrm flipV="1">
            <a:off x="898605" y="3202637"/>
            <a:ext cx="485705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77" name="TextBox 176"/>
          <p:cNvSpPr txBox="1"/>
          <p:nvPr/>
        </p:nvSpPr>
        <p:spPr>
          <a:xfrm flipV="1">
            <a:off x="486113" y="3320383"/>
            <a:ext cx="485705" cy="7230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78" name="TextBox 177"/>
          <p:cNvSpPr txBox="1"/>
          <p:nvPr/>
        </p:nvSpPr>
        <p:spPr>
          <a:xfrm flipV="1">
            <a:off x="335738" y="3447711"/>
            <a:ext cx="485705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79" name="TextBox 178"/>
          <p:cNvSpPr txBox="1"/>
          <p:nvPr/>
        </p:nvSpPr>
        <p:spPr>
          <a:xfrm flipV="1">
            <a:off x="898605" y="3447711"/>
            <a:ext cx="485705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80" name="TextBox 179"/>
          <p:cNvSpPr txBox="1"/>
          <p:nvPr/>
        </p:nvSpPr>
        <p:spPr>
          <a:xfrm flipV="1">
            <a:off x="661331" y="3563931"/>
            <a:ext cx="485705" cy="7230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81" name="TextBox 180"/>
          <p:cNvSpPr txBox="1"/>
          <p:nvPr/>
        </p:nvSpPr>
        <p:spPr>
          <a:xfrm flipV="1">
            <a:off x="578590" y="3692786"/>
            <a:ext cx="485705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82" name="TextBox 181"/>
          <p:cNvSpPr txBox="1"/>
          <p:nvPr/>
        </p:nvSpPr>
        <p:spPr>
          <a:xfrm flipV="1">
            <a:off x="405429" y="3797942"/>
            <a:ext cx="485705" cy="7230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83" name="TextBox 182"/>
          <p:cNvSpPr txBox="1"/>
          <p:nvPr/>
        </p:nvSpPr>
        <p:spPr>
          <a:xfrm flipV="1">
            <a:off x="934604" y="3797942"/>
            <a:ext cx="485705" cy="7230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84" name="TextBox 183"/>
          <p:cNvSpPr txBox="1"/>
          <p:nvPr/>
        </p:nvSpPr>
        <p:spPr>
          <a:xfrm flipV="1">
            <a:off x="360281" y="4112663"/>
            <a:ext cx="485705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85" name="TextBox 184"/>
          <p:cNvSpPr txBox="1"/>
          <p:nvPr/>
        </p:nvSpPr>
        <p:spPr>
          <a:xfrm flipV="1">
            <a:off x="440419" y="4231183"/>
            <a:ext cx="485705" cy="7230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87" name="TextBox 186"/>
          <p:cNvSpPr txBox="1"/>
          <p:nvPr/>
        </p:nvSpPr>
        <p:spPr>
          <a:xfrm flipV="1">
            <a:off x="929580" y="4112663"/>
            <a:ext cx="485705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88" name="TextBox 187"/>
          <p:cNvSpPr txBox="1"/>
          <p:nvPr/>
        </p:nvSpPr>
        <p:spPr>
          <a:xfrm flipV="1">
            <a:off x="959147" y="4231183"/>
            <a:ext cx="485705" cy="7230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89" name="TextBox 188"/>
          <p:cNvSpPr txBox="1"/>
          <p:nvPr/>
        </p:nvSpPr>
        <p:spPr>
          <a:xfrm flipV="1">
            <a:off x="360281" y="4358247"/>
            <a:ext cx="485705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90" name="TextBox 189"/>
          <p:cNvSpPr txBox="1"/>
          <p:nvPr/>
        </p:nvSpPr>
        <p:spPr>
          <a:xfrm flipV="1">
            <a:off x="923148" y="4358247"/>
            <a:ext cx="485705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91" name="TextBox 190"/>
          <p:cNvSpPr txBox="1"/>
          <p:nvPr/>
        </p:nvSpPr>
        <p:spPr>
          <a:xfrm flipV="1">
            <a:off x="510656" y="4475993"/>
            <a:ext cx="485705" cy="7230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92" name="TextBox 191"/>
          <p:cNvSpPr txBox="1"/>
          <p:nvPr/>
        </p:nvSpPr>
        <p:spPr>
          <a:xfrm flipV="1">
            <a:off x="360281" y="4603321"/>
            <a:ext cx="485705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93" name="TextBox 192"/>
          <p:cNvSpPr txBox="1"/>
          <p:nvPr/>
        </p:nvSpPr>
        <p:spPr>
          <a:xfrm flipV="1">
            <a:off x="923148" y="4603321"/>
            <a:ext cx="485705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94" name="TextBox 193"/>
          <p:cNvSpPr txBox="1"/>
          <p:nvPr/>
        </p:nvSpPr>
        <p:spPr>
          <a:xfrm flipV="1">
            <a:off x="685874" y="4719541"/>
            <a:ext cx="485705" cy="7230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95" name="TextBox 194"/>
          <p:cNvSpPr txBox="1"/>
          <p:nvPr/>
        </p:nvSpPr>
        <p:spPr>
          <a:xfrm flipV="1">
            <a:off x="603133" y="4848396"/>
            <a:ext cx="485705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96" name="TextBox 195"/>
          <p:cNvSpPr txBox="1"/>
          <p:nvPr/>
        </p:nvSpPr>
        <p:spPr>
          <a:xfrm flipV="1">
            <a:off x="429972" y="4953552"/>
            <a:ext cx="485705" cy="7230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97" name="TextBox 196"/>
          <p:cNvSpPr txBox="1"/>
          <p:nvPr/>
        </p:nvSpPr>
        <p:spPr>
          <a:xfrm flipV="1">
            <a:off x="959147" y="4953552"/>
            <a:ext cx="485705" cy="7230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98" name="TextBox 197"/>
          <p:cNvSpPr txBox="1"/>
          <p:nvPr/>
        </p:nvSpPr>
        <p:spPr>
          <a:xfrm flipV="1">
            <a:off x="335738" y="5302221"/>
            <a:ext cx="485705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99" name="TextBox 198"/>
          <p:cNvSpPr txBox="1"/>
          <p:nvPr/>
        </p:nvSpPr>
        <p:spPr>
          <a:xfrm flipV="1">
            <a:off x="415876" y="5420741"/>
            <a:ext cx="485705" cy="7230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cxnSp>
        <p:nvCxnSpPr>
          <p:cNvPr id="200" name="Straight Connector 199"/>
          <p:cNvCxnSpPr/>
          <p:nvPr/>
        </p:nvCxnSpPr>
        <p:spPr>
          <a:xfrm>
            <a:off x="289961" y="5211410"/>
            <a:ext cx="1164983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1" name="TextBox 200"/>
          <p:cNvSpPr txBox="1"/>
          <p:nvPr/>
        </p:nvSpPr>
        <p:spPr>
          <a:xfrm flipV="1">
            <a:off x="905037" y="5302221"/>
            <a:ext cx="485705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202" name="TextBox 201"/>
          <p:cNvSpPr txBox="1"/>
          <p:nvPr/>
        </p:nvSpPr>
        <p:spPr>
          <a:xfrm flipV="1">
            <a:off x="934604" y="5420741"/>
            <a:ext cx="485705" cy="7230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203" name="TextBox 202"/>
          <p:cNvSpPr txBox="1"/>
          <p:nvPr/>
        </p:nvSpPr>
        <p:spPr>
          <a:xfrm flipV="1">
            <a:off x="335738" y="5547805"/>
            <a:ext cx="485705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204" name="TextBox 203"/>
          <p:cNvSpPr txBox="1"/>
          <p:nvPr/>
        </p:nvSpPr>
        <p:spPr>
          <a:xfrm flipV="1">
            <a:off x="898605" y="5547805"/>
            <a:ext cx="485705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205" name="TextBox 204"/>
          <p:cNvSpPr txBox="1"/>
          <p:nvPr/>
        </p:nvSpPr>
        <p:spPr>
          <a:xfrm flipV="1">
            <a:off x="486113" y="5665551"/>
            <a:ext cx="485705" cy="7230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206" name="TextBox 205"/>
          <p:cNvSpPr txBox="1"/>
          <p:nvPr/>
        </p:nvSpPr>
        <p:spPr>
          <a:xfrm flipV="1">
            <a:off x="335738" y="5792879"/>
            <a:ext cx="485705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207" name="TextBox 206"/>
          <p:cNvSpPr txBox="1"/>
          <p:nvPr/>
        </p:nvSpPr>
        <p:spPr>
          <a:xfrm flipV="1">
            <a:off x="898605" y="5792879"/>
            <a:ext cx="485705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208" name="TextBox 207"/>
          <p:cNvSpPr txBox="1"/>
          <p:nvPr/>
        </p:nvSpPr>
        <p:spPr>
          <a:xfrm flipV="1">
            <a:off x="661331" y="5909099"/>
            <a:ext cx="485705" cy="7230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209" name="TextBox 208"/>
          <p:cNvSpPr txBox="1"/>
          <p:nvPr/>
        </p:nvSpPr>
        <p:spPr>
          <a:xfrm flipV="1">
            <a:off x="578590" y="6037954"/>
            <a:ext cx="485705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210" name="TextBox 209"/>
          <p:cNvSpPr txBox="1"/>
          <p:nvPr/>
        </p:nvSpPr>
        <p:spPr>
          <a:xfrm flipV="1">
            <a:off x="405429" y="6143110"/>
            <a:ext cx="485705" cy="7230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211" name="TextBox 210"/>
          <p:cNvSpPr txBox="1"/>
          <p:nvPr/>
        </p:nvSpPr>
        <p:spPr>
          <a:xfrm flipV="1">
            <a:off x="934604" y="6143110"/>
            <a:ext cx="485705" cy="7230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259" name="TextBox 258"/>
          <p:cNvSpPr txBox="1"/>
          <p:nvPr/>
        </p:nvSpPr>
        <p:spPr>
          <a:xfrm>
            <a:off x="343688" y="1331622"/>
            <a:ext cx="1143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prstClr val="black"/>
                </a:solidFill>
                <a:latin typeface="Calibri"/>
              </a:rPr>
              <a:t>Reads</a:t>
            </a:r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60" name="Group 124"/>
          <p:cNvGrpSpPr/>
          <p:nvPr/>
        </p:nvGrpSpPr>
        <p:grpSpPr>
          <a:xfrm>
            <a:off x="0" y="2"/>
            <a:ext cx="9144000" cy="1294804"/>
            <a:chOff x="0" y="0"/>
            <a:chExt cx="13004800" cy="1841500"/>
          </a:xfrm>
        </p:grpSpPr>
        <p:pic>
          <p:nvPicPr>
            <p:cNvPr id="61" name="Picture 3"/>
            <p:cNvPicPr>
              <a:picLocks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0"/>
              <a:ext cx="13004800" cy="1841500"/>
            </a:xfrm>
            <a:prstGeom prst="rect">
              <a:avLst/>
            </a:prstGeom>
            <a:noFill/>
            <a:ln w="9525" cap="flat">
              <a:noFill/>
              <a:miter lim="800000"/>
              <a:headEnd/>
              <a:tailEnd/>
            </a:ln>
          </p:spPr>
        </p:pic>
        <p:sp>
          <p:nvSpPr>
            <p:cNvPr id="62" name="Rectangle 5"/>
            <p:cNvSpPr txBox="1">
              <a:spLocks noChangeArrowheads="1"/>
            </p:cNvSpPr>
            <p:nvPr/>
          </p:nvSpPr>
          <p:spPr bwMode="auto">
            <a:xfrm>
              <a:off x="177638" y="21706"/>
              <a:ext cx="12031663" cy="140969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vert="horz" wrap="square" lIns="50777" tIns="50777" rIns="166318" bIns="50777" numCol="1" anchor="ctr" anchorCtr="0" compatLnSpc="1">
              <a:prstTxWarp prst="textNoShape">
                <a:avLst/>
              </a:prstTxWarp>
            </a:bodyPr>
            <a:lstStyle/>
            <a:p>
              <a:pPr marL="40160" defTabSz="642552">
                <a:defRPr/>
              </a:pPr>
              <a:r>
                <a:rPr lang="en-US" sz="3200" kern="0" dirty="0">
                  <a:solidFill>
                    <a:srgbClr val="FFFF00"/>
                  </a:solidFill>
                  <a:latin typeface="Calibri"/>
                  <a:cs typeface="Calibri"/>
                  <a:sym typeface="Arial Bold" charset="0"/>
                </a:rPr>
                <a:t>Parallel k-</a:t>
              </a:r>
              <a:r>
                <a:rPr lang="en-US" sz="3200" kern="0" dirty="0" err="1">
                  <a:solidFill>
                    <a:srgbClr val="FFFF00"/>
                  </a:solidFill>
                  <a:latin typeface="Calibri"/>
                  <a:cs typeface="Calibri"/>
                  <a:sym typeface="Arial Bold" charset="0"/>
                </a:rPr>
                <a:t>mer</a:t>
              </a:r>
              <a:r>
                <a:rPr lang="en-US" sz="3200" kern="0" dirty="0">
                  <a:solidFill>
                    <a:srgbClr val="FFFF00"/>
                  </a:solidFill>
                  <a:latin typeface="Calibri"/>
                  <a:cs typeface="Calibri"/>
                  <a:sym typeface="Arial Bold" charset="0"/>
                </a:rPr>
                <a:t> analysis: pass 1</a:t>
              </a:r>
              <a:endParaRPr lang="en-US" sz="3200" kern="0" dirty="0" smtClean="0">
                <a:solidFill>
                  <a:srgbClr val="FFFF00"/>
                </a:solidFill>
                <a:latin typeface="Calibri"/>
                <a:cs typeface="Calibri"/>
                <a:sym typeface="Arial Bold" charset="0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1420309" y="2141137"/>
            <a:ext cx="814893" cy="3781381"/>
            <a:chOff x="1455919" y="1998697"/>
            <a:chExt cx="814893" cy="3781381"/>
          </a:xfrm>
        </p:grpSpPr>
        <p:sp>
          <p:nvSpPr>
            <p:cNvPr id="63" name="TextBox 62"/>
            <p:cNvSpPr txBox="1"/>
            <p:nvPr/>
          </p:nvSpPr>
          <p:spPr>
            <a:xfrm>
              <a:off x="1847456" y="1998697"/>
              <a:ext cx="423356" cy="36933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  <a:latin typeface="Calibri"/>
                </a:rPr>
                <a:t>P</a:t>
              </a:r>
              <a:r>
                <a:rPr lang="en-US" baseline="-25000" dirty="0" smtClean="0">
                  <a:solidFill>
                    <a:prstClr val="black"/>
                  </a:solidFill>
                  <a:latin typeface="Calibri"/>
                </a:rPr>
                <a:t>0</a:t>
              </a:r>
              <a:endParaRPr lang="en-US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1847456" y="3136046"/>
              <a:ext cx="423356" cy="36933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prstClr val="black"/>
                  </a:solidFill>
                  <a:latin typeface="Calibri"/>
                </a:rPr>
                <a:t>P</a:t>
              </a:r>
              <a:r>
                <a:rPr lang="en-US" baseline="-25000" dirty="0">
                  <a:solidFill>
                    <a:prstClr val="black"/>
                  </a:solidFill>
                  <a:latin typeface="Calibri"/>
                </a:rPr>
                <a:t>1</a:t>
              </a:r>
              <a:endParaRPr lang="en-US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1847456" y="5410746"/>
              <a:ext cx="423356" cy="36933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 err="1" smtClean="0">
                  <a:solidFill>
                    <a:prstClr val="black"/>
                  </a:solidFill>
                  <a:latin typeface="Calibri"/>
                </a:rPr>
                <a:t>P</a:t>
              </a:r>
              <a:r>
                <a:rPr lang="en-US" baseline="-25000" dirty="0" err="1">
                  <a:solidFill>
                    <a:prstClr val="black"/>
                  </a:solidFill>
                  <a:latin typeface="Calibri"/>
                </a:rPr>
                <a:t>n</a:t>
              </a:r>
              <a:endParaRPr lang="en-US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 rot="5400000">
              <a:off x="1778725" y="4276215"/>
              <a:ext cx="4135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smtClean="0">
                  <a:solidFill>
                    <a:prstClr val="black"/>
                  </a:solidFill>
                  <a:latin typeface="Calibri"/>
                </a:rPr>
                <a:t>…</a:t>
              </a:r>
              <a:endParaRPr lang="en-US" b="1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7" name="Right Arrow 66"/>
            <p:cNvSpPr/>
            <p:nvPr/>
          </p:nvSpPr>
          <p:spPr>
            <a:xfrm>
              <a:off x="1455919" y="2055687"/>
              <a:ext cx="344896" cy="238190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68" name="Right Arrow 67"/>
            <p:cNvSpPr/>
            <p:nvPr/>
          </p:nvSpPr>
          <p:spPr>
            <a:xfrm>
              <a:off x="1455919" y="3215507"/>
              <a:ext cx="344896" cy="205984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69" name="Right Arrow 68"/>
            <p:cNvSpPr/>
            <p:nvPr/>
          </p:nvSpPr>
          <p:spPr>
            <a:xfrm>
              <a:off x="1455919" y="5498686"/>
              <a:ext cx="344896" cy="213584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1763879" y="1572440"/>
            <a:ext cx="1902008" cy="4408960"/>
            <a:chOff x="1799489" y="1430000"/>
            <a:chExt cx="1902008" cy="4408960"/>
          </a:xfrm>
        </p:grpSpPr>
        <p:grpSp>
          <p:nvGrpSpPr>
            <p:cNvPr id="6" name="Group 5"/>
            <p:cNvGrpSpPr/>
            <p:nvPr/>
          </p:nvGrpSpPr>
          <p:grpSpPr>
            <a:xfrm>
              <a:off x="2335684" y="1948799"/>
              <a:ext cx="1122607" cy="3890161"/>
              <a:chOff x="2335684" y="1948799"/>
              <a:chExt cx="1122607" cy="3890161"/>
            </a:xfrm>
          </p:grpSpPr>
          <p:grpSp>
            <p:nvGrpSpPr>
              <p:cNvPr id="72" name="Group 71"/>
              <p:cNvGrpSpPr/>
              <p:nvPr/>
            </p:nvGrpSpPr>
            <p:grpSpPr>
              <a:xfrm>
                <a:off x="2759548" y="1948799"/>
                <a:ext cx="685204" cy="467746"/>
                <a:chOff x="3112040" y="1660969"/>
                <a:chExt cx="954661" cy="447542"/>
              </a:xfrm>
            </p:grpSpPr>
            <p:sp>
              <p:nvSpPr>
                <p:cNvPr id="73" name="TextBox 72"/>
                <p:cNvSpPr txBox="1"/>
                <p:nvPr/>
              </p:nvSpPr>
              <p:spPr>
                <a:xfrm flipV="1">
                  <a:off x="3112040" y="1660969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74" name="TextBox 73"/>
                <p:cNvSpPr txBox="1"/>
                <p:nvPr/>
              </p:nvSpPr>
              <p:spPr>
                <a:xfrm flipV="1">
                  <a:off x="3130903" y="1892591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75" name="TextBox 74"/>
                <p:cNvSpPr txBox="1"/>
                <p:nvPr/>
              </p:nvSpPr>
              <p:spPr>
                <a:xfrm flipV="1">
                  <a:off x="3195051" y="2030301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76" name="TextBox 75"/>
                <p:cNvSpPr txBox="1"/>
                <p:nvPr/>
              </p:nvSpPr>
              <p:spPr>
                <a:xfrm flipV="1">
                  <a:off x="3747046" y="1660969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77" name="TextBox 76"/>
                <p:cNvSpPr txBox="1"/>
                <p:nvPr/>
              </p:nvSpPr>
              <p:spPr>
                <a:xfrm flipV="1">
                  <a:off x="3690878" y="1794026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78" name="TextBox 77"/>
                <p:cNvSpPr txBox="1"/>
                <p:nvPr/>
              </p:nvSpPr>
              <p:spPr>
                <a:xfrm flipV="1">
                  <a:off x="3770136" y="1917197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79" name="TextBox 78"/>
                <p:cNvSpPr txBox="1"/>
                <p:nvPr/>
              </p:nvSpPr>
              <p:spPr>
                <a:xfrm flipV="1">
                  <a:off x="3346363" y="1769421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80" name="TextBox 79"/>
                <p:cNvSpPr txBox="1"/>
                <p:nvPr/>
              </p:nvSpPr>
              <p:spPr>
                <a:xfrm flipV="1">
                  <a:off x="3519587" y="2036210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81" name="TextBox 80"/>
                <p:cNvSpPr txBox="1"/>
                <p:nvPr/>
              </p:nvSpPr>
              <p:spPr>
                <a:xfrm flipV="1">
                  <a:off x="3440329" y="1660969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82" name="TextBox 81"/>
                <p:cNvSpPr txBox="1"/>
                <p:nvPr/>
              </p:nvSpPr>
              <p:spPr>
                <a:xfrm flipV="1">
                  <a:off x="3445600" y="1892591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83" name="TextBox 82"/>
                <p:cNvSpPr txBox="1"/>
                <p:nvPr/>
              </p:nvSpPr>
              <p:spPr>
                <a:xfrm flipV="1">
                  <a:off x="3816152" y="2036210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</p:grpSp>
          <p:sp>
            <p:nvSpPr>
              <p:cNvPr id="84" name="Right Arrow 83"/>
              <p:cNvSpPr/>
              <p:nvPr/>
            </p:nvSpPr>
            <p:spPr>
              <a:xfrm>
                <a:off x="2335684" y="2067232"/>
                <a:ext cx="344896" cy="238190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85" name="Right Arrow 84"/>
              <p:cNvSpPr/>
              <p:nvPr/>
            </p:nvSpPr>
            <p:spPr>
              <a:xfrm>
                <a:off x="2335684" y="3197721"/>
                <a:ext cx="344896" cy="238190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86" name="Right Arrow 85"/>
              <p:cNvSpPr/>
              <p:nvPr/>
            </p:nvSpPr>
            <p:spPr>
              <a:xfrm>
                <a:off x="2335684" y="5475360"/>
                <a:ext cx="344896" cy="238190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  <a:latin typeface="Calibri"/>
                </a:endParaRPr>
              </a:p>
            </p:txBody>
          </p:sp>
          <p:grpSp>
            <p:nvGrpSpPr>
              <p:cNvPr id="87" name="Group 86"/>
              <p:cNvGrpSpPr/>
              <p:nvPr/>
            </p:nvGrpSpPr>
            <p:grpSpPr>
              <a:xfrm>
                <a:off x="2764961" y="3116816"/>
                <a:ext cx="685204" cy="467746"/>
                <a:chOff x="3112040" y="1660969"/>
                <a:chExt cx="954661" cy="447542"/>
              </a:xfrm>
            </p:grpSpPr>
            <p:sp>
              <p:nvSpPr>
                <p:cNvPr id="88" name="TextBox 87"/>
                <p:cNvSpPr txBox="1"/>
                <p:nvPr/>
              </p:nvSpPr>
              <p:spPr>
                <a:xfrm flipV="1">
                  <a:off x="3112040" y="1660969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89" name="TextBox 88"/>
                <p:cNvSpPr txBox="1"/>
                <p:nvPr/>
              </p:nvSpPr>
              <p:spPr>
                <a:xfrm flipV="1">
                  <a:off x="3130903" y="1892591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90" name="TextBox 89"/>
                <p:cNvSpPr txBox="1"/>
                <p:nvPr/>
              </p:nvSpPr>
              <p:spPr>
                <a:xfrm flipV="1">
                  <a:off x="3195051" y="2030301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91" name="TextBox 90"/>
                <p:cNvSpPr txBox="1"/>
                <p:nvPr/>
              </p:nvSpPr>
              <p:spPr>
                <a:xfrm flipV="1">
                  <a:off x="3747046" y="1660969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92" name="TextBox 91"/>
                <p:cNvSpPr txBox="1"/>
                <p:nvPr/>
              </p:nvSpPr>
              <p:spPr>
                <a:xfrm flipV="1">
                  <a:off x="3690878" y="1794026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93" name="TextBox 92"/>
                <p:cNvSpPr txBox="1"/>
                <p:nvPr/>
              </p:nvSpPr>
              <p:spPr>
                <a:xfrm flipV="1">
                  <a:off x="3770136" y="1917197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94" name="TextBox 93"/>
                <p:cNvSpPr txBox="1"/>
                <p:nvPr/>
              </p:nvSpPr>
              <p:spPr>
                <a:xfrm flipV="1">
                  <a:off x="3346363" y="1769421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95" name="TextBox 94"/>
                <p:cNvSpPr txBox="1"/>
                <p:nvPr/>
              </p:nvSpPr>
              <p:spPr>
                <a:xfrm flipV="1">
                  <a:off x="3519587" y="2036210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96" name="TextBox 95"/>
                <p:cNvSpPr txBox="1"/>
                <p:nvPr/>
              </p:nvSpPr>
              <p:spPr>
                <a:xfrm flipV="1">
                  <a:off x="3440329" y="1660969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97" name="TextBox 96"/>
                <p:cNvSpPr txBox="1"/>
                <p:nvPr/>
              </p:nvSpPr>
              <p:spPr>
                <a:xfrm flipV="1">
                  <a:off x="3445600" y="1892591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98" name="TextBox 97"/>
                <p:cNvSpPr txBox="1"/>
                <p:nvPr/>
              </p:nvSpPr>
              <p:spPr>
                <a:xfrm flipV="1">
                  <a:off x="3816152" y="2036210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</p:grpSp>
          <p:grpSp>
            <p:nvGrpSpPr>
              <p:cNvPr id="99" name="Group 98"/>
              <p:cNvGrpSpPr/>
              <p:nvPr/>
            </p:nvGrpSpPr>
            <p:grpSpPr>
              <a:xfrm>
                <a:off x="2773087" y="5371214"/>
                <a:ext cx="685204" cy="467746"/>
                <a:chOff x="3112040" y="1660969"/>
                <a:chExt cx="954661" cy="447542"/>
              </a:xfrm>
            </p:grpSpPr>
            <p:sp>
              <p:nvSpPr>
                <p:cNvPr id="100" name="TextBox 99"/>
                <p:cNvSpPr txBox="1"/>
                <p:nvPr/>
              </p:nvSpPr>
              <p:spPr>
                <a:xfrm flipV="1">
                  <a:off x="3112040" y="1660969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101" name="TextBox 100"/>
                <p:cNvSpPr txBox="1"/>
                <p:nvPr/>
              </p:nvSpPr>
              <p:spPr>
                <a:xfrm flipV="1">
                  <a:off x="3130903" y="1892591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102" name="TextBox 101"/>
                <p:cNvSpPr txBox="1"/>
                <p:nvPr/>
              </p:nvSpPr>
              <p:spPr>
                <a:xfrm flipV="1">
                  <a:off x="3195051" y="2030301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103" name="TextBox 102"/>
                <p:cNvSpPr txBox="1"/>
                <p:nvPr/>
              </p:nvSpPr>
              <p:spPr>
                <a:xfrm flipV="1">
                  <a:off x="3747046" y="1660969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104" name="TextBox 103"/>
                <p:cNvSpPr txBox="1"/>
                <p:nvPr/>
              </p:nvSpPr>
              <p:spPr>
                <a:xfrm flipV="1">
                  <a:off x="3690878" y="1794026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105" name="TextBox 104"/>
                <p:cNvSpPr txBox="1"/>
                <p:nvPr/>
              </p:nvSpPr>
              <p:spPr>
                <a:xfrm flipV="1">
                  <a:off x="3770136" y="1917197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106" name="TextBox 105"/>
                <p:cNvSpPr txBox="1"/>
                <p:nvPr/>
              </p:nvSpPr>
              <p:spPr>
                <a:xfrm flipV="1">
                  <a:off x="3346363" y="1769421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107" name="TextBox 106"/>
                <p:cNvSpPr txBox="1"/>
                <p:nvPr/>
              </p:nvSpPr>
              <p:spPr>
                <a:xfrm flipV="1">
                  <a:off x="3519587" y="2036210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108" name="TextBox 107"/>
                <p:cNvSpPr txBox="1"/>
                <p:nvPr/>
              </p:nvSpPr>
              <p:spPr>
                <a:xfrm flipV="1">
                  <a:off x="3440329" y="1660969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109" name="TextBox 108"/>
                <p:cNvSpPr txBox="1"/>
                <p:nvPr/>
              </p:nvSpPr>
              <p:spPr>
                <a:xfrm flipV="1">
                  <a:off x="3445600" y="1892591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110" name="TextBox 109"/>
                <p:cNvSpPr txBox="1"/>
                <p:nvPr/>
              </p:nvSpPr>
              <p:spPr>
                <a:xfrm flipV="1">
                  <a:off x="3816152" y="2036210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</p:grpSp>
        </p:grpSp>
        <p:sp>
          <p:nvSpPr>
            <p:cNvPr id="111" name="TextBox 110"/>
            <p:cNvSpPr txBox="1"/>
            <p:nvPr/>
          </p:nvSpPr>
          <p:spPr>
            <a:xfrm>
              <a:off x="1799489" y="1430000"/>
              <a:ext cx="19020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prstClr val="black"/>
                  </a:solidFill>
                  <a:latin typeface="Calibri"/>
                </a:rPr>
                <a:t>Parse to k-</a:t>
              </a:r>
              <a:r>
                <a:rPr lang="en-US" dirty="0" err="1" smtClean="0">
                  <a:solidFill>
                    <a:prstClr val="black"/>
                  </a:solidFill>
                  <a:latin typeface="Calibri"/>
                </a:rPr>
                <a:t>mers</a:t>
              </a:r>
              <a:endParaRPr lang="en-US"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3422681" y="1295441"/>
            <a:ext cx="2075301" cy="4602671"/>
            <a:chOff x="3458291" y="1153001"/>
            <a:chExt cx="2075301" cy="4602671"/>
          </a:xfrm>
        </p:grpSpPr>
        <p:sp>
          <p:nvSpPr>
            <p:cNvPr id="113" name="Rounded Rectangle 112"/>
            <p:cNvSpPr/>
            <p:nvPr/>
          </p:nvSpPr>
          <p:spPr>
            <a:xfrm>
              <a:off x="3933038" y="1962546"/>
              <a:ext cx="1073728" cy="417848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 smtClean="0">
                  <a:solidFill>
                    <a:prstClr val="black"/>
                  </a:solidFill>
                  <a:latin typeface="Calibri"/>
                </a:rPr>
                <a:t>Hyperloglog</a:t>
              </a:r>
              <a:r>
                <a:rPr lang="en-US" sz="1200" dirty="0" smtClean="0">
                  <a:solidFill>
                    <a:prstClr val="black"/>
                  </a:solidFill>
                  <a:latin typeface="Calibri"/>
                </a:rPr>
                <a:t> </a:t>
              </a:r>
              <a:endParaRPr lang="en-US" sz="120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4" name="Rounded Rectangle 113"/>
            <p:cNvSpPr/>
            <p:nvPr/>
          </p:nvSpPr>
          <p:spPr>
            <a:xfrm>
              <a:off x="3933038" y="3132498"/>
              <a:ext cx="1073728" cy="417848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 smtClean="0">
                  <a:solidFill>
                    <a:prstClr val="black"/>
                  </a:solidFill>
                  <a:latin typeface="Calibri"/>
                </a:rPr>
                <a:t>Hyperloglog</a:t>
              </a:r>
              <a:r>
                <a:rPr lang="en-US" sz="1200" dirty="0" smtClean="0">
                  <a:solidFill>
                    <a:prstClr val="black"/>
                  </a:solidFill>
                  <a:latin typeface="Calibri"/>
                </a:rPr>
                <a:t> </a:t>
              </a:r>
              <a:endParaRPr lang="en-US" sz="120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5" name="Rounded Rectangle 114"/>
            <p:cNvSpPr/>
            <p:nvPr/>
          </p:nvSpPr>
          <p:spPr>
            <a:xfrm>
              <a:off x="3933038" y="5337824"/>
              <a:ext cx="1073728" cy="417848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 smtClean="0">
                  <a:solidFill>
                    <a:prstClr val="black"/>
                  </a:solidFill>
                  <a:latin typeface="Calibri"/>
                </a:rPr>
                <a:t>Hyperloglog</a:t>
              </a:r>
              <a:r>
                <a:rPr lang="en-US" sz="1200" dirty="0" smtClean="0">
                  <a:solidFill>
                    <a:prstClr val="black"/>
                  </a:solidFill>
                  <a:latin typeface="Calibri"/>
                </a:rPr>
                <a:t> </a:t>
              </a:r>
              <a:endParaRPr lang="en-US" sz="120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6" name="Right Arrow 115"/>
            <p:cNvSpPr/>
            <p:nvPr/>
          </p:nvSpPr>
          <p:spPr>
            <a:xfrm>
              <a:off x="3464286" y="2059841"/>
              <a:ext cx="344896" cy="238190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7" name="Right Arrow 116"/>
            <p:cNvSpPr/>
            <p:nvPr/>
          </p:nvSpPr>
          <p:spPr>
            <a:xfrm>
              <a:off x="3458291" y="3199495"/>
              <a:ext cx="344896" cy="238190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8" name="Right Arrow 117"/>
            <p:cNvSpPr/>
            <p:nvPr/>
          </p:nvSpPr>
          <p:spPr>
            <a:xfrm>
              <a:off x="3481827" y="5475360"/>
              <a:ext cx="344896" cy="238190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3631584" y="1153001"/>
              <a:ext cx="190200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>
                  <a:solidFill>
                    <a:prstClr val="black"/>
                  </a:solidFill>
                  <a:latin typeface="Calibri"/>
                </a:rPr>
                <a:t>k-</a:t>
              </a:r>
              <a:r>
                <a:rPr lang="en-US" dirty="0" err="1" smtClean="0">
                  <a:solidFill>
                    <a:prstClr val="black"/>
                  </a:solidFill>
                  <a:latin typeface="Calibri"/>
                </a:rPr>
                <a:t>mer</a:t>
              </a:r>
              <a:r>
                <a:rPr lang="en-US" dirty="0" smtClean="0">
                  <a:solidFill>
                    <a:prstClr val="black"/>
                  </a:solidFill>
                  <a:latin typeface="Calibri"/>
                </a:rPr>
                <a:t> cardinality estimation</a:t>
              </a:r>
              <a:endParaRPr lang="en-US"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5006766" y="1142939"/>
            <a:ext cx="2353777" cy="4403809"/>
            <a:chOff x="5006766" y="1142939"/>
            <a:chExt cx="2353777" cy="4403809"/>
          </a:xfrm>
        </p:grpSpPr>
        <p:cxnSp>
          <p:nvCxnSpPr>
            <p:cNvPr id="121" name="Straight Arrow Connector 71"/>
            <p:cNvCxnSpPr>
              <a:endCxn id="123" idx="0"/>
            </p:cNvCxnSpPr>
            <p:nvPr/>
          </p:nvCxnSpPr>
          <p:spPr>
            <a:xfrm>
              <a:off x="5006766" y="2171470"/>
              <a:ext cx="1402773" cy="166795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71"/>
            <p:cNvCxnSpPr>
              <a:endCxn id="123" idx="2"/>
            </p:cNvCxnSpPr>
            <p:nvPr/>
          </p:nvCxnSpPr>
          <p:spPr>
            <a:xfrm flipV="1">
              <a:off x="5006766" y="4533182"/>
              <a:ext cx="1402773" cy="1013566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Rectangle 122"/>
            <p:cNvSpPr/>
            <p:nvPr/>
          </p:nvSpPr>
          <p:spPr>
            <a:xfrm>
              <a:off x="5930402" y="3839420"/>
              <a:ext cx="958273" cy="693762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rgbClr val="292934"/>
                  </a:solidFill>
                  <a:latin typeface="Calibri"/>
                </a:rPr>
                <a:t>G = Global </a:t>
              </a:r>
              <a:r>
                <a:rPr lang="en-US" sz="1200" dirty="0">
                  <a:solidFill>
                    <a:srgbClr val="292934"/>
                  </a:solidFill>
                  <a:latin typeface="Calibri"/>
                </a:rPr>
                <a:t>cardinality estimation</a:t>
              </a:r>
            </a:p>
          </p:txBody>
        </p:sp>
        <p:cxnSp>
          <p:nvCxnSpPr>
            <p:cNvPr id="124" name="Straight Arrow Connector 71"/>
            <p:cNvCxnSpPr>
              <a:endCxn id="123" idx="0"/>
            </p:cNvCxnSpPr>
            <p:nvPr/>
          </p:nvCxnSpPr>
          <p:spPr>
            <a:xfrm>
              <a:off x="5006766" y="3341422"/>
              <a:ext cx="1402773" cy="49799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TextBox 124"/>
            <p:cNvSpPr txBox="1"/>
            <p:nvPr/>
          </p:nvSpPr>
          <p:spPr>
            <a:xfrm>
              <a:off x="5458535" y="1142939"/>
              <a:ext cx="190200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>
                  <a:solidFill>
                    <a:prstClr val="black"/>
                  </a:solidFill>
                  <a:latin typeface="Calibri"/>
                </a:rPr>
                <a:t>Parallel Reduction</a:t>
              </a:r>
              <a:endParaRPr lang="en-US"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6409539" y="1143666"/>
            <a:ext cx="2615859" cy="4751871"/>
            <a:chOff x="6409539" y="1143666"/>
            <a:chExt cx="2615859" cy="4751871"/>
          </a:xfrm>
        </p:grpSpPr>
        <p:sp>
          <p:nvSpPr>
            <p:cNvPr id="127" name="Rectangle 126"/>
            <p:cNvSpPr/>
            <p:nvPr/>
          </p:nvSpPr>
          <p:spPr>
            <a:xfrm>
              <a:off x="7583710" y="1921450"/>
              <a:ext cx="1175328" cy="600251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rgbClr val="292934"/>
                  </a:solidFill>
                  <a:latin typeface="Calibri"/>
                </a:rPr>
                <a:t>Bloom Filter of size (G/n)</a:t>
              </a:r>
              <a:endParaRPr lang="en-US" sz="1200" dirty="0">
                <a:solidFill>
                  <a:srgbClr val="292934"/>
                </a:solidFill>
                <a:latin typeface="Calibri"/>
              </a:endParaRPr>
            </a:p>
          </p:txBody>
        </p:sp>
        <p:cxnSp>
          <p:nvCxnSpPr>
            <p:cNvPr id="128" name="Straight Arrow Connector 71"/>
            <p:cNvCxnSpPr>
              <a:endCxn id="127" idx="1"/>
            </p:cNvCxnSpPr>
            <p:nvPr/>
          </p:nvCxnSpPr>
          <p:spPr>
            <a:xfrm flipV="1">
              <a:off x="6409539" y="2221576"/>
              <a:ext cx="1174171" cy="161784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Rectangle 128"/>
            <p:cNvSpPr/>
            <p:nvPr/>
          </p:nvSpPr>
          <p:spPr>
            <a:xfrm>
              <a:off x="7583710" y="3069939"/>
              <a:ext cx="1175328" cy="600251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rgbClr val="292934"/>
                  </a:solidFill>
                  <a:latin typeface="Calibri"/>
                </a:rPr>
                <a:t>Bloom Filter of size (G/n)</a:t>
              </a:r>
              <a:endParaRPr lang="en-US" sz="1200" dirty="0">
                <a:solidFill>
                  <a:srgbClr val="292934"/>
                </a:solidFill>
                <a:latin typeface="Calibri"/>
              </a:endParaRPr>
            </a:p>
          </p:txBody>
        </p:sp>
        <p:sp>
          <p:nvSpPr>
            <p:cNvPr id="130" name="Rectangle 129"/>
            <p:cNvSpPr/>
            <p:nvPr/>
          </p:nvSpPr>
          <p:spPr>
            <a:xfrm>
              <a:off x="7583710" y="5295286"/>
              <a:ext cx="1175328" cy="600251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rgbClr val="292934"/>
                  </a:solidFill>
                  <a:latin typeface="Calibri"/>
                </a:rPr>
                <a:t>Bloom Filter of size (G/n)</a:t>
              </a:r>
              <a:endParaRPr lang="en-US" sz="1200" dirty="0">
                <a:solidFill>
                  <a:srgbClr val="292934"/>
                </a:solidFill>
                <a:latin typeface="Calibri"/>
              </a:endParaRPr>
            </a:p>
          </p:txBody>
        </p:sp>
        <p:cxnSp>
          <p:nvCxnSpPr>
            <p:cNvPr id="131" name="Straight Arrow Connector 71"/>
            <p:cNvCxnSpPr>
              <a:endCxn id="130" idx="1"/>
            </p:cNvCxnSpPr>
            <p:nvPr/>
          </p:nvCxnSpPr>
          <p:spPr>
            <a:xfrm>
              <a:off x="6409539" y="4533182"/>
              <a:ext cx="1174171" cy="106223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71"/>
            <p:cNvCxnSpPr>
              <a:endCxn id="129" idx="1"/>
            </p:cNvCxnSpPr>
            <p:nvPr/>
          </p:nvCxnSpPr>
          <p:spPr>
            <a:xfrm flipV="1">
              <a:off x="6409539" y="3370065"/>
              <a:ext cx="1174171" cy="469355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3" name="TextBox 132"/>
            <p:cNvSpPr txBox="1"/>
            <p:nvPr/>
          </p:nvSpPr>
          <p:spPr>
            <a:xfrm>
              <a:off x="7123390" y="1143666"/>
              <a:ext cx="190200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>
                  <a:solidFill>
                    <a:prstClr val="black"/>
                  </a:solidFill>
                  <a:latin typeface="Calibri"/>
                </a:rPr>
                <a:t>Create local Bloom filters</a:t>
              </a:r>
              <a:endParaRPr lang="en-US"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2644970" y="3974605"/>
            <a:ext cx="2678325" cy="1236805"/>
            <a:chOff x="2644970" y="3974605"/>
            <a:chExt cx="2678325" cy="1236805"/>
          </a:xfrm>
        </p:grpSpPr>
        <p:sp>
          <p:nvSpPr>
            <p:cNvPr id="2" name="TextBox 1"/>
            <p:cNvSpPr txBox="1"/>
            <p:nvPr/>
          </p:nvSpPr>
          <p:spPr>
            <a:xfrm>
              <a:off x="2678836" y="4077922"/>
              <a:ext cx="264445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>
                  <a:solidFill>
                    <a:srgbClr val="FF0000"/>
                  </a:solidFill>
                  <a:latin typeface="Calibri"/>
                </a:rPr>
                <a:t>Also identify </a:t>
              </a:r>
            </a:p>
            <a:p>
              <a:pPr algn="ctr"/>
              <a:r>
                <a:rPr lang="en-US" sz="2000" b="1" dirty="0" smtClean="0">
                  <a:solidFill>
                    <a:srgbClr val="FF0000"/>
                  </a:solidFill>
                  <a:latin typeface="Calibri"/>
                </a:rPr>
                <a:t>high-frequency k-</a:t>
              </a:r>
              <a:r>
                <a:rPr lang="en-US" sz="2000" b="1" dirty="0" err="1" smtClean="0">
                  <a:solidFill>
                    <a:srgbClr val="FF0000"/>
                  </a:solidFill>
                  <a:latin typeface="Calibri"/>
                </a:rPr>
                <a:t>mers</a:t>
              </a:r>
              <a:r>
                <a:rPr lang="en-US" sz="2000" b="1" dirty="0" smtClean="0">
                  <a:solidFill>
                    <a:srgbClr val="FF0000"/>
                  </a:solidFill>
                  <a:latin typeface="Calibri"/>
                </a:rPr>
                <a:t> </a:t>
              </a:r>
            </a:p>
            <a:p>
              <a:pPr algn="ctr"/>
              <a:r>
                <a:rPr lang="en-US" sz="2000" b="1" dirty="0" smtClean="0">
                  <a:solidFill>
                    <a:srgbClr val="FF0000"/>
                  </a:solidFill>
                  <a:latin typeface="Calibri"/>
                </a:rPr>
                <a:t>at this step</a:t>
              </a:r>
              <a:endParaRPr lang="en-US" sz="2000" b="1" dirty="0">
                <a:solidFill>
                  <a:srgbClr val="FF0000"/>
                </a:solidFill>
                <a:latin typeface="Calibri"/>
              </a:endParaRPr>
            </a:p>
          </p:txBody>
        </p:sp>
        <p:sp>
          <p:nvSpPr>
            <p:cNvPr id="3" name="Rectangle 2"/>
            <p:cNvSpPr/>
            <p:nvPr/>
          </p:nvSpPr>
          <p:spPr>
            <a:xfrm>
              <a:off x="2644970" y="3974605"/>
              <a:ext cx="2678325" cy="1236805"/>
            </a:xfrm>
            <a:prstGeom prst="rect">
              <a:avLst/>
            </a:prstGeom>
            <a:solidFill>
              <a:schemeClr val="accent2">
                <a:lumMod val="40000"/>
                <a:lumOff val="60000"/>
                <a:alpha val="20000"/>
              </a:schemeClr>
            </a:solidFill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2994877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 flipV="1">
            <a:off x="191047" y="1823252"/>
            <a:ext cx="485705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 flipV="1">
            <a:off x="271185" y="1941772"/>
            <a:ext cx="485705" cy="7230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cxnSp>
        <p:nvCxnSpPr>
          <p:cNvPr id="71" name="Straight Connector 70"/>
          <p:cNvCxnSpPr/>
          <p:nvPr/>
        </p:nvCxnSpPr>
        <p:spPr>
          <a:xfrm>
            <a:off x="145270" y="2840804"/>
            <a:ext cx="1164983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TextBox 157"/>
          <p:cNvSpPr txBox="1"/>
          <p:nvPr/>
        </p:nvSpPr>
        <p:spPr>
          <a:xfrm flipV="1">
            <a:off x="760346" y="1823252"/>
            <a:ext cx="485705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59" name="TextBox 158"/>
          <p:cNvSpPr txBox="1"/>
          <p:nvPr/>
        </p:nvSpPr>
        <p:spPr>
          <a:xfrm flipV="1">
            <a:off x="789913" y="1941772"/>
            <a:ext cx="485705" cy="7230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60" name="TextBox 159"/>
          <p:cNvSpPr txBox="1"/>
          <p:nvPr/>
        </p:nvSpPr>
        <p:spPr>
          <a:xfrm flipV="1">
            <a:off x="191047" y="2068836"/>
            <a:ext cx="485705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61" name="TextBox 160"/>
          <p:cNvSpPr txBox="1"/>
          <p:nvPr/>
        </p:nvSpPr>
        <p:spPr>
          <a:xfrm flipV="1">
            <a:off x="753914" y="2068836"/>
            <a:ext cx="485705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62" name="TextBox 161"/>
          <p:cNvSpPr txBox="1"/>
          <p:nvPr/>
        </p:nvSpPr>
        <p:spPr>
          <a:xfrm flipV="1">
            <a:off x="341422" y="2186582"/>
            <a:ext cx="485705" cy="7230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63" name="TextBox 162"/>
          <p:cNvSpPr txBox="1"/>
          <p:nvPr/>
        </p:nvSpPr>
        <p:spPr>
          <a:xfrm flipV="1">
            <a:off x="191047" y="2313910"/>
            <a:ext cx="485705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64" name="TextBox 163"/>
          <p:cNvSpPr txBox="1"/>
          <p:nvPr/>
        </p:nvSpPr>
        <p:spPr>
          <a:xfrm flipV="1">
            <a:off x="753914" y="2313910"/>
            <a:ext cx="485705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65" name="TextBox 164"/>
          <p:cNvSpPr txBox="1"/>
          <p:nvPr/>
        </p:nvSpPr>
        <p:spPr>
          <a:xfrm flipV="1">
            <a:off x="516640" y="2430130"/>
            <a:ext cx="485705" cy="7230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66" name="TextBox 165"/>
          <p:cNvSpPr txBox="1"/>
          <p:nvPr/>
        </p:nvSpPr>
        <p:spPr>
          <a:xfrm flipV="1">
            <a:off x="433899" y="2558985"/>
            <a:ext cx="485705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67" name="TextBox 166"/>
          <p:cNvSpPr txBox="1"/>
          <p:nvPr/>
        </p:nvSpPr>
        <p:spPr>
          <a:xfrm flipV="1">
            <a:off x="260738" y="2664141"/>
            <a:ext cx="485705" cy="7230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69" name="TextBox 168"/>
          <p:cNvSpPr txBox="1"/>
          <p:nvPr/>
        </p:nvSpPr>
        <p:spPr>
          <a:xfrm flipV="1">
            <a:off x="789913" y="2664141"/>
            <a:ext cx="485705" cy="7230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70" name="TextBox 169"/>
          <p:cNvSpPr txBox="1"/>
          <p:nvPr/>
        </p:nvSpPr>
        <p:spPr>
          <a:xfrm flipV="1">
            <a:off x="205168" y="2957053"/>
            <a:ext cx="485705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71" name="TextBox 170"/>
          <p:cNvSpPr txBox="1"/>
          <p:nvPr/>
        </p:nvSpPr>
        <p:spPr>
          <a:xfrm flipV="1">
            <a:off x="285306" y="3075573"/>
            <a:ext cx="485705" cy="7230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cxnSp>
        <p:nvCxnSpPr>
          <p:cNvPr id="172" name="Straight Connector 171"/>
          <p:cNvCxnSpPr/>
          <p:nvPr/>
        </p:nvCxnSpPr>
        <p:spPr>
          <a:xfrm>
            <a:off x="159391" y="3974605"/>
            <a:ext cx="1164983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TextBox 172"/>
          <p:cNvSpPr txBox="1"/>
          <p:nvPr/>
        </p:nvSpPr>
        <p:spPr>
          <a:xfrm flipV="1">
            <a:off x="774467" y="2957053"/>
            <a:ext cx="485705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74" name="TextBox 173"/>
          <p:cNvSpPr txBox="1"/>
          <p:nvPr/>
        </p:nvSpPr>
        <p:spPr>
          <a:xfrm flipV="1">
            <a:off x="804034" y="3075573"/>
            <a:ext cx="485705" cy="7230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75" name="TextBox 174"/>
          <p:cNvSpPr txBox="1"/>
          <p:nvPr/>
        </p:nvSpPr>
        <p:spPr>
          <a:xfrm flipV="1">
            <a:off x="205168" y="3202637"/>
            <a:ext cx="485705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76" name="TextBox 175"/>
          <p:cNvSpPr txBox="1"/>
          <p:nvPr/>
        </p:nvSpPr>
        <p:spPr>
          <a:xfrm flipV="1">
            <a:off x="768035" y="3202637"/>
            <a:ext cx="485705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77" name="TextBox 176"/>
          <p:cNvSpPr txBox="1"/>
          <p:nvPr/>
        </p:nvSpPr>
        <p:spPr>
          <a:xfrm flipV="1">
            <a:off x="355543" y="3320383"/>
            <a:ext cx="485705" cy="7230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78" name="TextBox 177"/>
          <p:cNvSpPr txBox="1"/>
          <p:nvPr/>
        </p:nvSpPr>
        <p:spPr>
          <a:xfrm flipV="1">
            <a:off x="205168" y="3447711"/>
            <a:ext cx="485705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79" name="TextBox 178"/>
          <p:cNvSpPr txBox="1"/>
          <p:nvPr/>
        </p:nvSpPr>
        <p:spPr>
          <a:xfrm flipV="1">
            <a:off x="768035" y="3447711"/>
            <a:ext cx="485705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80" name="TextBox 179"/>
          <p:cNvSpPr txBox="1"/>
          <p:nvPr/>
        </p:nvSpPr>
        <p:spPr>
          <a:xfrm flipV="1">
            <a:off x="530761" y="3563931"/>
            <a:ext cx="485705" cy="7230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81" name="TextBox 180"/>
          <p:cNvSpPr txBox="1"/>
          <p:nvPr/>
        </p:nvSpPr>
        <p:spPr>
          <a:xfrm flipV="1">
            <a:off x="448020" y="3692786"/>
            <a:ext cx="485705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82" name="TextBox 181"/>
          <p:cNvSpPr txBox="1"/>
          <p:nvPr/>
        </p:nvSpPr>
        <p:spPr>
          <a:xfrm flipV="1">
            <a:off x="274859" y="3797942"/>
            <a:ext cx="485705" cy="7230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83" name="TextBox 182"/>
          <p:cNvSpPr txBox="1"/>
          <p:nvPr/>
        </p:nvSpPr>
        <p:spPr>
          <a:xfrm flipV="1">
            <a:off x="804034" y="3797942"/>
            <a:ext cx="485705" cy="7230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84" name="TextBox 183"/>
          <p:cNvSpPr txBox="1"/>
          <p:nvPr/>
        </p:nvSpPr>
        <p:spPr>
          <a:xfrm flipV="1">
            <a:off x="229711" y="4112663"/>
            <a:ext cx="485705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85" name="TextBox 184"/>
          <p:cNvSpPr txBox="1"/>
          <p:nvPr/>
        </p:nvSpPr>
        <p:spPr>
          <a:xfrm flipV="1">
            <a:off x="309849" y="4231183"/>
            <a:ext cx="485705" cy="7230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87" name="TextBox 186"/>
          <p:cNvSpPr txBox="1"/>
          <p:nvPr/>
        </p:nvSpPr>
        <p:spPr>
          <a:xfrm flipV="1">
            <a:off x="799010" y="4112663"/>
            <a:ext cx="485705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88" name="TextBox 187"/>
          <p:cNvSpPr txBox="1"/>
          <p:nvPr/>
        </p:nvSpPr>
        <p:spPr>
          <a:xfrm flipV="1">
            <a:off x="828577" y="4231183"/>
            <a:ext cx="485705" cy="7230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89" name="TextBox 188"/>
          <p:cNvSpPr txBox="1"/>
          <p:nvPr/>
        </p:nvSpPr>
        <p:spPr>
          <a:xfrm flipV="1">
            <a:off x="229711" y="4358247"/>
            <a:ext cx="485705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90" name="TextBox 189"/>
          <p:cNvSpPr txBox="1"/>
          <p:nvPr/>
        </p:nvSpPr>
        <p:spPr>
          <a:xfrm flipV="1">
            <a:off x="792578" y="4358247"/>
            <a:ext cx="485705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91" name="TextBox 190"/>
          <p:cNvSpPr txBox="1"/>
          <p:nvPr/>
        </p:nvSpPr>
        <p:spPr>
          <a:xfrm flipV="1">
            <a:off x="380086" y="4475993"/>
            <a:ext cx="485705" cy="7230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92" name="TextBox 191"/>
          <p:cNvSpPr txBox="1"/>
          <p:nvPr/>
        </p:nvSpPr>
        <p:spPr>
          <a:xfrm flipV="1">
            <a:off x="229711" y="4603321"/>
            <a:ext cx="485705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93" name="TextBox 192"/>
          <p:cNvSpPr txBox="1"/>
          <p:nvPr/>
        </p:nvSpPr>
        <p:spPr>
          <a:xfrm flipV="1">
            <a:off x="792578" y="4603321"/>
            <a:ext cx="485705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94" name="TextBox 193"/>
          <p:cNvSpPr txBox="1"/>
          <p:nvPr/>
        </p:nvSpPr>
        <p:spPr>
          <a:xfrm flipV="1">
            <a:off x="555304" y="4719541"/>
            <a:ext cx="485705" cy="7230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95" name="TextBox 194"/>
          <p:cNvSpPr txBox="1"/>
          <p:nvPr/>
        </p:nvSpPr>
        <p:spPr>
          <a:xfrm flipV="1">
            <a:off x="472563" y="4848396"/>
            <a:ext cx="485705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96" name="TextBox 195"/>
          <p:cNvSpPr txBox="1"/>
          <p:nvPr/>
        </p:nvSpPr>
        <p:spPr>
          <a:xfrm flipV="1">
            <a:off x="299402" y="4953552"/>
            <a:ext cx="485705" cy="7230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97" name="TextBox 196"/>
          <p:cNvSpPr txBox="1"/>
          <p:nvPr/>
        </p:nvSpPr>
        <p:spPr>
          <a:xfrm flipV="1">
            <a:off x="828577" y="4953552"/>
            <a:ext cx="485705" cy="7230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98" name="TextBox 197"/>
          <p:cNvSpPr txBox="1"/>
          <p:nvPr/>
        </p:nvSpPr>
        <p:spPr>
          <a:xfrm flipV="1">
            <a:off x="205168" y="5302221"/>
            <a:ext cx="485705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99" name="TextBox 198"/>
          <p:cNvSpPr txBox="1"/>
          <p:nvPr/>
        </p:nvSpPr>
        <p:spPr>
          <a:xfrm flipV="1">
            <a:off x="285306" y="5420741"/>
            <a:ext cx="485705" cy="7230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cxnSp>
        <p:nvCxnSpPr>
          <p:cNvPr id="200" name="Straight Connector 199"/>
          <p:cNvCxnSpPr/>
          <p:nvPr/>
        </p:nvCxnSpPr>
        <p:spPr>
          <a:xfrm>
            <a:off x="159391" y="5211410"/>
            <a:ext cx="1164983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1" name="TextBox 200"/>
          <p:cNvSpPr txBox="1"/>
          <p:nvPr/>
        </p:nvSpPr>
        <p:spPr>
          <a:xfrm flipV="1">
            <a:off x="774467" y="5302221"/>
            <a:ext cx="485705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202" name="TextBox 201"/>
          <p:cNvSpPr txBox="1"/>
          <p:nvPr/>
        </p:nvSpPr>
        <p:spPr>
          <a:xfrm flipV="1">
            <a:off x="804034" y="5420741"/>
            <a:ext cx="485705" cy="7230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203" name="TextBox 202"/>
          <p:cNvSpPr txBox="1"/>
          <p:nvPr/>
        </p:nvSpPr>
        <p:spPr>
          <a:xfrm flipV="1">
            <a:off x="205168" y="5547805"/>
            <a:ext cx="485705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204" name="TextBox 203"/>
          <p:cNvSpPr txBox="1"/>
          <p:nvPr/>
        </p:nvSpPr>
        <p:spPr>
          <a:xfrm flipV="1">
            <a:off x="768035" y="5547805"/>
            <a:ext cx="485705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205" name="TextBox 204"/>
          <p:cNvSpPr txBox="1"/>
          <p:nvPr/>
        </p:nvSpPr>
        <p:spPr>
          <a:xfrm flipV="1">
            <a:off x="355543" y="5665551"/>
            <a:ext cx="485705" cy="7230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206" name="TextBox 205"/>
          <p:cNvSpPr txBox="1"/>
          <p:nvPr/>
        </p:nvSpPr>
        <p:spPr>
          <a:xfrm flipV="1">
            <a:off x="205168" y="5792879"/>
            <a:ext cx="485705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207" name="TextBox 206"/>
          <p:cNvSpPr txBox="1"/>
          <p:nvPr/>
        </p:nvSpPr>
        <p:spPr>
          <a:xfrm flipV="1">
            <a:off x="768035" y="5792879"/>
            <a:ext cx="485705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208" name="TextBox 207"/>
          <p:cNvSpPr txBox="1"/>
          <p:nvPr/>
        </p:nvSpPr>
        <p:spPr>
          <a:xfrm flipV="1">
            <a:off x="530761" y="5909099"/>
            <a:ext cx="485705" cy="7230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209" name="TextBox 208"/>
          <p:cNvSpPr txBox="1"/>
          <p:nvPr/>
        </p:nvSpPr>
        <p:spPr>
          <a:xfrm flipV="1">
            <a:off x="448020" y="6037954"/>
            <a:ext cx="485705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210" name="TextBox 209"/>
          <p:cNvSpPr txBox="1"/>
          <p:nvPr/>
        </p:nvSpPr>
        <p:spPr>
          <a:xfrm flipV="1">
            <a:off x="274859" y="6143110"/>
            <a:ext cx="485705" cy="7230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211" name="TextBox 210"/>
          <p:cNvSpPr txBox="1"/>
          <p:nvPr/>
        </p:nvSpPr>
        <p:spPr>
          <a:xfrm flipV="1">
            <a:off x="804034" y="6143110"/>
            <a:ext cx="485705" cy="7230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259" name="TextBox 258"/>
          <p:cNvSpPr txBox="1"/>
          <p:nvPr/>
        </p:nvSpPr>
        <p:spPr>
          <a:xfrm>
            <a:off x="213118" y="1331622"/>
            <a:ext cx="1143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prstClr val="black"/>
                </a:solidFill>
                <a:latin typeface="Calibri"/>
              </a:rPr>
              <a:t>Reads</a:t>
            </a:r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60" name="Group 124"/>
          <p:cNvGrpSpPr/>
          <p:nvPr/>
        </p:nvGrpSpPr>
        <p:grpSpPr>
          <a:xfrm>
            <a:off x="0" y="2"/>
            <a:ext cx="9144000" cy="1294804"/>
            <a:chOff x="0" y="0"/>
            <a:chExt cx="13004800" cy="1841500"/>
          </a:xfrm>
        </p:grpSpPr>
        <p:pic>
          <p:nvPicPr>
            <p:cNvPr id="61" name="Picture 3"/>
            <p:cNvPicPr>
              <a:picLocks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0"/>
              <a:ext cx="13004800" cy="1841500"/>
            </a:xfrm>
            <a:prstGeom prst="rect">
              <a:avLst/>
            </a:prstGeom>
            <a:noFill/>
            <a:ln w="9525" cap="flat">
              <a:noFill/>
              <a:miter lim="800000"/>
              <a:headEnd/>
              <a:tailEnd/>
            </a:ln>
          </p:spPr>
        </p:pic>
        <p:sp>
          <p:nvSpPr>
            <p:cNvPr id="62" name="Rectangle 5"/>
            <p:cNvSpPr txBox="1">
              <a:spLocks noChangeArrowheads="1"/>
            </p:cNvSpPr>
            <p:nvPr/>
          </p:nvSpPr>
          <p:spPr bwMode="auto">
            <a:xfrm>
              <a:off x="177638" y="21706"/>
              <a:ext cx="12031663" cy="140969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vert="horz" wrap="square" lIns="50777" tIns="50777" rIns="166318" bIns="50777" numCol="1" anchor="ctr" anchorCtr="0" compatLnSpc="1">
              <a:prstTxWarp prst="textNoShape">
                <a:avLst/>
              </a:prstTxWarp>
            </a:bodyPr>
            <a:lstStyle/>
            <a:p>
              <a:pPr marL="40160" defTabSz="642552">
                <a:defRPr/>
              </a:pPr>
              <a:r>
                <a:rPr lang="en-US" sz="3200" kern="0" dirty="0">
                  <a:solidFill>
                    <a:srgbClr val="FFFF00"/>
                  </a:solidFill>
                  <a:latin typeface="Calibri"/>
                  <a:cs typeface="Calibri"/>
                  <a:sym typeface="Arial Bold" charset="0"/>
                </a:rPr>
                <a:t>Parallel k-</a:t>
              </a:r>
              <a:r>
                <a:rPr lang="en-US" sz="3200" kern="0" dirty="0" err="1">
                  <a:solidFill>
                    <a:srgbClr val="FFFF00"/>
                  </a:solidFill>
                  <a:latin typeface="Calibri"/>
                  <a:cs typeface="Calibri"/>
                  <a:sym typeface="Arial Bold" charset="0"/>
                </a:rPr>
                <a:t>mer</a:t>
              </a:r>
              <a:r>
                <a:rPr lang="en-US" sz="3200" kern="0" dirty="0">
                  <a:solidFill>
                    <a:srgbClr val="FFFF00"/>
                  </a:solidFill>
                  <a:latin typeface="Calibri"/>
                  <a:cs typeface="Calibri"/>
                  <a:sym typeface="Arial Bold" charset="0"/>
                </a:rPr>
                <a:t> analysis: pass 2</a:t>
              </a:r>
              <a:endParaRPr lang="en-US" sz="3200" kern="0" dirty="0" smtClean="0">
                <a:solidFill>
                  <a:srgbClr val="FFFF00"/>
                </a:solidFill>
                <a:latin typeface="Calibri"/>
                <a:cs typeface="Calibri"/>
                <a:sym typeface="Arial Bold" charset="0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1289739" y="2141137"/>
            <a:ext cx="814893" cy="3781381"/>
            <a:chOff x="1455919" y="1998697"/>
            <a:chExt cx="814893" cy="3781381"/>
          </a:xfrm>
        </p:grpSpPr>
        <p:sp>
          <p:nvSpPr>
            <p:cNvPr id="63" name="TextBox 62"/>
            <p:cNvSpPr txBox="1"/>
            <p:nvPr/>
          </p:nvSpPr>
          <p:spPr>
            <a:xfrm>
              <a:off x="1847456" y="1998697"/>
              <a:ext cx="423356" cy="36933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  <a:latin typeface="Calibri"/>
                </a:rPr>
                <a:t>P</a:t>
              </a:r>
              <a:r>
                <a:rPr lang="en-US" baseline="-25000" dirty="0" smtClean="0">
                  <a:solidFill>
                    <a:prstClr val="black"/>
                  </a:solidFill>
                  <a:latin typeface="Calibri"/>
                </a:rPr>
                <a:t>0</a:t>
              </a:r>
              <a:endParaRPr lang="en-US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1847456" y="3136046"/>
              <a:ext cx="423356" cy="36933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prstClr val="black"/>
                  </a:solidFill>
                  <a:latin typeface="Calibri"/>
                </a:rPr>
                <a:t>P</a:t>
              </a:r>
              <a:r>
                <a:rPr lang="en-US" baseline="-25000" dirty="0">
                  <a:solidFill>
                    <a:prstClr val="black"/>
                  </a:solidFill>
                  <a:latin typeface="Calibri"/>
                </a:rPr>
                <a:t>1</a:t>
              </a:r>
              <a:endParaRPr lang="en-US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1847456" y="5410746"/>
              <a:ext cx="423356" cy="36933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 err="1" smtClean="0">
                  <a:solidFill>
                    <a:prstClr val="black"/>
                  </a:solidFill>
                  <a:latin typeface="Calibri"/>
                </a:rPr>
                <a:t>P</a:t>
              </a:r>
              <a:r>
                <a:rPr lang="en-US" baseline="-25000" dirty="0" err="1">
                  <a:solidFill>
                    <a:prstClr val="black"/>
                  </a:solidFill>
                  <a:latin typeface="Calibri"/>
                </a:rPr>
                <a:t>n</a:t>
              </a:r>
              <a:endParaRPr lang="en-US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 rot="5400000">
              <a:off x="1778725" y="4276215"/>
              <a:ext cx="4135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smtClean="0">
                  <a:solidFill>
                    <a:prstClr val="black"/>
                  </a:solidFill>
                  <a:latin typeface="Calibri"/>
                </a:rPr>
                <a:t>…</a:t>
              </a:r>
              <a:endParaRPr lang="en-US" b="1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7" name="Right Arrow 66"/>
            <p:cNvSpPr/>
            <p:nvPr/>
          </p:nvSpPr>
          <p:spPr>
            <a:xfrm>
              <a:off x="1455919" y="2055687"/>
              <a:ext cx="344896" cy="238190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68" name="Right Arrow 67"/>
            <p:cNvSpPr/>
            <p:nvPr/>
          </p:nvSpPr>
          <p:spPr>
            <a:xfrm>
              <a:off x="1455919" y="3215507"/>
              <a:ext cx="344896" cy="205984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69" name="Right Arrow 68"/>
            <p:cNvSpPr/>
            <p:nvPr/>
          </p:nvSpPr>
          <p:spPr>
            <a:xfrm>
              <a:off x="1455919" y="5498686"/>
              <a:ext cx="344896" cy="213584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1633309" y="1572440"/>
            <a:ext cx="1902008" cy="4408960"/>
            <a:chOff x="1799489" y="1430000"/>
            <a:chExt cx="1902008" cy="4408960"/>
          </a:xfrm>
        </p:grpSpPr>
        <p:grpSp>
          <p:nvGrpSpPr>
            <p:cNvPr id="6" name="Group 5"/>
            <p:cNvGrpSpPr/>
            <p:nvPr/>
          </p:nvGrpSpPr>
          <p:grpSpPr>
            <a:xfrm>
              <a:off x="2335684" y="1948799"/>
              <a:ext cx="1122607" cy="3890161"/>
              <a:chOff x="2335684" y="1948799"/>
              <a:chExt cx="1122607" cy="3890161"/>
            </a:xfrm>
          </p:grpSpPr>
          <p:grpSp>
            <p:nvGrpSpPr>
              <p:cNvPr id="72" name="Group 71"/>
              <p:cNvGrpSpPr/>
              <p:nvPr/>
            </p:nvGrpSpPr>
            <p:grpSpPr>
              <a:xfrm>
                <a:off x="2759548" y="1948799"/>
                <a:ext cx="685204" cy="467746"/>
                <a:chOff x="3112040" y="1660969"/>
                <a:chExt cx="954661" cy="447542"/>
              </a:xfrm>
            </p:grpSpPr>
            <p:sp>
              <p:nvSpPr>
                <p:cNvPr id="73" name="TextBox 72"/>
                <p:cNvSpPr txBox="1"/>
                <p:nvPr/>
              </p:nvSpPr>
              <p:spPr>
                <a:xfrm flipV="1">
                  <a:off x="3112040" y="1660969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74" name="TextBox 73"/>
                <p:cNvSpPr txBox="1"/>
                <p:nvPr/>
              </p:nvSpPr>
              <p:spPr>
                <a:xfrm flipV="1">
                  <a:off x="3130903" y="1892591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75" name="TextBox 74"/>
                <p:cNvSpPr txBox="1"/>
                <p:nvPr/>
              </p:nvSpPr>
              <p:spPr>
                <a:xfrm flipV="1">
                  <a:off x="3195051" y="2030301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76" name="TextBox 75"/>
                <p:cNvSpPr txBox="1"/>
                <p:nvPr/>
              </p:nvSpPr>
              <p:spPr>
                <a:xfrm flipV="1">
                  <a:off x="3747046" y="1660969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77" name="TextBox 76"/>
                <p:cNvSpPr txBox="1"/>
                <p:nvPr/>
              </p:nvSpPr>
              <p:spPr>
                <a:xfrm flipV="1">
                  <a:off x="3690878" y="1794026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78" name="TextBox 77"/>
                <p:cNvSpPr txBox="1"/>
                <p:nvPr/>
              </p:nvSpPr>
              <p:spPr>
                <a:xfrm flipV="1">
                  <a:off x="3770136" y="1917197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79" name="TextBox 78"/>
                <p:cNvSpPr txBox="1"/>
                <p:nvPr/>
              </p:nvSpPr>
              <p:spPr>
                <a:xfrm flipV="1">
                  <a:off x="3346363" y="1769421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80" name="TextBox 79"/>
                <p:cNvSpPr txBox="1"/>
                <p:nvPr/>
              </p:nvSpPr>
              <p:spPr>
                <a:xfrm flipV="1">
                  <a:off x="3519587" y="2036210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81" name="TextBox 80"/>
                <p:cNvSpPr txBox="1"/>
                <p:nvPr/>
              </p:nvSpPr>
              <p:spPr>
                <a:xfrm flipV="1">
                  <a:off x="3440329" y="1660969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82" name="TextBox 81"/>
                <p:cNvSpPr txBox="1"/>
                <p:nvPr/>
              </p:nvSpPr>
              <p:spPr>
                <a:xfrm flipV="1">
                  <a:off x="3445600" y="1892591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83" name="TextBox 82"/>
                <p:cNvSpPr txBox="1"/>
                <p:nvPr/>
              </p:nvSpPr>
              <p:spPr>
                <a:xfrm flipV="1">
                  <a:off x="3816152" y="2036210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</p:grpSp>
          <p:sp>
            <p:nvSpPr>
              <p:cNvPr id="84" name="Right Arrow 83"/>
              <p:cNvSpPr/>
              <p:nvPr/>
            </p:nvSpPr>
            <p:spPr>
              <a:xfrm>
                <a:off x="2335684" y="2067232"/>
                <a:ext cx="344896" cy="238190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85" name="Right Arrow 84"/>
              <p:cNvSpPr/>
              <p:nvPr/>
            </p:nvSpPr>
            <p:spPr>
              <a:xfrm>
                <a:off x="2335684" y="3197721"/>
                <a:ext cx="344896" cy="238190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86" name="Right Arrow 85"/>
              <p:cNvSpPr/>
              <p:nvPr/>
            </p:nvSpPr>
            <p:spPr>
              <a:xfrm>
                <a:off x="2335684" y="5475360"/>
                <a:ext cx="344896" cy="238190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  <a:latin typeface="Calibri"/>
                </a:endParaRPr>
              </a:p>
            </p:txBody>
          </p:sp>
          <p:grpSp>
            <p:nvGrpSpPr>
              <p:cNvPr id="87" name="Group 86"/>
              <p:cNvGrpSpPr/>
              <p:nvPr/>
            </p:nvGrpSpPr>
            <p:grpSpPr>
              <a:xfrm>
                <a:off x="2764961" y="3116816"/>
                <a:ext cx="685204" cy="467746"/>
                <a:chOff x="3112040" y="1660969"/>
                <a:chExt cx="954661" cy="447542"/>
              </a:xfrm>
            </p:grpSpPr>
            <p:sp>
              <p:nvSpPr>
                <p:cNvPr id="88" name="TextBox 87"/>
                <p:cNvSpPr txBox="1"/>
                <p:nvPr/>
              </p:nvSpPr>
              <p:spPr>
                <a:xfrm flipV="1">
                  <a:off x="3112040" y="1660969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89" name="TextBox 88"/>
                <p:cNvSpPr txBox="1"/>
                <p:nvPr/>
              </p:nvSpPr>
              <p:spPr>
                <a:xfrm flipV="1">
                  <a:off x="3130903" y="1892591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90" name="TextBox 89"/>
                <p:cNvSpPr txBox="1"/>
                <p:nvPr/>
              </p:nvSpPr>
              <p:spPr>
                <a:xfrm flipV="1">
                  <a:off x="3195051" y="2030301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91" name="TextBox 90"/>
                <p:cNvSpPr txBox="1"/>
                <p:nvPr/>
              </p:nvSpPr>
              <p:spPr>
                <a:xfrm flipV="1">
                  <a:off x="3747046" y="1660969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92" name="TextBox 91"/>
                <p:cNvSpPr txBox="1"/>
                <p:nvPr/>
              </p:nvSpPr>
              <p:spPr>
                <a:xfrm flipV="1">
                  <a:off x="3690878" y="1794026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93" name="TextBox 92"/>
                <p:cNvSpPr txBox="1"/>
                <p:nvPr/>
              </p:nvSpPr>
              <p:spPr>
                <a:xfrm flipV="1">
                  <a:off x="3770136" y="1917197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94" name="TextBox 93"/>
                <p:cNvSpPr txBox="1"/>
                <p:nvPr/>
              </p:nvSpPr>
              <p:spPr>
                <a:xfrm flipV="1">
                  <a:off x="3346363" y="1769421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95" name="TextBox 94"/>
                <p:cNvSpPr txBox="1"/>
                <p:nvPr/>
              </p:nvSpPr>
              <p:spPr>
                <a:xfrm flipV="1">
                  <a:off x="3519587" y="2036210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96" name="TextBox 95"/>
                <p:cNvSpPr txBox="1"/>
                <p:nvPr/>
              </p:nvSpPr>
              <p:spPr>
                <a:xfrm flipV="1">
                  <a:off x="3440329" y="1660969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97" name="TextBox 96"/>
                <p:cNvSpPr txBox="1"/>
                <p:nvPr/>
              </p:nvSpPr>
              <p:spPr>
                <a:xfrm flipV="1">
                  <a:off x="3445600" y="1892591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98" name="TextBox 97"/>
                <p:cNvSpPr txBox="1"/>
                <p:nvPr/>
              </p:nvSpPr>
              <p:spPr>
                <a:xfrm flipV="1">
                  <a:off x="3816152" y="2036210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</p:grpSp>
          <p:grpSp>
            <p:nvGrpSpPr>
              <p:cNvPr id="99" name="Group 98"/>
              <p:cNvGrpSpPr/>
              <p:nvPr/>
            </p:nvGrpSpPr>
            <p:grpSpPr>
              <a:xfrm>
                <a:off x="2773087" y="5371214"/>
                <a:ext cx="685204" cy="467746"/>
                <a:chOff x="3112040" y="1660969"/>
                <a:chExt cx="954661" cy="447542"/>
              </a:xfrm>
            </p:grpSpPr>
            <p:sp>
              <p:nvSpPr>
                <p:cNvPr id="100" name="TextBox 99"/>
                <p:cNvSpPr txBox="1"/>
                <p:nvPr/>
              </p:nvSpPr>
              <p:spPr>
                <a:xfrm flipV="1">
                  <a:off x="3112040" y="1660969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101" name="TextBox 100"/>
                <p:cNvSpPr txBox="1"/>
                <p:nvPr/>
              </p:nvSpPr>
              <p:spPr>
                <a:xfrm flipV="1">
                  <a:off x="3130903" y="1892591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102" name="TextBox 101"/>
                <p:cNvSpPr txBox="1"/>
                <p:nvPr/>
              </p:nvSpPr>
              <p:spPr>
                <a:xfrm flipV="1">
                  <a:off x="3195051" y="2030301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103" name="TextBox 102"/>
                <p:cNvSpPr txBox="1"/>
                <p:nvPr/>
              </p:nvSpPr>
              <p:spPr>
                <a:xfrm flipV="1">
                  <a:off x="3747046" y="1660969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104" name="TextBox 103"/>
                <p:cNvSpPr txBox="1"/>
                <p:nvPr/>
              </p:nvSpPr>
              <p:spPr>
                <a:xfrm flipV="1">
                  <a:off x="3690878" y="1794026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105" name="TextBox 104"/>
                <p:cNvSpPr txBox="1"/>
                <p:nvPr/>
              </p:nvSpPr>
              <p:spPr>
                <a:xfrm flipV="1">
                  <a:off x="3770136" y="1917197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106" name="TextBox 105"/>
                <p:cNvSpPr txBox="1"/>
                <p:nvPr/>
              </p:nvSpPr>
              <p:spPr>
                <a:xfrm flipV="1">
                  <a:off x="3346363" y="1769421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107" name="TextBox 106"/>
                <p:cNvSpPr txBox="1"/>
                <p:nvPr/>
              </p:nvSpPr>
              <p:spPr>
                <a:xfrm flipV="1">
                  <a:off x="3519587" y="2036210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108" name="TextBox 107"/>
                <p:cNvSpPr txBox="1"/>
                <p:nvPr/>
              </p:nvSpPr>
              <p:spPr>
                <a:xfrm flipV="1">
                  <a:off x="3440329" y="1660969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109" name="TextBox 108"/>
                <p:cNvSpPr txBox="1"/>
                <p:nvPr/>
              </p:nvSpPr>
              <p:spPr>
                <a:xfrm flipV="1">
                  <a:off x="3445600" y="1892591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110" name="TextBox 109"/>
                <p:cNvSpPr txBox="1"/>
                <p:nvPr/>
              </p:nvSpPr>
              <p:spPr>
                <a:xfrm flipV="1">
                  <a:off x="3816152" y="2036210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</p:grpSp>
        </p:grpSp>
        <p:sp>
          <p:nvSpPr>
            <p:cNvPr id="111" name="TextBox 110"/>
            <p:cNvSpPr txBox="1"/>
            <p:nvPr/>
          </p:nvSpPr>
          <p:spPr>
            <a:xfrm>
              <a:off x="1799489" y="1430000"/>
              <a:ext cx="19020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prstClr val="black"/>
                  </a:solidFill>
                  <a:latin typeface="Calibri"/>
                </a:rPr>
                <a:t>Parse to k-</a:t>
              </a:r>
              <a:r>
                <a:rPr lang="en-US" dirty="0" err="1" smtClean="0">
                  <a:solidFill>
                    <a:prstClr val="black"/>
                  </a:solidFill>
                  <a:latin typeface="Calibri"/>
                </a:rPr>
                <a:t>mers</a:t>
              </a:r>
              <a:endParaRPr lang="en-US"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3318597" y="1383742"/>
            <a:ext cx="1288787" cy="4577687"/>
            <a:chOff x="3472907" y="1371872"/>
            <a:chExt cx="1288787" cy="4577687"/>
          </a:xfrm>
        </p:grpSpPr>
        <p:sp>
          <p:nvSpPr>
            <p:cNvPr id="134" name="Rounded Rectangle 133"/>
            <p:cNvSpPr/>
            <p:nvPr/>
          </p:nvSpPr>
          <p:spPr>
            <a:xfrm>
              <a:off x="3935784" y="2107769"/>
              <a:ext cx="744283" cy="417848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prstClr val="black"/>
                  </a:solidFill>
                  <a:latin typeface="Calibri"/>
                </a:rPr>
                <a:t>Hash </a:t>
              </a:r>
            </a:p>
            <a:p>
              <a:pPr algn="ctr"/>
              <a:r>
                <a:rPr lang="en-US" sz="1200" dirty="0" smtClean="0">
                  <a:solidFill>
                    <a:prstClr val="black"/>
                  </a:solidFill>
                  <a:latin typeface="Calibri"/>
                </a:rPr>
                <a:t>k-</a:t>
              </a:r>
              <a:r>
                <a:rPr lang="en-US" sz="1200" dirty="0" err="1" smtClean="0">
                  <a:solidFill>
                    <a:prstClr val="black"/>
                  </a:solidFill>
                  <a:latin typeface="Calibri"/>
                </a:rPr>
                <a:t>mers</a:t>
              </a:r>
              <a:endParaRPr lang="en-US" sz="120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5" name="Right Arrow 134"/>
            <p:cNvSpPr/>
            <p:nvPr/>
          </p:nvSpPr>
          <p:spPr>
            <a:xfrm>
              <a:off x="3478902" y="2205064"/>
              <a:ext cx="344896" cy="238190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36" name="Right Arrow 135"/>
            <p:cNvSpPr/>
            <p:nvPr/>
          </p:nvSpPr>
          <p:spPr>
            <a:xfrm>
              <a:off x="3472907" y="3344718"/>
              <a:ext cx="344896" cy="238190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37" name="Right Arrow 136"/>
            <p:cNvSpPr/>
            <p:nvPr/>
          </p:nvSpPr>
          <p:spPr>
            <a:xfrm>
              <a:off x="3496443" y="5620583"/>
              <a:ext cx="344896" cy="238190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38" name="Rounded Rectangle 137"/>
            <p:cNvSpPr/>
            <p:nvPr/>
          </p:nvSpPr>
          <p:spPr>
            <a:xfrm>
              <a:off x="3947654" y="3277721"/>
              <a:ext cx="727365" cy="417848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prstClr val="black"/>
                  </a:solidFill>
                  <a:latin typeface="Calibri"/>
                </a:rPr>
                <a:t>Hash </a:t>
              </a:r>
            </a:p>
            <a:p>
              <a:pPr algn="ctr"/>
              <a:r>
                <a:rPr lang="en-US" sz="1200" dirty="0" smtClean="0">
                  <a:solidFill>
                    <a:prstClr val="black"/>
                  </a:solidFill>
                  <a:latin typeface="Calibri"/>
                </a:rPr>
                <a:t>k-</a:t>
              </a:r>
              <a:r>
                <a:rPr lang="en-US" sz="1200" dirty="0" err="1" smtClean="0">
                  <a:solidFill>
                    <a:prstClr val="black"/>
                  </a:solidFill>
                  <a:latin typeface="Calibri"/>
                </a:rPr>
                <a:t>mers</a:t>
              </a:r>
              <a:endParaRPr lang="en-US" sz="120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9" name="Rounded Rectangle 138"/>
            <p:cNvSpPr/>
            <p:nvPr/>
          </p:nvSpPr>
          <p:spPr>
            <a:xfrm>
              <a:off x="3947654" y="5531711"/>
              <a:ext cx="727365" cy="417848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prstClr val="black"/>
                  </a:solidFill>
                  <a:latin typeface="Calibri"/>
                </a:rPr>
                <a:t>Hash </a:t>
              </a:r>
            </a:p>
            <a:p>
              <a:pPr algn="ctr"/>
              <a:r>
                <a:rPr lang="en-US" sz="1200" dirty="0" smtClean="0">
                  <a:solidFill>
                    <a:prstClr val="black"/>
                  </a:solidFill>
                  <a:latin typeface="Calibri"/>
                </a:rPr>
                <a:t>k-</a:t>
              </a:r>
              <a:r>
                <a:rPr lang="en-US" sz="1200" dirty="0" err="1" smtClean="0">
                  <a:solidFill>
                    <a:prstClr val="black"/>
                  </a:solidFill>
                  <a:latin typeface="Calibri"/>
                </a:rPr>
                <a:t>mers</a:t>
              </a:r>
              <a:endParaRPr lang="en-US" sz="120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0" name="TextBox 139"/>
            <p:cNvSpPr txBox="1"/>
            <p:nvPr/>
          </p:nvSpPr>
          <p:spPr>
            <a:xfrm>
              <a:off x="3496443" y="1371872"/>
              <a:ext cx="126525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prstClr val="black"/>
                  </a:solidFill>
                  <a:latin typeface="Calibri"/>
                </a:rPr>
                <a:t>Hash k-</a:t>
              </a:r>
              <a:r>
                <a:rPr lang="en-US" sz="1400" dirty="0" err="1" smtClean="0">
                  <a:solidFill>
                    <a:prstClr val="black"/>
                  </a:solidFill>
                  <a:latin typeface="Calibri"/>
                </a:rPr>
                <a:t>mers</a:t>
              </a:r>
              <a:r>
                <a:rPr lang="en-US" sz="1400" dirty="0" smtClean="0">
                  <a:solidFill>
                    <a:prstClr val="black"/>
                  </a:solidFill>
                  <a:latin typeface="Calibri"/>
                </a:rPr>
                <a:t> &amp; find owners</a:t>
              </a:r>
              <a:endParaRPr lang="en-US" sz="1400"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4365784" y="1154167"/>
            <a:ext cx="2120718" cy="4806341"/>
            <a:chOff x="4401394" y="1142297"/>
            <a:chExt cx="2120718" cy="4806341"/>
          </a:xfrm>
        </p:grpSpPr>
        <p:cxnSp>
          <p:nvCxnSpPr>
            <p:cNvPr id="141" name="Straight Arrow Connector 71"/>
            <p:cNvCxnSpPr>
              <a:endCxn id="144" idx="1"/>
            </p:cNvCxnSpPr>
            <p:nvPr/>
          </p:nvCxnSpPr>
          <p:spPr>
            <a:xfrm>
              <a:off x="4573238" y="2260745"/>
              <a:ext cx="1085272" cy="117350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Arrow Connector 71"/>
            <p:cNvCxnSpPr>
              <a:endCxn id="145" idx="1"/>
            </p:cNvCxnSpPr>
            <p:nvPr/>
          </p:nvCxnSpPr>
          <p:spPr>
            <a:xfrm>
              <a:off x="4573238" y="2216691"/>
              <a:ext cx="1085272" cy="3523023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3" name="Rounded Rectangle 142"/>
            <p:cNvSpPr/>
            <p:nvPr/>
          </p:nvSpPr>
          <p:spPr>
            <a:xfrm>
              <a:off x="5658510" y="2071228"/>
              <a:ext cx="863602" cy="417848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prstClr val="black"/>
                  </a:solidFill>
                  <a:latin typeface="Calibri"/>
                </a:rPr>
                <a:t>Received k-</a:t>
              </a:r>
              <a:r>
                <a:rPr lang="en-US" sz="1200" dirty="0" err="1" smtClean="0">
                  <a:solidFill>
                    <a:prstClr val="black"/>
                  </a:solidFill>
                  <a:latin typeface="Calibri"/>
                </a:rPr>
                <a:t>mers</a:t>
              </a:r>
              <a:endParaRPr lang="en-US" sz="120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4" name="Rounded Rectangle 143"/>
            <p:cNvSpPr/>
            <p:nvPr/>
          </p:nvSpPr>
          <p:spPr>
            <a:xfrm>
              <a:off x="5658510" y="3225321"/>
              <a:ext cx="863602" cy="417848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prstClr val="black"/>
                  </a:solidFill>
                  <a:latin typeface="Calibri"/>
                </a:rPr>
                <a:t>Received k-</a:t>
              </a:r>
              <a:r>
                <a:rPr lang="en-US" sz="1200" dirty="0" err="1" smtClean="0">
                  <a:solidFill>
                    <a:prstClr val="black"/>
                  </a:solidFill>
                  <a:latin typeface="Calibri"/>
                </a:rPr>
                <a:t>mers</a:t>
              </a:r>
              <a:endParaRPr lang="en-US" sz="120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5" name="Rounded Rectangle 144"/>
            <p:cNvSpPr/>
            <p:nvPr/>
          </p:nvSpPr>
          <p:spPr>
            <a:xfrm>
              <a:off x="5658510" y="5530790"/>
              <a:ext cx="863602" cy="417848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prstClr val="black"/>
                  </a:solidFill>
                  <a:latin typeface="Calibri"/>
                </a:rPr>
                <a:t>Received k-</a:t>
              </a:r>
              <a:r>
                <a:rPr lang="en-US" sz="1200" dirty="0" err="1" smtClean="0">
                  <a:solidFill>
                    <a:prstClr val="black"/>
                  </a:solidFill>
                  <a:latin typeface="Calibri"/>
                </a:rPr>
                <a:t>mers</a:t>
              </a:r>
              <a:endParaRPr lang="en-US" sz="1200" dirty="0">
                <a:solidFill>
                  <a:prstClr val="black"/>
                </a:solidFill>
                <a:latin typeface="Calibri"/>
              </a:endParaRPr>
            </a:p>
          </p:txBody>
        </p:sp>
        <p:cxnSp>
          <p:nvCxnSpPr>
            <p:cNvPr id="146" name="Straight Arrow Connector 71"/>
            <p:cNvCxnSpPr>
              <a:endCxn id="143" idx="1"/>
            </p:cNvCxnSpPr>
            <p:nvPr/>
          </p:nvCxnSpPr>
          <p:spPr>
            <a:xfrm flipV="1">
              <a:off x="4573238" y="2280152"/>
              <a:ext cx="1085272" cy="1150545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Arrow Connector 71"/>
            <p:cNvCxnSpPr>
              <a:endCxn id="143" idx="1"/>
            </p:cNvCxnSpPr>
            <p:nvPr/>
          </p:nvCxnSpPr>
          <p:spPr>
            <a:xfrm flipV="1">
              <a:off x="4573238" y="2280152"/>
              <a:ext cx="1085272" cy="3404535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Arrow Connector 71"/>
            <p:cNvCxnSpPr>
              <a:endCxn id="144" idx="1"/>
            </p:cNvCxnSpPr>
            <p:nvPr/>
          </p:nvCxnSpPr>
          <p:spPr>
            <a:xfrm flipV="1">
              <a:off x="4573238" y="3434245"/>
              <a:ext cx="1085272" cy="225044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Arrow Connector 71"/>
            <p:cNvCxnSpPr>
              <a:endCxn id="145" idx="1"/>
            </p:cNvCxnSpPr>
            <p:nvPr/>
          </p:nvCxnSpPr>
          <p:spPr>
            <a:xfrm>
              <a:off x="4573238" y="3430697"/>
              <a:ext cx="1085272" cy="230901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0" name="TextBox 149"/>
            <p:cNvSpPr txBox="1"/>
            <p:nvPr/>
          </p:nvSpPr>
          <p:spPr>
            <a:xfrm>
              <a:off x="4401394" y="1142297"/>
              <a:ext cx="163296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smtClean="0">
                  <a:solidFill>
                    <a:prstClr val="black"/>
                  </a:solidFill>
                  <a:latin typeface="Calibri"/>
                </a:rPr>
                <a:t>All-to-all communication</a:t>
              </a:r>
            </a:p>
            <a:p>
              <a:pPr algn="ctr"/>
              <a:r>
                <a:rPr lang="en-US" sz="1400" dirty="0" smtClean="0">
                  <a:solidFill>
                    <a:prstClr val="black"/>
                  </a:solidFill>
                  <a:latin typeface="Calibri"/>
                </a:rPr>
                <a:t>of k-</a:t>
              </a:r>
              <a:r>
                <a:rPr lang="en-US" sz="1400" dirty="0" err="1" smtClean="0">
                  <a:solidFill>
                    <a:prstClr val="black"/>
                  </a:solidFill>
                  <a:latin typeface="Calibri"/>
                </a:rPr>
                <a:t>mers</a:t>
              </a:r>
              <a:endParaRPr lang="en-US" sz="1400"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5846512" y="1154167"/>
            <a:ext cx="3079385" cy="4839102"/>
            <a:chOff x="5882122" y="1142297"/>
            <a:chExt cx="3079385" cy="4839102"/>
          </a:xfrm>
        </p:grpSpPr>
        <p:grpSp>
          <p:nvGrpSpPr>
            <p:cNvPr id="12" name="Group 11"/>
            <p:cNvGrpSpPr/>
            <p:nvPr/>
          </p:nvGrpSpPr>
          <p:grpSpPr>
            <a:xfrm>
              <a:off x="6606377" y="1999065"/>
              <a:ext cx="2355130" cy="3982334"/>
              <a:chOff x="6606377" y="1999065"/>
              <a:chExt cx="2355130" cy="3982334"/>
            </a:xfrm>
          </p:grpSpPr>
          <p:sp>
            <p:nvSpPr>
              <p:cNvPr id="152" name="Rectangle 151"/>
              <p:cNvSpPr/>
              <p:nvPr/>
            </p:nvSpPr>
            <p:spPr>
              <a:xfrm>
                <a:off x="7000866" y="2041626"/>
                <a:ext cx="736602" cy="43543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smtClean="0">
                    <a:solidFill>
                      <a:srgbClr val="292934"/>
                    </a:solidFill>
                    <a:latin typeface="Calibri"/>
                  </a:rPr>
                  <a:t>Bloom Filter</a:t>
                </a:r>
                <a:endParaRPr lang="en-US" sz="1200" dirty="0">
                  <a:solidFill>
                    <a:srgbClr val="292934"/>
                  </a:solidFill>
                  <a:latin typeface="Calibri"/>
                </a:endParaRPr>
              </a:p>
            </p:txBody>
          </p:sp>
          <p:sp>
            <p:nvSpPr>
              <p:cNvPr id="153" name="Right Arrow 152"/>
              <p:cNvSpPr/>
              <p:nvPr/>
            </p:nvSpPr>
            <p:spPr>
              <a:xfrm>
                <a:off x="6606377" y="2167815"/>
                <a:ext cx="344896" cy="238190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54" name="Right Arrow 153"/>
              <p:cNvSpPr/>
              <p:nvPr/>
            </p:nvSpPr>
            <p:spPr>
              <a:xfrm>
                <a:off x="6606377" y="3292302"/>
                <a:ext cx="344896" cy="238190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55" name="Right Arrow 154"/>
              <p:cNvSpPr/>
              <p:nvPr/>
            </p:nvSpPr>
            <p:spPr>
              <a:xfrm>
                <a:off x="6606377" y="5611296"/>
                <a:ext cx="344896" cy="238190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56" name="Rectangle 155"/>
              <p:cNvSpPr/>
              <p:nvPr/>
            </p:nvSpPr>
            <p:spPr>
              <a:xfrm>
                <a:off x="7023958" y="3193677"/>
                <a:ext cx="736602" cy="43543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smtClean="0">
                    <a:solidFill>
                      <a:srgbClr val="292934"/>
                    </a:solidFill>
                    <a:latin typeface="Calibri"/>
                  </a:rPr>
                  <a:t>Bloom Filter</a:t>
                </a:r>
                <a:endParaRPr lang="en-US" sz="1200" dirty="0">
                  <a:solidFill>
                    <a:srgbClr val="292934"/>
                  </a:solidFill>
                  <a:latin typeface="Calibri"/>
                </a:endParaRPr>
              </a:p>
            </p:txBody>
          </p:sp>
          <p:sp>
            <p:nvSpPr>
              <p:cNvPr id="157" name="Rectangle 156"/>
              <p:cNvSpPr/>
              <p:nvPr/>
            </p:nvSpPr>
            <p:spPr>
              <a:xfrm>
                <a:off x="7000866" y="5503876"/>
                <a:ext cx="736602" cy="43543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smtClean="0">
                    <a:solidFill>
                      <a:srgbClr val="292934"/>
                    </a:solidFill>
                    <a:latin typeface="Calibri"/>
                  </a:rPr>
                  <a:t>Bloom Filter</a:t>
                </a:r>
                <a:endParaRPr lang="en-US" sz="1200" dirty="0">
                  <a:solidFill>
                    <a:srgbClr val="292934"/>
                  </a:solidFill>
                  <a:latin typeface="Calibri"/>
                </a:endParaRPr>
              </a:p>
            </p:txBody>
          </p:sp>
          <p:sp>
            <p:nvSpPr>
              <p:cNvPr id="168" name="Rectangle 167"/>
              <p:cNvSpPr/>
              <p:nvPr/>
            </p:nvSpPr>
            <p:spPr>
              <a:xfrm>
                <a:off x="8252392" y="1999065"/>
                <a:ext cx="709115" cy="48301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smtClean="0">
                    <a:solidFill>
                      <a:srgbClr val="292934"/>
                    </a:solidFill>
                    <a:latin typeface="Calibri"/>
                  </a:rPr>
                  <a:t>Local set</a:t>
                </a:r>
                <a:endParaRPr lang="en-US" sz="1200" dirty="0">
                  <a:solidFill>
                    <a:srgbClr val="292934"/>
                  </a:solidFill>
                  <a:latin typeface="Calibri"/>
                </a:endParaRPr>
              </a:p>
            </p:txBody>
          </p:sp>
          <p:sp>
            <p:nvSpPr>
              <p:cNvPr id="186" name="Rectangle 185"/>
              <p:cNvSpPr/>
              <p:nvPr/>
            </p:nvSpPr>
            <p:spPr>
              <a:xfrm>
                <a:off x="8252393" y="3142196"/>
                <a:ext cx="709114" cy="500973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smtClean="0">
                    <a:solidFill>
                      <a:srgbClr val="292934"/>
                    </a:solidFill>
                    <a:latin typeface="Calibri"/>
                  </a:rPr>
                  <a:t>Local set</a:t>
                </a:r>
                <a:endParaRPr lang="en-US" sz="1200" dirty="0">
                  <a:solidFill>
                    <a:srgbClr val="292934"/>
                  </a:solidFill>
                  <a:latin typeface="Calibri"/>
                </a:endParaRPr>
              </a:p>
            </p:txBody>
          </p:sp>
          <p:sp>
            <p:nvSpPr>
              <p:cNvPr id="212" name="Rectangle 211"/>
              <p:cNvSpPr/>
              <p:nvPr/>
            </p:nvSpPr>
            <p:spPr>
              <a:xfrm>
                <a:off x="8252392" y="5479306"/>
                <a:ext cx="709115" cy="502093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smtClean="0">
                    <a:solidFill>
                      <a:srgbClr val="292934"/>
                    </a:solidFill>
                    <a:latin typeface="Calibri"/>
                  </a:rPr>
                  <a:t>Local set</a:t>
                </a:r>
                <a:endParaRPr lang="en-US" sz="1200" dirty="0">
                  <a:solidFill>
                    <a:srgbClr val="292934"/>
                  </a:solidFill>
                  <a:latin typeface="Calibri"/>
                </a:endParaRPr>
              </a:p>
            </p:txBody>
          </p:sp>
          <p:sp>
            <p:nvSpPr>
              <p:cNvPr id="213" name="Right Arrow 212"/>
              <p:cNvSpPr/>
              <p:nvPr/>
            </p:nvSpPr>
            <p:spPr>
              <a:xfrm>
                <a:off x="7826677" y="2167815"/>
                <a:ext cx="344896" cy="238190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214" name="Right Arrow 213"/>
              <p:cNvSpPr/>
              <p:nvPr/>
            </p:nvSpPr>
            <p:spPr>
              <a:xfrm>
                <a:off x="7826677" y="3310116"/>
                <a:ext cx="344896" cy="238190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215" name="Right Arrow 214"/>
              <p:cNvSpPr/>
              <p:nvPr/>
            </p:nvSpPr>
            <p:spPr>
              <a:xfrm>
                <a:off x="7826677" y="5621840"/>
                <a:ext cx="344896" cy="238190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  <a:latin typeface="Calibri"/>
                </a:endParaRPr>
              </a:p>
            </p:txBody>
          </p:sp>
        </p:grpSp>
        <p:sp>
          <p:nvSpPr>
            <p:cNvPr id="216" name="TextBox 215"/>
            <p:cNvSpPr txBox="1"/>
            <p:nvPr/>
          </p:nvSpPr>
          <p:spPr>
            <a:xfrm>
              <a:off x="5882122" y="1142297"/>
              <a:ext cx="174851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smtClean="0">
                  <a:solidFill>
                    <a:prstClr val="black"/>
                  </a:solidFill>
                  <a:latin typeface="Calibri"/>
                </a:rPr>
                <a:t>Store a k-</a:t>
              </a:r>
              <a:r>
                <a:rPr lang="en-US" sz="1400" dirty="0" err="1" smtClean="0">
                  <a:solidFill>
                    <a:prstClr val="black"/>
                  </a:solidFill>
                  <a:latin typeface="Calibri"/>
                </a:rPr>
                <a:t>mer</a:t>
              </a:r>
              <a:r>
                <a:rPr lang="en-US" sz="1400" dirty="0" smtClean="0">
                  <a:solidFill>
                    <a:prstClr val="black"/>
                  </a:solidFill>
                  <a:latin typeface="Calibri"/>
                </a:rPr>
                <a:t> in the local set only if it was seen before</a:t>
              </a:r>
              <a:endParaRPr lang="en-US" sz="1400" dirty="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217" name="TextBox 216"/>
          <p:cNvSpPr txBox="1"/>
          <p:nvPr/>
        </p:nvSpPr>
        <p:spPr>
          <a:xfrm>
            <a:off x="7467161" y="1147224"/>
            <a:ext cx="168048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prstClr val="black"/>
                </a:solidFill>
                <a:latin typeface="Calibri"/>
              </a:rPr>
              <a:t>The local set does the actual counting of the k-</a:t>
            </a:r>
            <a:r>
              <a:rPr lang="en-US" sz="1400" dirty="0" err="1" smtClean="0">
                <a:solidFill>
                  <a:prstClr val="black"/>
                </a:solidFill>
                <a:latin typeface="Calibri"/>
              </a:rPr>
              <a:t>mers</a:t>
            </a:r>
            <a:endParaRPr lang="en-US" sz="1400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6503664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427312" y="1454655"/>
            <a:ext cx="7783789" cy="4876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Bloom </a:t>
            </a:r>
            <a:r>
              <a:rPr lang="en-US" sz="2400" dirty="0" smtClean="0"/>
              <a:t>filter is a </a:t>
            </a:r>
            <a:r>
              <a:rPr lang="en-US" sz="2400" i="1" dirty="0"/>
              <a:t>p</a:t>
            </a:r>
            <a:r>
              <a:rPr lang="en-US" sz="2400" i="1" dirty="0" smtClean="0"/>
              <a:t>robabilistic</a:t>
            </a:r>
            <a:r>
              <a:rPr lang="en-US" sz="2400" dirty="0" smtClean="0"/>
              <a:t> </a:t>
            </a:r>
            <a:r>
              <a:rPr lang="en-US" sz="2400" dirty="0"/>
              <a:t>data structure </a:t>
            </a:r>
            <a:r>
              <a:rPr lang="en-US" sz="2400" dirty="0" smtClean="0"/>
              <a:t>used for </a:t>
            </a:r>
            <a:r>
              <a:rPr lang="en-US" sz="2400" dirty="0"/>
              <a:t>membership </a:t>
            </a:r>
            <a:r>
              <a:rPr lang="en-US" sz="2400" dirty="0" smtClean="0"/>
              <a:t>queries</a:t>
            </a:r>
          </a:p>
          <a:p>
            <a:r>
              <a:rPr lang="en-US" sz="2200" dirty="0" smtClean="0"/>
              <a:t>Given a bloom filter, we can ask: </a:t>
            </a:r>
          </a:p>
          <a:p>
            <a:pPr marL="57150" indent="0">
              <a:buNone/>
            </a:pPr>
            <a:r>
              <a:rPr lang="en-US" sz="2200" dirty="0" smtClean="0"/>
              <a:t>“Have we seen this k-</a:t>
            </a:r>
            <a:r>
              <a:rPr lang="en-US" sz="2200" dirty="0" err="1" smtClean="0"/>
              <a:t>mer</a:t>
            </a:r>
            <a:r>
              <a:rPr lang="en-US" sz="2200" dirty="0" smtClean="0"/>
              <a:t> before?”</a:t>
            </a:r>
          </a:p>
          <a:p>
            <a:r>
              <a:rPr lang="en-US" sz="2200" b="1" dirty="0" smtClean="0"/>
              <a:t>No false negatives.</a:t>
            </a:r>
          </a:p>
          <a:p>
            <a:r>
              <a:rPr lang="en-US" sz="2200" dirty="0" smtClean="0"/>
              <a:t>May have false positives</a:t>
            </a:r>
          </a:p>
          <a:p>
            <a:pPr marL="57150" indent="0">
              <a:buNone/>
            </a:pPr>
            <a:r>
              <a:rPr lang="en-US" sz="2200" dirty="0" smtClean="0"/>
              <a:t>(in practice 5% false positive rate)</a:t>
            </a:r>
            <a:endParaRPr lang="en-US" sz="22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 smtClean="0"/>
              <a:t>k</a:t>
            </a:r>
            <a:r>
              <a:rPr lang="en-US" sz="2400" dirty="0"/>
              <a:t>-</a:t>
            </a:r>
            <a:r>
              <a:rPr lang="en-US" sz="2400" dirty="0" err="1"/>
              <a:t>mers</a:t>
            </a:r>
            <a:r>
              <a:rPr lang="en-US" sz="2400" dirty="0"/>
              <a:t> with </a:t>
            </a:r>
            <a:r>
              <a:rPr lang="en-US" sz="2400" dirty="0" smtClean="0"/>
              <a:t>frequency =</a:t>
            </a:r>
            <a:r>
              <a:rPr lang="en-US" sz="2400" dirty="0"/>
              <a:t>1 </a:t>
            </a:r>
            <a:r>
              <a:rPr lang="en-US" sz="2400" dirty="0" smtClean="0"/>
              <a:t>are useless (either error or can not be distinguished from error), </a:t>
            </a:r>
            <a:r>
              <a:rPr lang="en-US" sz="2400" dirty="0"/>
              <a:t>and can safely be </a:t>
            </a:r>
            <a:r>
              <a:rPr lang="en-US" sz="2400" dirty="0" smtClean="0"/>
              <a:t>eliminated.</a:t>
            </a:r>
          </a:p>
        </p:txBody>
      </p:sp>
      <p:pic>
        <p:nvPicPr>
          <p:cNvPr id="5" name="Picture 4" descr="histogr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2123" y="2179935"/>
            <a:ext cx="3308970" cy="3020157"/>
          </a:xfrm>
          <a:prstGeom prst="rect">
            <a:avLst/>
          </a:prstGeom>
        </p:spPr>
      </p:pic>
      <p:grpSp>
        <p:nvGrpSpPr>
          <p:cNvPr id="7" name="Group 124"/>
          <p:cNvGrpSpPr/>
          <p:nvPr/>
        </p:nvGrpSpPr>
        <p:grpSpPr>
          <a:xfrm>
            <a:off x="0" y="2"/>
            <a:ext cx="9144000" cy="1294804"/>
            <a:chOff x="0" y="0"/>
            <a:chExt cx="13004800" cy="1841500"/>
          </a:xfrm>
        </p:grpSpPr>
        <p:pic>
          <p:nvPicPr>
            <p:cNvPr id="8" name="Picture 3"/>
            <p:cNvPicPr>
              <a:picLocks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0"/>
              <a:ext cx="13004800" cy="1841500"/>
            </a:xfrm>
            <a:prstGeom prst="rect">
              <a:avLst/>
            </a:prstGeom>
            <a:noFill/>
            <a:ln w="9525" cap="flat">
              <a:noFill/>
              <a:miter lim="800000"/>
              <a:headEnd/>
              <a:tailEnd/>
            </a:ln>
          </p:spPr>
        </p:pic>
        <p:sp>
          <p:nvSpPr>
            <p:cNvPr id="10" name="Rectangle 5"/>
            <p:cNvSpPr txBox="1">
              <a:spLocks noChangeArrowheads="1"/>
            </p:cNvSpPr>
            <p:nvPr/>
          </p:nvSpPr>
          <p:spPr bwMode="auto">
            <a:xfrm>
              <a:off x="177638" y="21706"/>
              <a:ext cx="12031663" cy="140969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vert="horz" wrap="square" lIns="50777" tIns="50777" rIns="166318" bIns="50777" numCol="1" anchor="ctr" anchorCtr="0" compatLnSpc="1">
              <a:prstTxWarp prst="textNoShape">
                <a:avLst/>
              </a:prstTxWarp>
            </a:bodyPr>
            <a:lstStyle/>
            <a:p>
              <a:pPr marL="40160" defTabSz="642552">
                <a:defRPr/>
              </a:pPr>
              <a:r>
                <a:rPr lang="en-US" sz="3200" kern="0" dirty="0" smtClean="0">
                  <a:solidFill>
                    <a:srgbClr val="FFFF00"/>
                  </a:solidFill>
                  <a:ea typeface="+mj-ea"/>
                  <a:cs typeface="Calibri"/>
                  <a:sym typeface="Arial Bold" charset="0"/>
                </a:rPr>
                <a:t>Why use a Bloom filter?</a:t>
              </a:r>
              <a:endParaRPr lang="en-US" sz="3200" kern="0" dirty="0" smtClean="0">
                <a:solidFill>
                  <a:srgbClr val="FFFF00"/>
                </a:solidFill>
                <a:latin typeface="Calibri"/>
                <a:ea typeface="+mj-ea"/>
                <a:cs typeface="Calibri"/>
                <a:sym typeface="Arial Bold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2287535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 flipV="1">
            <a:off x="191047" y="1823252"/>
            <a:ext cx="485705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 flipV="1">
            <a:off x="271185" y="1941772"/>
            <a:ext cx="485705" cy="7230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cxnSp>
        <p:nvCxnSpPr>
          <p:cNvPr id="71" name="Straight Connector 70"/>
          <p:cNvCxnSpPr/>
          <p:nvPr/>
        </p:nvCxnSpPr>
        <p:spPr>
          <a:xfrm>
            <a:off x="145270" y="2840804"/>
            <a:ext cx="1164983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TextBox 157"/>
          <p:cNvSpPr txBox="1"/>
          <p:nvPr/>
        </p:nvSpPr>
        <p:spPr>
          <a:xfrm flipV="1">
            <a:off x="760346" y="1823252"/>
            <a:ext cx="485705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59" name="TextBox 158"/>
          <p:cNvSpPr txBox="1"/>
          <p:nvPr/>
        </p:nvSpPr>
        <p:spPr>
          <a:xfrm flipV="1">
            <a:off x="789913" y="1941772"/>
            <a:ext cx="485705" cy="7230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60" name="TextBox 159"/>
          <p:cNvSpPr txBox="1"/>
          <p:nvPr/>
        </p:nvSpPr>
        <p:spPr>
          <a:xfrm flipV="1">
            <a:off x="191047" y="2068836"/>
            <a:ext cx="485705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61" name="TextBox 160"/>
          <p:cNvSpPr txBox="1"/>
          <p:nvPr/>
        </p:nvSpPr>
        <p:spPr>
          <a:xfrm flipV="1">
            <a:off x="753914" y="2068836"/>
            <a:ext cx="485705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62" name="TextBox 161"/>
          <p:cNvSpPr txBox="1"/>
          <p:nvPr/>
        </p:nvSpPr>
        <p:spPr>
          <a:xfrm flipV="1">
            <a:off x="341422" y="2186582"/>
            <a:ext cx="485705" cy="7230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63" name="TextBox 162"/>
          <p:cNvSpPr txBox="1"/>
          <p:nvPr/>
        </p:nvSpPr>
        <p:spPr>
          <a:xfrm flipV="1">
            <a:off x="191047" y="2313910"/>
            <a:ext cx="485705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64" name="TextBox 163"/>
          <p:cNvSpPr txBox="1"/>
          <p:nvPr/>
        </p:nvSpPr>
        <p:spPr>
          <a:xfrm flipV="1">
            <a:off x="753914" y="2313910"/>
            <a:ext cx="485705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65" name="TextBox 164"/>
          <p:cNvSpPr txBox="1"/>
          <p:nvPr/>
        </p:nvSpPr>
        <p:spPr>
          <a:xfrm flipV="1">
            <a:off x="516640" y="2430130"/>
            <a:ext cx="485705" cy="7230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66" name="TextBox 165"/>
          <p:cNvSpPr txBox="1"/>
          <p:nvPr/>
        </p:nvSpPr>
        <p:spPr>
          <a:xfrm flipV="1">
            <a:off x="433899" y="2558985"/>
            <a:ext cx="485705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67" name="TextBox 166"/>
          <p:cNvSpPr txBox="1"/>
          <p:nvPr/>
        </p:nvSpPr>
        <p:spPr>
          <a:xfrm flipV="1">
            <a:off x="260738" y="2664141"/>
            <a:ext cx="485705" cy="7230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69" name="TextBox 168"/>
          <p:cNvSpPr txBox="1"/>
          <p:nvPr/>
        </p:nvSpPr>
        <p:spPr>
          <a:xfrm flipV="1">
            <a:off x="789913" y="2664141"/>
            <a:ext cx="485705" cy="7230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70" name="TextBox 169"/>
          <p:cNvSpPr txBox="1"/>
          <p:nvPr/>
        </p:nvSpPr>
        <p:spPr>
          <a:xfrm flipV="1">
            <a:off x="205168" y="2957053"/>
            <a:ext cx="485705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71" name="TextBox 170"/>
          <p:cNvSpPr txBox="1"/>
          <p:nvPr/>
        </p:nvSpPr>
        <p:spPr>
          <a:xfrm flipV="1">
            <a:off x="285306" y="3075573"/>
            <a:ext cx="485705" cy="7230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cxnSp>
        <p:nvCxnSpPr>
          <p:cNvPr id="172" name="Straight Connector 171"/>
          <p:cNvCxnSpPr/>
          <p:nvPr/>
        </p:nvCxnSpPr>
        <p:spPr>
          <a:xfrm>
            <a:off x="159391" y="3974605"/>
            <a:ext cx="1164983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TextBox 172"/>
          <p:cNvSpPr txBox="1"/>
          <p:nvPr/>
        </p:nvSpPr>
        <p:spPr>
          <a:xfrm flipV="1">
            <a:off x="774467" y="2957053"/>
            <a:ext cx="485705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74" name="TextBox 173"/>
          <p:cNvSpPr txBox="1"/>
          <p:nvPr/>
        </p:nvSpPr>
        <p:spPr>
          <a:xfrm flipV="1">
            <a:off x="804034" y="3075573"/>
            <a:ext cx="485705" cy="7230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75" name="TextBox 174"/>
          <p:cNvSpPr txBox="1"/>
          <p:nvPr/>
        </p:nvSpPr>
        <p:spPr>
          <a:xfrm flipV="1">
            <a:off x="205168" y="3202637"/>
            <a:ext cx="485705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76" name="TextBox 175"/>
          <p:cNvSpPr txBox="1"/>
          <p:nvPr/>
        </p:nvSpPr>
        <p:spPr>
          <a:xfrm flipV="1">
            <a:off x="768035" y="3202637"/>
            <a:ext cx="485705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77" name="TextBox 176"/>
          <p:cNvSpPr txBox="1"/>
          <p:nvPr/>
        </p:nvSpPr>
        <p:spPr>
          <a:xfrm flipV="1">
            <a:off x="355543" y="3320383"/>
            <a:ext cx="485705" cy="7230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78" name="TextBox 177"/>
          <p:cNvSpPr txBox="1"/>
          <p:nvPr/>
        </p:nvSpPr>
        <p:spPr>
          <a:xfrm flipV="1">
            <a:off x="205168" y="3447711"/>
            <a:ext cx="485705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79" name="TextBox 178"/>
          <p:cNvSpPr txBox="1"/>
          <p:nvPr/>
        </p:nvSpPr>
        <p:spPr>
          <a:xfrm flipV="1">
            <a:off x="768035" y="3447711"/>
            <a:ext cx="485705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80" name="TextBox 179"/>
          <p:cNvSpPr txBox="1"/>
          <p:nvPr/>
        </p:nvSpPr>
        <p:spPr>
          <a:xfrm flipV="1">
            <a:off x="530761" y="3563931"/>
            <a:ext cx="485705" cy="7230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81" name="TextBox 180"/>
          <p:cNvSpPr txBox="1"/>
          <p:nvPr/>
        </p:nvSpPr>
        <p:spPr>
          <a:xfrm flipV="1">
            <a:off x="448020" y="3692786"/>
            <a:ext cx="485705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82" name="TextBox 181"/>
          <p:cNvSpPr txBox="1"/>
          <p:nvPr/>
        </p:nvSpPr>
        <p:spPr>
          <a:xfrm flipV="1">
            <a:off x="274859" y="3797942"/>
            <a:ext cx="485705" cy="7230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83" name="TextBox 182"/>
          <p:cNvSpPr txBox="1"/>
          <p:nvPr/>
        </p:nvSpPr>
        <p:spPr>
          <a:xfrm flipV="1">
            <a:off x="804034" y="3797942"/>
            <a:ext cx="485705" cy="7230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84" name="TextBox 183"/>
          <p:cNvSpPr txBox="1"/>
          <p:nvPr/>
        </p:nvSpPr>
        <p:spPr>
          <a:xfrm flipV="1">
            <a:off x="229711" y="4112663"/>
            <a:ext cx="485705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85" name="TextBox 184"/>
          <p:cNvSpPr txBox="1"/>
          <p:nvPr/>
        </p:nvSpPr>
        <p:spPr>
          <a:xfrm flipV="1">
            <a:off x="309849" y="4231183"/>
            <a:ext cx="485705" cy="7230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87" name="TextBox 186"/>
          <p:cNvSpPr txBox="1"/>
          <p:nvPr/>
        </p:nvSpPr>
        <p:spPr>
          <a:xfrm flipV="1">
            <a:off x="799010" y="4112663"/>
            <a:ext cx="485705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88" name="TextBox 187"/>
          <p:cNvSpPr txBox="1"/>
          <p:nvPr/>
        </p:nvSpPr>
        <p:spPr>
          <a:xfrm flipV="1">
            <a:off x="828577" y="4231183"/>
            <a:ext cx="485705" cy="7230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89" name="TextBox 188"/>
          <p:cNvSpPr txBox="1"/>
          <p:nvPr/>
        </p:nvSpPr>
        <p:spPr>
          <a:xfrm flipV="1">
            <a:off x="229711" y="4358247"/>
            <a:ext cx="485705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90" name="TextBox 189"/>
          <p:cNvSpPr txBox="1"/>
          <p:nvPr/>
        </p:nvSpPr>
        <p:spPr>
          <a:xfrm flipV="1">
            <a:off x="792578" y="4358247"/>
            <a:ext cx="485705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91" name="TextBox 190"/>
          <p:cNvSpPr txBox="1"/>
          <p:nvPr/>
        </p:nvSpPr>
        <p:spPr>
          <a:xfrm flipV="1">
            <a:off x="380086" y="4475993"/>
            <a:ext cx="485705" cy="7230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92" name="TextBox 191"/>
          <p:cNvSpPr txBox="1"/>
          <p:nvPr/>
        </p:nvSpPr>
        <p:spPr>
          <a:xfrm flipV="1">
            <a:off x="229711" y="4603321"/>
            <a:ext cx="485705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93" name="TextBox 192"/>
          <p:cNvSpPr txBox="1"/>
          <p:nvPr/>
        </p:nvSpPr>
        <p:spPr>
          <a:xfrm flipV="1">
            <a:off x="792578" y="4603321"/>
            <a:ext cx="485705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94" name="TextBox 193"/>
          <p:cNvSpPr txBox="1"/>
          <p:nvPr/>
        </p:nvSpPr>
        <p:spPr>
          <a:xfrm flipV="1">
            <a:off x="555304" y="4719541"/>
            <a:ext cx="485705" cy="7230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95" name="TextBox 194"/>
          <p:cNvSpPr txBox="1"/>
          <p:nvPr/>
        </p:nvSpPr>
        <p:spPr>
          <a:xfrm flipV="1">
            <a:off x="472563" y="4848396"/>
            <a:ext cx="485705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96" name="TextBox 195"/>
          <p:cNvSpPr txBox="1"/>
          <p:nvPr/>
        </p:nvSpPr>
        <p:spPr>
          <a:xfrm flipV="1">
            <a:off x="299402" y="4953552"/>
            <a:ext cx="485705" cy="7230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97" name="TextBox 196"/>
          <p:cNvSpPr txBox="1"/>
          <p:nvPr/>
        </p:nvSpPr>
        <p:spPr>
          <a:xfrm flipV="1">
            <a:off x="828577" y="4953552"/>
            <a:ext cx="485705" cy="7230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98" name="TextBox 197"/>
          <p:cNvSpPr txBox="1"/>
          <p:nvPr/>
        </p:nvSpPr>
        <p:spPr>
          <a:xfrm flipV="1">
            <a:off x="205168" y="5302221"/>
            <a:ext cx="485705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199" name="TextBox 198"/>
          <p:cNvSpPr txBox="1"/>
          <p:nvPr/>
        </p:nvSpPr>
        <p:spPr>
          <a:xfrm flipV="1">
            <a:off x="285306" y="5420741"/>
            <a:ext cx="485705" cy="7230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cxnSp>
        <p:nvCxnSpPr>
          <p:cNvPr id="200" name="Straight Connector 199"/>
          <p:cNvCxnSpPr/>
          <p:nvPr/>
        </p:nvCxnSpPr>
        <p:spPr>
          <a:xfrm>
            <a:off x="159391" y="5211410"/>
            <a:ext cx="1164983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1" name="TextBox 200"/>
          <p:cNvSpPr txBox="1"/>
          <p:nvPr/>
        </p:nvSpPr>
        <p:spPr>
          <a:xfrm flipV="1">
            <a:off x="774467" y="5302221"/>
            <a:ext cx="485705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202" name="TextBox 201"/>
          <p:cNvSpPr txBox="1"/>
          <p:nvPr/>
        </p:nvSpPr>
        <p:spPr>
          <a:xfrm flipV="1">
            <a:off x="804034" y="5420741"/>
            <a:ext cx="485705" cy="7230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203" name="TextBox 202"/>
          <p:cNvSpPr txBox="1"/>
          <p:nvPr/>
        </p:nvSpPr>
        <p:spPr>
          <a:xfrm flipV="1">
            <a:off x="205168" y="5547805"/>
            <a:ext cx="485705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204" name="TextBox 203"/>
          <p:cNvSpPr txBox="1"/>
          <p:nvPr/>
        </p:nvSpPr>
        <p:spPr>
          <a:xfrm flipV="1">
            <a:off x="768035" y="5547805"/>
            <a:ext cx="485705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205" name="TextBox 204"/>
          <p:cNvSpPr txBox="1"/>
          <p:nvPr/>
        </p:nvSpPr>
        <p:spPr>
          <a:xfrm flipV="1">
            <a:off x="355543" y="5665551"/>
            <a:ext cx="485705" cy="7230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206" name="TextBox 205"/>
          <p:cNvSpPr txBox="1"/>
          <p:nvPr/>
        </p:nvSpPr>
        <p:spPr>
          <a:xfrm flipV="1">
            <a:off x="205168" y="5792879"/>
            <a:ext cx="485705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207" name="TextBox 206"/>
          <p:cNvSpPr txBox="1"/>
          <p:nvPr/>
        </p:nvSpPr>
        <p:spPr>
          <a:xfrm flipV="1">
            <a:off x="768035" y="5792879"/>
            <a:ext cx="485705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208" name="TextBox 207"/>
          <p:cNvSpPr txBox="1"/>
          <p:nvPr/>
        </p:nvSpPr>
        <p:spPr>
          <a:xfrm flipV="1">
            <a:off x="530761" y="5909099"/>
            <a:ext cx="485705" cy="7230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209" name="TextBox 208"/>
          <p:cNvSpPr txBox="1"/>
          <p:nvPr/>
        </p:nvSpPr>
        <p:spPr>
          <a:xfrm flipV="1">
            <a:off x="448020" y="6037954"/>
            <a:ext cx="485705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210" name="TextBox 209"/>
          <p:cNvSpPr txBox="1"/>
          <p:nvPr/>
        </p:nvSpPr>
        <p:spPr>
          <a:xfrm flipV="1">
            <a:off x="274859" y="6143110"/>
            <a:ext cx="485705" cy="7230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211" name="TextBox 210"/>
          <p:cNvSpPr txBox="1"/>
          <p:nvPr/>
        </p:nvSpPr>
        <p:spPr>
          <a:xfrm flipV="1">
            <a:off x="804034" y="6143110"/>
            <a:ext cx="485705" cy="7230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  <a:latin typeface="Calibri"/>
            </a:endParaRPr>
          </a:p>
        </p:txBody>
      </p:sp>
      <p:sp>
        <p:nvSpPr>
          <p:cNvPr id="259" name="TextBox 258"/>
          <p:cNvSpPr txBox="1"/>
          <p:nvPr/>
        </p:nvSpPr>
        <p:spPr>
          <a:xfrm>
            <a:off x="213118" y="1331622"/>
            <a:ext cx="1143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prstClr val="black"/>
                </a:solidFill>
                <a:latin typeface="Calibri"/>
              </a:rPr>
              <a:t>Reads</a:t>
            </a:r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60" name="Group 124"/>
          <p:cNvGrpSpPr/>
          <p:nvPr/>
        </p:nvGrpSpPr>
        <p:grpSpPr>
          <a:xfrm>
            <a:off x="0" y="2"/>
            <a:ext cx="9144000" cy="1294804"/>
            <a:chOff x="0" y="0"/>
            <a:chExt cx="13004800" cy="1841500"/>
          </a:xfrm>
        </p:grpSpPr>
        <p:pic>
          <p:nvPicPr>
            <p:cNvPr id="61" name="Picture 3"/>
            <p:cNvPicPr>
              <a:picLocks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0"/>
              <a:ext cx="13004800" cy="1841500"/>
            </a:xfrm>
            <a:prstGeom prst="rect">
              <a:avLst/>
            </a:prstGeom>
            <a:noFill/>
            <a:ln w="9525" cap="flat">
              <a:noFill/>
              <a:miter lim="800000"/>
              <a:headEnd/>
              <a:tailEnd/>
            </a:ln>
          </p:spPr>
        </p:pic>
        <p:sp>
          <p:nvSpPr>
            <p:cNvPr id="62" name="Rectangle 5"/>
            <p:cNvSpPr txBox="1">
              <a:spLocks noChangeArrowheads="1"/>
            </p:cNvSpPr>
            <p:nvPr/>
          </p:nvSpPr>
          <p:spPr bwMode="auto">
            <a:xfrm>
              <a:off x="177638" y="21706"/>
              <a:ext cx="12031663" cy="140969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vert="horz" wrap="square" lIns="50777" tIns="50777" rIns="166318" bIns="50777" numCol="1" anchor="ctr" anchorCtr="0" compatLnSpc="1">
              <a:prstTxWarp prst="textNoShape">
                <a:avLst/>
              </a:prstTxWarp>
            </a:bodyPr>
            <a:lstStyle/>
            <a:p>
              <a:pPr marL="40160" defTabSz="642552">
                <a:defRPr/>
              </a:pPr>
              <a:r>
                <a:rPr lang="en-US" sz="3200" kern="0" dirty="0">
                  <a:solidFill>
                    <a:srgbClr val="FFFF00"/>
                  </a:solidFill>
                  <a:latin typeface="Calibri"/>
                  <a:cs typeface="Calibri"/>
                  <a:sym typeface="Arial Bold" charset="0"/>
                </a:rPr>
                <a:t>Parallel k-</a:t>
              </a:r>
              <a:r>
                <a:rPr lang="en-US" sz="3200" kern="0" dirty="0" err="1">
                  <a:solidFill>
                    <a:srgbClr val="FFFF00"/>
                  </a:solidFill>
                  <a:latin typeface="Calibri"/>
                  <a:cs typeface="Calibri"/>
                  <a:sym typeface="Arial Bold" charset="0"/>
                </a:rPr>
                <a:t>mer</a:t>
              </a:r>
              <a:r>
                <a:rPr lang="en-US" sz="3200" kern="0" dirty="0">
                  <a:solidFill>
                    <a:srgbClr val="FFFF00"/>
                  </a:solidFill>
                  <a:latin typeface="Calibri"/>
                  <a:cs typeface="Calibri"/>
                  <a:sym typeface="Arial Bold" charset="0"/>
                </a:rPr>
                <a:t> analysis: pass </a:t>
              </a:r>
              <a:r>
                <a:rPr lang="en-US" sz="3200" kern="0" dirty="0" smtClean="0">
                  <a:solidFill>
                    <a:srgbClr val="FFFF00"/>
                  </a:solidFill>
                  <a:latin typeface="Calibri"/>
                  <a:cs typeface="Calibri"/>
                  <a:sym typeface="Arial Bold" charset="0"/>
                </a:rPr>
                <a:t>3</a:t>
              </a: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1289739" y="2141137"/>
            <a:ext cx="814893" cy="3781381"/>
            <a:chOff x="1455919" y="1998697"/>
            <a:chExt cx="814893" cy="3781381"/>
          </a:xfrm>
        </p:grpSpPr>
        <p:sp>
          <p:nvSpPr>
            <p:cNvPr id="63" name="TextBox 62"/>
            <p:cNvSpPr txBox="1"/>
            <p:nvPr/>
          </p:nvSpPr>
          <p:spPr>
            <a:xfrm>
              <a:off x="1847456" y="1998697"/>
              <a:ext cx="423356" cy="36933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  <a:latin typeface="Calibri"/>
                </a:rPr>
                <a:t>P</a:t>
              </a:r>
              <a:r>
                <a:rPr lang="en-US" baseline="-25000" dirty="0" smtClean="0">
                  <a:solidFill>
                    <a:prstClr val="black"/>
                  </a:solidFill>
                  <a:latin typeface="Calibri"/>
                </a:rPr>
                <a:t>0</a:t>
              </a:r>
              <a:endParaRPr lang="en-US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1847456" y="3136046"/>
              <a:ext cx="423356" cy="36933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prstClr val="black"/>
                  </a:solidFill>
                  <a:latin typeface="Calibri"/>
                </a:rPr>
                <a:t>P</a:t>
              </a:r>
              <a:r>
                <a:rPr lang="en-US" baseline="-25000" dirty="0">
                  <a:solidFill>
                    <a:prstClr val="black"/>
                  </a:solidFill>
                  <a:latin typeface="Calibri"/>
                </a:rPr>
                <a:t>1</a:t>
              </a:r>
              <a:endParaRPr lang="en-US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1847456" y="5410746"/>
              <a:ext cx="423356" cy="36933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 err="1" smtClean="0">
                  <a:solidFill>
                    <a:prstClr val="black"/>
                  </a:solidFill>
                  <a:latin typeface="Calibri"/>
                </a:rPr>
                <a:t>P</a:t>
              </a:r>
              <a:r>
                <a:rPr lang="en-US" baseline="-25000" dirty="0" err="1">
                  <a:solidFill>
                    <a:prstClr val="black"/>
                  </a:solidFill>
                  <a:latin typeface="Calibri"/>
                </a:rPr>
                <a:t>n</a:t>
              </a:r>
              <a:endParaRPr lang="en-US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 rot="5400000">
              <a:off x="1778725" y="4276215"/>
              <a:ext cx="4135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smtClean="0">
                  <a:solidFill>
                    <a:prstClr val="black"/>
                  </a:solidFill>
                  <a:latin typeface="Calibri"/>
                </a:rPr>
                <a:t>…</a:t>
              </a:r>
              <a:endParaRPr lang="en-US" b="1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7" name="Right Arrow 66"/>
            <p:cNvSpPr/>
            <p:nvPr/>
          </p:nvSpPr>
          <p:spPr>
            <a:xfrm>
              <a:off x="1455919" y="2055687"/>
              <a:ext cx="344896" cy="238190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68" name="Right Arrow 67"/>
            <p:cNvSpPr/>
            <p:nvPr/>
          </p:nvSpPr>
          <p:spPr>
            <a:xfrm>
              <a:off x="1455919" y="3215507"/>
              <a:ext cx="344896" cy="205984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69" name="Right Arrow 68"/>
            <p:cNvSpPr/>
            <p:nvPr/>
          </p:nvSpPr>
          <p:spPr>
            <a:xfrm>
              <a:off x="1455919" y="5498686"/>
              <a:ext cx="344896" cy="213584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1633309" y="1572440"/>
            <a:ext cx="1902008" cy="4408960"/>
            <a:chOff x="1799489" y="1430000"/>
            <a:chExt cx="1902008" cy="4408960"/>
          </a:xfrm>
        </p:grpSpPr>
        <p:grpSp>
          <p:nvGrpSpPr>
            <p:cNvPr id="6" name="Group 5"/>
            <p:cNvGrpSpPr/>
            <p:nvPr/>
          </p:nvGrpSpPr>
          <p:grpSpPr>
            <a:xfrm>
              <a:off x="2335684" y="1948799"/>
              <a:ext cx="1122607" cy="3890161"/>
              <a:chOff x="2335684" y="1948799"/>
              <a:chExt cx="1122607" cy="3890161"/>
            </a:xfrm>
          </p:grpSpPr>
          <p:grpSp>
            <p:nvGrpSpPr>
              <p:cNvPr id="72" name="Group 71"/>
              <p:cNvGrpSpPr/>
              <p:nvPr/>
            </p:nvGrpSpPr>
            <p:grpSpPr>
              <a:xfrm>
                <a:off x="2759548" y="1948799"/>
                <a:ext cx="685204" cy="467746"/>
                <a:chOff x="3112040" y="1660969"/>
                <a:chExt cx="954661" cy="447542"/>
              </a:xfrm>
            </p:grpSpPr>
            <p:sp>
              <p:nvSpPr>
                <p:cNvPr id="73" name="TextBox 72"/>
                <p:cNvSpPr txBox="1"/>
                <p:nvPr/>
              </p:nvSpPr>
              <p:spPr>
                <a:xfrm flipV="1">
                  <a:off x="3112040" y="1660969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74" name="TextBox 73"/>
                <p:cNvSpPr txBox="1"/>
                <p:nvPr/>
              </p:nvSpPr>
              <p:spPr>
                <a:xfrm flipV="1">
                  <a:off x="3130903" y="1892591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75" name="TextBox 74"/>
                <p:cNvSpPr txBox="1"/>
                <p:nvPr/>
              </p:nvSpPr>
              <p:spPr>
                <a:xfrm flipV="1">
                  <a:off x="3195051" y="2030301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76" name="TextBox 75"/>
                <p:cNvSpPr txBox="1"/>
                <p:nvPr/>
              </p:nvSpPr>
              <p:spPr>
                <a:xfrm flipV="1">
                  <a:off x="3747046" y="1660969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77" name="TextBox 76"/>
                <p:cNvSpPr txBox="1"/>
                <p:nvPr/>
              </p:nvSpPr>
              <p:spPr>
                <a:xfrm flipV="1">
                  <a:off x="3690878" y="1794026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78" name="TextBox 77"/>
                <p:cNvSpPr txBox="1"/>
                <p:nvPr/>
              </p:nvSpPr>
              <p:spPr>
                <a:xfrm flipV="1">
                  <a:off x="3770136" y="1917197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79" name="TextBox 78"/>
                <p:cNvSpPr txBox="1"/>
                <p:nvPr/>
              </p:nvSpPr>
              <p:spPr>
                <a:xfrm flipV="1">
                  <a:off x="3346363" y="1769421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80" name="TextBox 79"/>
                <p:cNvSpPr txBox="1"/>
                <p:nvPr/>
              </p:nvSpPr>
              <p:spPr>
                <a:xfrm flipV="1">
                  <a:off x="3519587" y="2036210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81" name="TextBox 80"/>
                <p:cNvSpPr txBox="1"/>
                <p:nvPr/>
              </p:nvSpPr>
              <p:spPr>
                <a:xfrm flipV="1">
                  <a:off x="3440329" y="1660969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82" name="TextBox 81"/>
                <p:cNvSpPr txBox="1"/>
                <p:nvPr/>
              </p:nvSpPr>
              <p:spPr>
                <a:xfrm flipV="1">
                  <a:off x="3445600" y="1892591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83" name="TextBox 82"/>
                <p:cNvSpPr txBox="1"/>
                <p:nvPr/>
              </p:nvSpPr>
              <p:spPr>
                <a:xfrm flipV="1">
                  <a:off x="3816152" y="2036210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</p:grpSp>
          <p:sp>
            <p:nvSpPr>
              <p:cNvPr id="84" name="Right Arrow 83"/>
              <p:cNvSpPr/>
              <p:nvPr/>
            </p:nvSpPr>
            <p:spPr>
              <a:xfrm>
                <a:off x="2335684" y="2067232"/>
                <a:ext cx="344896" cy="238190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85" name="Right Arrow 84"/>
              <p:cNvSpPr/>
              <p:nvPr/>
            </p:nvSpPr>
            <p:spPr>
              <a:xfrm>
                <a:off x="2335684" y="3197721"/>
                <a:ext cx="344896" cy="238190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86" name="Right Arrow 85"/>
              <p:cNvSpPr/>
              <p:nvPr/>
            </p:nvSpPr>
            <p:spPr>
              <a:xfrm>
                <a:off x="2335684" y="5475360"/>
                <a:ext cx="344896" cy="238190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  <a:latin typeface="Calibri"/>
                </a:endParaRPr>
              </a:p>
            </p:txBody>
          </p:sp>
          <p:grpSp>
            <p:nvGrpSpPr>
              <p:cNvPr id="87" name="Group 86"/>
              <p:cNvGrpSpPr/>
              <p:nvPr/>
            </p:nvGrpSpPr>
            <p:grpSpPr>
              <a:xfrm>
                <a:off x="2764961" y="3116816"/>
                <a:ext cx="685204" cy="467746"/>
                <a:chOff x="3112040" y="1660969"/>
                <a:chExt cx="954661" cy="447542"/>
              </a:xfrm>
            </p:grpSpPr>
            <p:sp>
              <p:nvSpPr>
                <p:cNvPr id="88" name="TextBox 87"/>
                <p:cNvSpPr txBox="1"/>
                <p:nvPr/>
              </p:nvSpPr>
              <p:spPr>
                <a:xfrm flipV="1">
                  <a:off x="3112040" y="1660969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89" name="TextBox 88"/>
                <p:cNvSpPr txBox="1"/>
                <p:nvPr/>
              </p:nvSpPr>
              <p:spPr>
                <a:xfrm flipV="1">
                  <a:off x="3130903" y="1892591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90" name="TextBox 89"/>
                <p:cNvSpPr txBox="1"/>
                <p:nvPr/>
              </p:nvSpPr>
              <p:spPr>
                <a:xfrm flipV="1">
                  <a:off x="3195051" y="2030301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91" name="TextBox 90"/>
                <p:cNvSpPr txBox="1"/>
                <p:nvPr/>
              </p:nvSpPr>
              <p:spPr>
                <a:xfrm flipV="1">
                  <a:off x="3747046" y="1660969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92" name="TextBox 91"/>
                <p:cNvSpPr txBox="1"/>
                <p:nvPr/>
              </p:nvSpPr>
              <p:spPr>
                <a:xfrm flipV="1">
                  <a:off x="3690878" y="1794026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93" name="TextBox 92"/>
                <p:cNvSpPr txBox="1"/>
                <p:nvPr/>
              </p:nvSpPr>
              <p:spPr>
                <a:xfrm flipV="1">
                  <a:off x="3770136" y="1917197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94" name="TextBox 93"/>
                <p:cNvSpPr txBox="1"/>
                <p:nvPr/>
              </p:nvSpPr>
              <p:spPr>
                <a:xfrm flipV="1">
                  <a:off x="3346363" y="1769421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95" name="TextBox 94"/>
                <p:cNvSpPr txBox="1"/>
                <p:nvPr/>
              </p:nvSpPr>
              <p:spPr>
                <a:xfrm flipV="1">
                  <a:off x="3519587" y="2036210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96" name="TextBox 95"/>
                <p:cNvSpPr txBox="1"/>
                <p:nvPr/>
              </p:nvSpPr>
              <p:spPr>
                <a:xfrm flipV="1">
                  <a:off x="3440329" y="1660969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97" name="TextBox 96"/>
                <p:cNvSpPr txBox="1"/>
                <p:nvPr/>
              </p:nvSpPr>
              <p:spPr>
                <a:xfrm flipV="1">
                  <a:off x="3445600" y="1892591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98" name="TextBox 97"/>
                <p:cNvSpPr txBox="1"/>
                <p:nvPr/>
              </p:nvSpPr>
              <p:spPr>
                <a:xfrm flipV="1">
                  <a:off x="3816152" y="2036210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</p:grpSp>
          <p:grpSp>
            <p:nvGrpSpPr>
              <p:cNvPr id="99" name="Group 98"/>
              <p:cNvGrpSpPr/>
              <p:nvPr/>
            </p:nvGrpSpPr>
            <p:grpSpPr>
              <a:xfrm>
                <a:off x="2773087" y="5371214"/>
                <a:ext cx="685204" cy="467746"/>
                <a:chOff x="3112040" y="1660969"/>
                <a:chExt cx="954661" cy="447542"/>
              </a:xfrm>
            </p:grpSpPr>
            <p:sp>
              <p:nvSpPr>
                <p:cNvPr id="100" name="TextBox 99"/>
                <p:cNvSpPr txBox="1"/>
                <p:nvPr/>
              </p:nvSpPr>
              <p:spPr>
                <a:xfrm flipV="1">
                  <a:off x="3112040" y="1660969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101" name="TextBox 100"/>
                <p:cNvSpPr txBox="1"/>
                <p:nvPr/>
              </p:nvSpPr>
              <p:spPr>
                <a:xfrm flipV="1">
                  <a:off x="3130903" y="1892591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102" name="TextBox 101"/>
                <p:cNvSpPr txBox="1"/>
                <p:nvPr/>
              </p:nvSpPr>
              <p:spPr>
                <a:xfrm flipV="1">
                  <a:off x="3195051" y="2030301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103" name="TextBox 102"/>
                <p:cNvSpPr txBox="1"/>
                <p:nvPr/>
              </p:nvSpPr>
              <p:spPr>
                <a:xfrm flipV="1">
                  <a:off x="3747046" y="1660969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104" name="TextBox 103"/>
                <p:cNvSpPr txBox="1"/>
                <p:nvPr/>
              </p:nvSpPr>
              <p:spPr>
                <a:xfrm flipV="1">
                  <a:off x="3690878" y="1794026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105" name="TextBox 104"/>
                <p:cNvSpPr txBox="1"/>
                <p:nvPr/>
              </p:nvSpPr>
              <p:spPr>
                <a:xfrm flipV="1">
                  <a:off x="3770136" y="1917197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106" name="TextBox 105"/>
                <p:cNvSpPr txBox="1"/>
                <p:nvPr/>
              </p:nvSpPr>
              <p:spPr>
                <a:xfrm flipV="1">
                  <a:off x="3346363" y="1769421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107" name="TextBox 106"/>
                <p:cNvSpPr txBox="1"/>
                <p:nvPr/>
              </p:nvSpPr>
              <p:spPr>
                <a:xfrm flipV="1">
                  <a:off x="3519587" y="2036210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108" name="TextBox 107"/>
                <p:cNvSpPr txBox="1"/>
                <p:nvPr/>
              </p:nvSpPr>
              <p:spPr>
                <a:xfrm flipV="1">
                  <a:off x="3440329" y="1660969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109" name="TextBox 108"/>
                <p:cNvSpPr txBox="1"/>
                <p:nvPr/>
              </p:nvSpPr>
              <p:spPr>
                <a:xfrm flipV="1">
                  <a:off x="3445600" y="1892591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  <p:sp>
              <p:nvSpPr>
                <p:cNvPr id="110" name="TextBox 109"/>
                <p:cNvSpPr txBox="1"/>
                <p:nvPr/>
              </p:nvSpPr>
              <p:spPr>
                <a:xfrm flipV="1">
                  <a:off x="3816152" y="2036210"/>
                  <a:ext cx="250549" cy="72301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  <a:latin typeface="Calibri"/>
                  </a:endParaRPr>
                </a:p>
              </p:txBody>
            </p:sp>
          </p:grpSp>
        </p:grpSp>
        <p:sp>
          <p:nvSpPr>
            <p:cNvPr id="111" name="TextBox 110"/>
            <p:cNvSpPr txBox="1"/>
            <p:nvPr/>
          </p:nvSpPr>
          <p:spPr>
            <a:xfrm>
              <a:off x="1799489" y="1430000"/>
              <a:ext cx="19020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prstClr val="black"/>
                  </a:solidFill>
                  <a:latin typeface="Calibri"/>
                </a:rPr>
                <a:t>Parse to k-</a:t>
              </a:r>
              <a:r>
                <a:rPr lang="en-US" dirty="0" err="1" smtClean="0">
                  <a:solidFill>
                    <a:prstClr val="black"/>
                  </a:solidFill>
                  <a:latin typeface="Calibri"/>
                </a:rPr>
                <a:t>mers</a:t>
              </a:r>
              <a:endParaRPr lang="en-US"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3318597" y="1203108"/>
            <a:ext cx="1619133" cy="4758321"/>
            <a:chOff x="3318597" y="1203108"/>
            <a:chExt cx="1619133" cy="4758321"/>
          </a:xfrm>
        </p:grpSpPr>
        <p:grpSp>
          <p:nvGrpSpPr>
            <p:cNvPr id="2" name="Group 1"/>
            <p:cNvGrpSpPr/>
            <p:nvPr/>
          </p:nvGrpSpPr>
          <p:grpSpPr>
            <a:xfrm>
              <a:off x="3318597" y="2119639"/>
              <a:ext cx="1207160" cy="3841790"/>
              <a:chOff x="3472907" y="2107769"/>
              <a:chExt cx="1207160" cy="3841790"/>
            </a:xfrm>
          </p:grpSpPr>
          <p:sp>
            <p:nvSpPr>
              <p:cNvPr id="134" name="Rounded Rectangle 133"/>
              <p:cNvSpPr/>
              <p:nvPr/>
            </p:nvSpPr>
            <p:spPr>
              <a:xfrm>
                <a:off x="3935784" y="2107769"/>
                <a:ext cx="744283" cy="417848"/>
              </a:xfrm>
              <a:prstGeom prst="round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smtClean="0">
                    <a:solidFill>
                      <a:prstClr val="black"/>
                    </a:solidFill>
                    <a:latin typeface="Calibri"/>
                  </a:rPr>
                  <a:t>Hash </a:t>
                </a:r>
              </a:p>
              <a:p>
                <a:pPr algn="ctr"/>
                <a:r>
                  <a:rPr lang="en-US" sz="1200" dirty="0" smtClean="0">
                    <a:solidFill>
                      <a:prstClr val="black"/>
                    </a:solidFill>
                    <a:latin typeface="Calibri"/>
                  </a:rPr>
                  <a:t>k-</a:t>
                </a:r>
                <a:r>
                  <a:rPr lang="en-US" sz="1200" dirty="0" err="1" smtClean="0">
                    <a:solidFill>
                      <a:prstClr val="black"/>
                    </a:solidFill>
                    <a:latin typeface="Calibri"/>
                  </a:rPr>
                  <a:t>mers</a:t>
                </a:r>
                <a:endParaRPr lang="en-US" sz="1200" dirty="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135" name="Right Arrow 134"/>
              <p:cNvSpPr/>
              <p:nvPr/>
            </p:nvSpPr>
            <p:spPr>
              <a:xfrm>
                <a:off x="3478902" y="2205064"/>
                <a:ext cx="344896" cy="238190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36" name="Right Arrow 135"/>
              <p:cNvSpPr/>
              <p:nvPr/>
            </p:nvSpPr>
            <p:spPr>
              <a:xfrm>
                <a:off x="3472907" y="3344718"/>
                <a:ext cx="344896" cy="238190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37" name="Right Arrow 136"/>
              <p:cNvSpPr/>
              <p:nvPr/>
            </p:nvSpPr>
            <p:spPr>
              <a:xfrm>
                <a:off x="3496443" y="5620583"/>
                <a:ext cx="344896" cy="238190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38" name="Rounded Rectangle 137"/>
              <p:cNvSpPr/>
              <p:nvPr/>
            </p:nvSpPr>
            <p:spPr>
              <a:xfrm>
                <a:off x="3947654" y="3277721"/>
                <a:ext cx="727365" cy="417848"/>
              </a:xfrm>
              <a:prstGeom prst="round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smtClean="0">
                    <a:solidFill>
                      <a:prstClr val="black"/>
                    </a:solidFill>
                    <a:latin typeface="Calibri"/>
                  </a:rPr>
                  <a:t>Hash </a:t>
                </a:r>
              </a:p>
              <a:p>
                <a:pPr algn="ctr"/>
                <a:r>
                  <a:rPr lang="en-US" sz="1200" dirty="0" smtClean="0">
                    <a:solidFill>
                      <a:prstClr val="black"/>
                    </a:solidFill>
                    <a:latin typeface="Calibri"/>
                  </a:rPr>
                  <a:t>k-</a:t>
                </a:r>
                <a:r>
                  <a:rPr lang="en-US" sz="1200" dirty="0" err="1" smtClean="0">
                    <a:solidFill>
                      <a:prstClr val="black"/>
                    </a:solidFill>
                    <a:latin typeface="Calibri"/>
                  </a:rPr>
                  <a:t>mers</a:t>
                </a:r>
                <a:endParaRPr lang="en-US" sz="1200" dirty="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139" name="Rounded Rectangle 138"/>
              <p:cNvSpPr/>
              <p:nvPr/>
            </p:nvSpPr>
            <p:spPr>
              <a:xfrm>
                <a:off x="3947654" y="5531711"/>
                <a:ext cx="727365" cy="417848"/>
              </a:xfrm>
              <a:prstGeom prst="round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smtClean="0">
                    <a:solidFill>
                      <a:prstClr val="black"/>
                    </a:solidFill>
                    <a:latin typeface="Calibri"/>
                  </a:rPr>
                  <a:t>Hash </a:t>
                </a:r>
              </a:p>
              <a:p>
                <a:pPr algn="ctr"/>
                <a:r>
                  <a:rPr lang="en-US" sz="1200" dirty="0" smtClean="0">
                    <a:solidFill>
                      <a:prstClr val="black"/>
                    </a:solidFill>
                    <a:latin typeface="Calibri"/>
                  </a:rPr>
                  <a:t>k-</a:t>
                </a:r>
                <a:r>
                  <a:rPr lang="en-US" sz="1200" dirty="0" err="1" smtClean="0">
                    <a:solidFill>
                      <a:prstClr val="black"/>
                    </a:solidFill>
                    <a:latin typeface="Calibri"/>
                  </a:rPr>
                  <a:t>mers</a:t>
                </a:r>
                <a:endParaRPr lang="en-US" sz="1200" dirty="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sp>
          <p:nvSpPr>
            <p:cNvPr id="151" name="TextBox 150"/>
            <p:cNvSpPr txBox="1"/>
            <p:nvPr/>
          </p:nvSpPr>
          <p:spPr>
            <a:xfrm>
              <a:off x="3318597" y="1203108"/>
              <a:ext cx="161913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solidFill>
                    <a:prstClr val="black"/>
                  </a:solidFill>
                  <a:latin typeface="Calibri"/>
                </a:rPr>
                <a:t>Find extensions </a:t>
              </a:r>
              <a:r>
                <a:rPr lang="en-US" sz="1400" dirty="0" smtClean="0">
                  <a:solidFill>
                    <a:prstClr val="black"/>
                  </a:solidFill>
                  <a:latin typeface="Calibri"/>
                </a:rPr>
                <a:t>of k-</a:t>
              </a:r>
              <a:r>
                <a:rPr lang="en-US" sz="1400" dirty="0" err="1" smtClean="0">
                  <a:solidFill>
                    <a:prstClr val="black"/>
                  </a:solidFill>
                  <a:latin typeface="Calibri"/>
                </a:rPr>
                <a:t>mers</a:t>
              </a:r>
              <a:r>
                <a:rPr lang="en-US" sz="1400" dirty="0" smtClean="0">
                  <a:solidFill>
                    <a:prstClr val="black"/>
                  </a:solidFill>
                  <a:latin typeface="Calibri"/>
                </a:rPr>
                <a:t>, hash them &amp; find their owners</a:t>
              </a:r>
              <a:endParaRPr lang="en-US" sz="1400"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541583" y="1435525"/>
            <a:ext cx="2651358" cy="4621019"/>
            <a:chOff x="4541583" y="1435525"/>
            <a:chExt cx="2651358" cy="4621019"/>
          </a:xfrm>
        </p:grpSpPr>
        <p:grpSp>
          <p:nvGrpSpPr>
            <p:cNvPr id="9" name="Group 8"/>
            <p:cNvGrpSpPr/>
            <p:nvPr/>
          </p:nvGrpSpPr>
          <p:grpSpPr>
            <a:xfrm>
              <a:off x="4541583" y="2087197"/>
              <a:ext cx="1948874" cy="3969347"/>
              <a:chOff x="4541583" y="2087197"/>
              <a:chExt cx="1948874" cy="3969347"/>
            </a:xfrm>
          </p:grpSpPr>
          <p:cxnSp>
            <p:nvCxnSpPr>
              <p:cNvPr id="218" name="Straight Arrow Connector 71"/>
              <p:cNvCxnSpPr>
                <a:endCxn id="225" idx="1"/>
              </p:cNvCxnSpPr>
              <p:nvPr/>
            </p:nvCxnSpPr>
            <p:spPr>
              <a:xfrm>
                <a:off x="4541583" y="2337664"/>
                <a:ext cx="863601" cy="1266215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" name="Straight Arrow Connector 71"/>
              <p:cNvCxnSpPr>
                <a:endCxn id="226" idx="1"/>
              </p:cNvCxnSpPr>
              <p:nvPr/>
            </p:nvCxnSpPr>
            <p:spPr>
              <a:xfrm>
                <a:off x="4541583" y="2293610"/>
                <a:ext cx="863601" cy="349306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0" name="Rounded Rectangle 219"/>
              <p:cNvSpPr/>
              <p:nvPr/>
            </p:nvSpPr>
            <p:spPr>
              <a:xfrm>
                <a:off x="5405184" y="2087197"/>
                <a:ext cx="1085273" cy="539748"/>
              </a:xfrm>
              <a:prstGeom prst="round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smtClean="0">
                    <a:solidFill>
                      <a:prstClr val="black"/>
                    </a:solidFill>
                    <a:latin typeface="Calibri"/>
                  </a:rPr>
                  <a:t>Received</a:t>
                </a:r>
              </a:p>
              <a:p>
                <a:pPr algn="ctr"/>
                <a:r>
                  <a:rPr lang="en-US" sz="1200" dirty="0" smtClean="0">
                    <a:solidFill>
                      <a:prstClr val="black"/>
                    </a:solidFill>
                    <a:latin typeface="Calibri"/>
                  </a:rPr>
                  <a:t>k-</a:t>
                </a:r>
                <a:r>
                  <a:rPr lang="en-US" sz="1200" dirty="0" err="1" smtClean="0">
                    <a:solidFill>
                      <a:prstClr val="black"/>
                    </a:solidFill>
                    <a:latin typeface="Calibri"/>
                  </a:rPr>
                  <a:t>mers</a:t>
                </a:r>
                <a:r>
                  <a:rPr lang="en-US" sz="1200" dirty="0" smtClean="0">
                    <a:solidFill>
                      <a:prstClr val="black"/>
                    </a:solidFill>
                    <a:latin typeface="Calibri"/>
                  </a:rPr>
                  <a:t> &amp; extensions</a:t>
                </a:r>
                <a:endParaRPr lang="en-US" sz="1200" dirty="0">
                  <a:solidFill>
                    <a:prstClr val="black"/>
                  </a:solidFill>
                  <a:latin typeface="Calibri"/>
                </a:endParaRPr>
              </a:p>
            </p:txBody>
          </p:sp>
          <p:cxnSp>
            <p:nvCxnSpPr>
              <p:cNvPr id="221" name="Straight Arrow Connector 71"/>
              <p:cNvCxnSpPr>
                <a:endCxn id="220" idx="1"/>
              </p:cNvCxnSpPr>
              <p:nvPr/>
            </p:nvCxnSpPr>
            <p:spPr>
              <a:xfrm flipV="1">
                <a:off x="4541583" y="2357071"/>
                <a:ext cx="863601" cy="1150545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2" name="Straight Arrow Connector 71"/>
              <p:cNvCxnSpPr>
                <a:endCxn id="220" idx="1"/>
              </p:cNvCxnSpPr>
              <p:nvPr/>
            </p:nvCxnSpPr>
            <p:spPr>
              <a:xfrm flipV="1">
                <a:off x="4541583" y="2357071"/>
                <a:ext cx="863601" cy="3404535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3" name="Straight Arrow Connector 71"/>
              <p:cNvCxnSpPr>
                <a:endCxn id="225" idx="1"/>
              </p:cNvCxnSpPr>
              <p:nvPr/>
            </p:nvCxnSpPr>
            <p:spPr>
              <a:xfrm flipV="1">
                <a:off x="4541583" y="3603879"/>
                <a:ext cx="863601" cy="2157727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4" name="Straight Arrow Connector 71"/>
              <p:cNvCxnSpPr>
                <a:endCxn id="226" idx="1"/>
              </p:cNvCxnSpPr>
              <p:nvPr/>
            </p:nvCxnSpPr>
            <p:spPr>
              <a:xfrm>
                <a:off x="4541583" y="3507616"/>
                <a:ext cx="863601" cy="2279054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5" name="Rounded Rectangle 224"/>
              <p:cNvSpPr/>
              <p:nvPr/>
            </p:nvSpPr>
            <p:spPr>
              <a:xfrm>
                <a:off x="5405184" y="3334005"/>
                <a:ext cx="1085273" cy="539748"/>
              </a:xfrm>
              <a:prstGeom prst="round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smtClean="0">
                    <a:solidFill>
                      <a:prstClr val="black"/>
                    </a:solidFill>
                    <a:latin typeface="Calibri"/>
                  </a:rPr>
                  <a:t>Received</a:t>
                </a:r>
              </a:p>
              <a:p>
                <a:pPr algn="ctr"/>
                <a:r>
                  <a:rPr lang="en-US" sz="1200" dirty="0" smtClean="0">
                    <a:solidFill>
                      <a:prstClr val="black"/>
                    </a:solidFill>
                    <a:latin typeface="Calibri"/>
                  </a:rPr>
                  <a:t>k-</a:t>
                </a:r>
                <a:r>
                  <a:rPr lang="en-US" sz="1200" dirty="0" err="1" smtClean="0">
                    <a:solidFill>
                      <a:prstClr val="black"/>
                    </a:solidFill>
                    <a:latin typeface="Calibri"/>
                  </a:rPr>
                  <a:t>mers</a:t>
                </a:r>
                <a:r>
                  <a:rPr lang="en-US" sz="1200" dirty="0" smtClean="0">
                    <a:solidFill>
                      <a:prstClr val="black"/>
                    </a:solidFill>
                    <a:latin typeface="Calibri"/>
                  </a:rPr>
                  <a:t> &amp; extensions</a:t>
                </a:r>
                <a:endParaRPr lang="en-US" sz="1200" dirty="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226" name="Rounded Rectangle 225"/>
              <p:cNvSpPr/>
              <p:nvPr/>
            </p:nvSpPr>
            <p:spPr>
              <a:xfrm>
                <a:off x="5405184" y="5516796"/>
                <a:ext cx="1085273" cy="539748"/>
              </a:xfrm>
              <a:prstGeom prst="round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smtClean="0">
                    <a:solidFill>
                      <a:prstClr val="black"/>
                    </a:solidFill>
                    <a:latin typeface="Calibri"/>
                  </a:rPr>
                  <a:t>Received</a:t>
                </a:r>
              </a:p>
              <a:p>
                <a:pPr algn="ctr"/>
                <a:r>
                  <a:rPr lang="en-US" sz="1200" dirty="0" smtClean="0">
                    <a:solidFill>
                      <a:prstClr val="black"/>
                    </a:solidFill>
                    <a:latin typeface="Calibri"/>
                  </a:rPr>
                  <a:t>k-</a:t>
                </a:r>
                <a:r>
                  <a:rPr lang="en-US" sz="1200" dirty="0" err="1" smtClean="0">
                    <a:solidFill>
                      <a:prstClr val="black"/>
                    </a:solidFill>
                    <a:latin typeface="Calibri"/>
                  </a:rPr>
                  <a:t>mers</a:t>
                </a:r>
                <a:r>
                  <a:rPr lang="en-US" sz="1200" dirty="0" smtClean="0">
                    <a:solidFill>
                      <a:prstClr val="black"/>
                    </a:solidFill>
                    <a:latin typeface="Calibri"/>
                  </a:rPr>
                  <a:t> &amp; extensions</a:t>
                </a:r>
                <a:endParaRPr lang="en-US" sz="1200" dirty="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sp>
          <p:nvSpPr>
            <p:cNvPr id="227" name="TextBox 226"/>
            <p:cNvSpPr txBox="1"/>
            <p:nvPr/>
          </p:nvSpPr>
          <p:spPr>
            <a:xfrm>
              <a:off x="4971835" y="1435525"/>
              <a:ext cx="222110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smtClean="0">
                  <a:solidFill>
                    <a:prstClr val="black"/>
                  </a:solidFill>
                  <a:latin typeface="Calibri"/>
                </a:rPr>
                <a:t>All-to-all communication</a:t>
              </a:r>
            </a:p>
            <a:p>
              <a:pPr algn="ctr"/>
              <a:r>
                <a:rPr lang="en-US" sz="1400" dirty="0" smtClean="0">
                  <a:solidFill>
                    <a:prstClr val="black"/>
                  </a:solidFill>
                  <a:latin typeface="Calibri"/>
                </a:rPr>
                <a:t>of k-</a:t>
              </a:r>
              <a:r>
                <a:rPr lang="en-US" sz="1400" dirty="0" err="1" smtClean="0">
                  <a:solidFill>
                    <a:prstClr val="black"/>
                  </a:solidFill>
                  <a:latin typeface="Calibri"/>
                </a:rPr>
                <a:t>mers</a:t>
              </a:r>
              <a:r>
                <a:rPr lang="en-US" sz="1400" dirty="0" smtClean="0">
                  <a:solidFill>
                    <a:prstClr val="black"/>
                  </a:solidFill>
                  <a:latin typeface="Calibri"/>
                </a:rPr>
                <a:t> and </a:t>
              </a:r>
              <a:r>
                <a:rPr lang="en-US" sz="1400" b="1" dirty="0" smtClean="0">
                  <a:solidFill>
                    <a:prstClr val="black"/>
                  </a:solidFill>
                  <a:latin typeface="Calibri"/>
                </a:rPr>
                <a:t>extensions </a:t>
              </a:r>
              <a:endParaRPr lang="en-US" sz="1400" b="1"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5900391" y="2037827"/>
            <a:ext cx="2004819" cy="4055926"/>
            <a:chOff x="5900391" y="2037827"/>
            <a:chExt cx="2004819" cy="4055926"/>
          </a:xfrm>
        </p:grpSpPr>
        <p:sp>
          <p:nvSpPr>
            <p:cNvPr id="228" name="TextBox 227"/>
            <p:cNvSpPr txBox="1"/>
            <p:nvPr/>
          </p:nvSpPr>
          <p:spPr>
            <a:xfrm>
              <a:off x="5900391" y="4184964"/>
              <a:ext cx="2004819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smtClean="0">
                  <a:solidFill>
                    <a:prstClr val="black"/>
                  </a:solidFill>
                  <a:latin typeface="Calibri"/>
                </a:rPr>
                <a:t>Keep track of the number of occurrences of each extension for each k-</a:t>
              </a:r>
              <a:r>
                <a:rPr lang="en-US" sz="1400" dirty="0" err="1" smtClean="0">
                  <a:solidFill>
                    <a:prstClr val="black"/>
                  </a:solidFill>
                  <a:latin typeface="Calibri"/>
                </a:rPr>
                <a:t>mer</a:t>
              </a:r>
              <a:endParaRPr lang="en-US" sz="140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9" name="Rectangle 228"/>
            <p:cNvSpPr/>
            <p:nvPr/>
          </p:nvSpPr>
          <p:spPr>
            <a:xfrm>
              <a:off x="6995166" y="2037827"/>
              <a:ext cx="682563" cy="594054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rgbClr val="292934"/>
                  </a:solidFill>
                  <a:latin typeface="Calibri"/>
                </a:rPr>
                <a:t>Local set</a:t>
              </a:r>
              <a:endParaRPr lang="en-US" sz="1200" dirty="0">
                <a:solidFill>
                  <a:srgbClr val="292934"/>
                </a:solidFill>
                <a:latin typeface="Calibri"/>
              </a:endParaRPr>
            </a:p>
          </p:txBody>
        </p:sp>
        <p:sp>
          <p:nvSpPr>
            <p:cNvPr id="232" name="Right Arrow 231"/>
            <p:cNvSpPr/>
            <p:nvPr/>
          </p:nvSpPr>
          <p:spPr>
            <a:xfrm>
              <a:off x="6557905" y="2263995"/>
              <a:ext cx="344896" cy="238190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33" name="Right Arrow 232"/>
            <p:cNvSpPr/>
            <p:nvPr/>
          </p:nvSpPr>
          <p:spPr>
            <a:xfrm>
              <a:off x="6557905" y="3466234"/>
              <a:ext cx="344896" cy="238190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34" name="Right Arrow 233"/>
            <p:cNvSpPr/>
            <p:nvPr/>
          </p:nvSpPr>
          <p:spPr>
            <a:xfrm>
              <a:off x="6557905" y="5708082"/>
              <a:ext cx="344896" cy="238190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35" name="Rectangle 234"/>
            <p:cNvSpPr/>
            <p:nvPr/>
          </p:nvSpPr>
          <p:spPr>
            <a:xfrm>
              <a:off x="6995166" y="3340506"/>
              <a:ext cx="682563" cy="594054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rgbClr val="292934"/>
                  </a:solidFill>
                  <a:latin typeface="Calibri"/>
                </a:rPr>
                <a:t>Local set</a:t>
              </a:r>
              <a:endParaRPr lang="en-US" sz="1200" dirty="0">
                <a:solidFill>
                  <a:srgbClr val="292934"/>
                </a:solidFill>
                <a:latin typeface="Calibri"/>
              </a:endParaRPr>
            </a:p>
          </p:txBody>
        </p:sp>
        <p:sp>
          <p:nvSpPr>
            <p:cNvPr id="236" name="Rectangle 235"/>
            <p:cNvSpPr/>
            <p:nvPr/>
          </p:nvSpPr>
          <p:spPr>
            <a:xfrm>
              <a:off x="6995166" y="5499699"/>
              <a:ext cx="682563" cy="594054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rgbClr val="292934"/>
                  </a:solidFill>
                  <a:latin typeface="Calibri"/>
                </a:rPr>
                <a:t>Local set</a:t>
              </a:r>
              <a:endParaRPr lang="en-US" sz="1200" dirty="0">
                <a:solidFill>
                  <a:srgbClr val="292934"/>
                </a:solidFill>
                <a:latin typeface="Calibri"/>
              </a:endParaRP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7442884" y="1022921"/>
            <a:ext cx="1602144" cy="5321312"/>
            <a:chOff x="7442884" y="1022921"/>
            <a:chExt cx="1602144" cy="5321312"/>
          </a:xfrm>
        </p:grpSpPr>
        <p:sp>
          <p:nvSpPr>
            <p:cNvPr id="237" name="Right Arrow 236"/>
            <p:cNvSpPr/>
            <p:nvPr/>
          </p:nvSpPr>
          <p:spPr>
            <a:xfrm>
              <a:off x="7742910" y="2254057"/>
              <a:ext cx="344896" cy="238190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38" name="Right Arrow 237"/>
            <p:cNvSpPr/>
            <p:nvPr/>
          </p:nvSpPr>
          <p:spPr>
            <a:xfrm>
              <a:off x="7742910" y="3512566"/>
              <a:ext cx="344896" cy="238190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39" name="Right Arrow 238"/>
            <p:cNvSpPr/>
            <p:nvPr/>
          </p:nvSpPr>
          <p:spPr>
            <a:xfrm>
              <a:off x="7742910" y="5761606"/>
              <a:ext cx="344896" cy="238190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40" name="Rectangle 239"/>
            <p:cNvSpPr/>
            <p:nvPr/>
          </p:nvSpPr>
          <p:spPr>
            <a:xfrm>
              <a:off x="8087806" y="2017774"/>
              <a:ext cx="920795" cy="86177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000" b="1" dirty="0" smtClean="0">
                  <a:solidFill>
                    <a:prstClr val="black"/>
                  </a:solidFill>
                  <a:latin typeface="Calibri"/>
                </a:rPr>
                <a:t>ACCCA   CT</a:t>
              </a:r>
            </a:p>
            <a:p>
              <a:r>
                <a:rPr lang="en-US" sz="1000" b="1" dirty="0" smtClean="0">
                  <a:solidFill>
                    <a:prstClr val="black"/>
                  </a:solidFill>
                  <a:latin typeface="Calibri"/>
                </a:rPr>
                <a:t>CTTAG   CF</a:t>
              </a:r>
            </a:p>
            <a:p>
              <a:r>
                <a:rPr lang="en-US" sz="1000" b="1" dirty="0" smtClean="0">
                  <a:solidFill>
                    <a:prstClr val="black"/>
                  </a:solidFill>
                  <a:latin typeface="Calibri"/>
                </a:rPr>
                <a:t>AACCT   TG</a:t>
              </a:r>
              <a:br>
                <a:rPr lang="en-US" sz="1000" b="1" dirty="0" smtClean="0">
                  <a:solidFill>
                    <a:prstClr val="black"/>
                  </a:solidFill>
                  <a:latin typeface="Calibri"/>
                </a:rPr>
              </a:br>
              <a:r>
                <a:rPr lang="en-US" sz="1000" b="1" dirty="0" smtClean="0">
                  <a:solidFill>
                    <a:prstClr val="black"/>
                  </a:solidFill>
                  <a:latin typeface="Calibri"/>
                </a:rPr>
                <a:t>CGCAT   XA     </a:t>
              </a:r>
            </a:p>
            <a:p>
              <a:endParaRPr lang="en-US" sz="1000" b="1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1" name="Rectangle 240"/>
            <p:cNvSpPr/>
            <p:nvPr/>
          </p:nvSpPr>
          <p:spPr>
            <a:xfrm>
              <a:off x="8107702" y="3273537"/>
              <a:ext cx="935072" cy="86177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000" b="1" dirty="0" smtClean="0">
                  <a:solidFill>
                    <a:prstClr val="black"/>
                  </a:solidFill>
                  <a:latin typeface="Calibri"/>
                </a:rPr>
                <a:t>AGGCA   </a:t>
              </a:r>
              <a:r>
                <a:rPr lang="en-US" sz="1000" b="1" dirty="0">
                  <a:solidFill>
                    <a:prstClr val="black"/>
                  </a:solidFill>
                  <a:latin typeface="Calibri"/>
                </a:rPr>
                <a:t>A</a:t>
              </a:r>
              <a:r>
                <a:rPr lang="en-US" sz="1000" b="1" dirty="0" smtClean="0">
                  <a:solidFill>
                    <a:prstClr val="black"/>
                  </a:solidFill>
                  <a:latin typeface="Calibri"/>
                </a:rPr>
                <a:t>T</a:t>
              </a:r>
            </a:p>
            <a:p>
              <a:r>
                <a:rPr lang="en-US" sz="1000" b="1" dirty="0" smtClean="0">
                  <a:solidFill>
                    <a:prstClr val="black"/>
                  </a:solidFill>
                  <a:latin typeface="Calibri"/>
                </a:rPr>
                <a:t>GGTAG   FF</a:t>
              </a:r>
            </a:p>
            <a:p>
              <a:r>
                <a:rPr lang="en-US" sz="1000" b="1" dirty="0" smtClean="0">
                  <a:solidFill>
                    <a:prstClr val="black"/>
                  </a:solidFill>
                  <a:latin typeface="Calibri"/>
                </a:rPr>
                <a:t>AAAAT   TG</a:t>
              </a:r>
              <a:br>
                <a:rPr lang="en-US" sz="1000" b="1" dirty="0" smtClean="0">
                  <a:solidFill>
                    <a:prstClr val="black"/>
                  </a:solidFill>
                  <a:latin typeface="Calibri"/>
                </a:rPr>
              </a:br>
              <a:r>
                <a:rPr lang="en-US" sz="1000" b="1" dirty="0" smtClean="0">
                  <a:solidFill>
                    <a:prstClr val="black"/>
                  </a:solidFill>
                  <a:latin typeface="Calibri"/>
                </a:rPr>
                <a:t>CCCAT   XX     </a:t>
              </a:r>
            </a:p>
            <a:p>
              <a:endParaRPr lang="en-US" sz="1000" b="1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2" name="Rectangle 241"/>
            <p:cNvSpPr/>
            <p:nvPr/>
          </p:nvSpPr>
          <p:spPr>
            <a:xfrm>
              <a:off x="8107702" y="5482459"/>
              <a:ext cx="937326" cy="86177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000" b="1" dirty="0" smtClean="0">
                  <a:solidFill>
                    <a:prstClr val="black"/>
                  </a:solidFill>
                  <a:latin typeface="Calibri"/>
                </a:rPr>
                <a:t>TTCCA   GT</a:t>
              </a:r>
            </a:p>
            <a:p>
              <a:r>
                <a:rPr lang="en-US" sz="1000" b="1" dirty="0" smtClean="0">
                  <a:solidFill>
                    <a:prstClr val="black"/>
                  </a:solidFill>
                  <a:latin typeface="Calibri"/>
                </a:rPr>
                <a:t>TTTGC   CA</a:t>
              </a:r>
            </a:p>
            <a:p>
              <a:r>
                <a:rPr lang="en-US" sz="1000" b="1" dirty="0" smtClean="0">
                  <a:solidFill>
                    <a:prstClr val="black"/>
                  </a:solidFill>
                  <a:latin typeface="Calibri"/>
                </a:rPr>
                <a:t>AACTT   GG</a:t>
              </a:r>
              <a:br>
                <a:rPr lang="en-US" sz="1000" b="1" dirty="0" smtClean="0">
                  <a:solidFill>
                    <a:prstClr val="black"/>
                  </a:solidFill>
                  <a:latin typeface="Calibri"/>
                </a:rPr>
              </a:br>
              <a:r>
                <a:rPr lang="en-US" sz="1000" b="1" dirty="0" smtClean="0">
                  <a:solidFill>
                    <a:prstClr val="black"/>
                  </a:solidFill>
                  <a:latin typeface="Calibri"/>
                </a:rPr>
                <a:t>CTTTT   CA     </a:t>
              </a:r>
            </a:p>
            <a:p>
              <a:endParaRPr lang="en-US" sz="1000" b="1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3" name="TextBox 242"/>
            <p:cNvSpPr txBox="1"/>
            <p:nvPr/>
          </p:nvSpPr>
          <p:spPr>
            <a:xfrm>
              <a:off x="7442884" y="1022921"/>
              <a:ext cx="1602144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smtClean="0">
                  <a:solidFill>
                    <a:prstClr val="black"/>
                  </a:solidFill>
                  <a:latin typeface="Calibri"/>
                </a:rPr>
                <a:t>Use a threshold &amp; find the high quality extensions of k-</a:t>
              </a:r>
              <a:r>
                <a:rPr lang="en-US" sz="1400" dirty="0" err="1" smtClean="0">
                  <a:solidFill>
                    <a:prstClr val="black"/>
                  </a:solidFill>
                  <a:latin typeface="Calibri"/>
                </a:rPr>
                <a:t>mers</a:t>
              </a:r>
              <a:endParaRPr lang="en-US" sz="1400" dirty="0">
                <a:solidFill>
                  <a:prstClr val="black"/>
                </a:solidFill>
                <a:latin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50877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/>
          <p:cNvPicPr>
            <a:picLocks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"/>
            <a:ext cx="9144000" cy="1294804"/>
          </a:xfrm>
          <a:prstGeom prst="rect">
            <a:avLst/>
          </a:prstGeom>
          <a:noFill/>
          <a:ln w="9525" cap="flat">
            <a:noFill/>
            <a:miter lim="800000"/>
            <a:headEnd/>
            <a:tailEnd/>
          </a:ln>
        </p:spPr>
      </p:pic>
      <p:sp>
        <p:nvSpPr>
          <p:cNvPr id="14" name="Rectangle 5"/>
          <p:cNvSpPr txBox="1">
            <a:spLocks noChangeArrowheads="1"/>
          </p:cNvSpPr>
          <p:nvPr/>
        </p:nvSpPr>
        <p:spPr bwMode="auto">
          <a:xfrm>
            <a:off x="140777" y="-16486"/>
            <a:ext cx="8459763" cy="99119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50777" tIns="50777" rIns="166318" bIns="50777" numCol="1" anchor="ctr" anchorCtr="0" compatLnSpc="1">
            <a:prstTxWarp prst="textNoShape">
              <a:avLst/>
            </a:prstTxWarp>
          </a:bodyPr>
          <a:lstStyle/>
          <a:p>
            <a:r>
              <a:rPr lang="en-US" sz="3200" dirty="0" smtClean="0">
                <a:solidFill>
                  <a:srgbClr val="FFFF00"/>
                </a:solidFill>
                <a:latin typeface="Calibri"/>
              </a:rPr>
              <a:t>High-frequency k-</a:t>
            </a:r>
            <a:r>
              <a:rPr lang="en-US" sz="3200" dirty="0" err="1" smtClean="0">
                <a:solidFill>
                  <a:srgbClr val="FFFF00"/>
                </a:solidFill>
                <a:latin typeface="Calibri"/>
              </a:rPr>
              <a:t>mers</a:t>
            </a:r>
            <a:endParaRPr lang="en-US" sz="3200" dirty="0">
              <a:solidFill>
                <a:srgbClr val="FFFF00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8509" y="1362538"/>
            <a:ext cx="8698423" cy="1706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200" dirty="0" smtClean="0">
                <a:solidFill>
                  <a:prstClr val="black"/>
                </a:solidFill>
                <a:latin typeface="Calibri"/>
              </a:rPr>
              <a:t>Long-tailed distribution for genomes with repetitive content: </a:t>
            </a:r>
          </a:p>
          <a:p>
            <a:pPr marL="342900" indent="-342900">
              <a:lnSpc>
                <a:spcPct val="120000"/>
              </a:lnSpc>
              <a:buFontTx/>
              <a:buChar char="-"/>
            </a:pPr>
            <a:r>
              <a:rPr lang="en-US" sz="2200" dirty="0" smtClean="0">
                <a:solidFill>
                  <a:prstClr val="black"/>
                </a:solidFill>
                <a:latin typeface="Calibri"/>
              </a:rPr>
              <a:t>The </a:t>
            </a:r>
            <a:r>
              <a:rPr lang="en-US" sz="2200" dirty="0">
                <a:solidFill>
                  <a:prstClr val="black"/>
                </a:solidFill>
                <a:latin typeface="Calibri"/>
              </a:rPr>
              <a:t>maximum count for any k-</a:t>
            </a:r>
            <a:r>
              <a:rPr lang="en-US" sz="2200" dirty="0" err="1">
                <a:solidFill>
                  <a:prstClr val="black"/>
                </a:solidFill>
                <a:latin typeface="Calibri"/>
              </a:rPr>
              <a:t>mer</a:t>
            </a:r>
            <a:r>
              <a:rPr lang="en-US" sz="2200" dirty="0">
                <a:solidFill>
                  <a:prstClr val="black"/>
                </a:solidFill>
                <a:latin typeface="Calibri"/>
              </a:rPr>
              <a:t> in the wheat dataset is </a:t>
            </a:r>
            <a:r>
              <a:rPr lang="en-US" sz="2200" b="1" dirty="0">
                <a:solidFill>
                  <a:prstClr val="black"/>
                </a:solidFill>
                <a:latin typeface="Calibri"/>
              </a:rPr>
              <a:t>451 </a:t>
            </a:r>
            <a:r>
              <a:rPr lang="en-US" sz="2200" b="1" dirty="0" smtClean="0">
                <a:solidFill>
                  <a:prstClr val="black"/>
                </a:solidFill>
                <a:latin typeface="Calibri"/>
              </a:rPr>
              <a:t>million</a:t>
            </a:r>
          </a:p>
          <a:p>
            <a:pPr marL="342900" indent="-342900">
              <a:lnSpc>
                <a:spcPct val="120000"/>
              </a:lnSpc>
              <a:buFontTx/>
              <a:buChar char="-"/>
            </a:pPr>
            <a:r>
              <a:rPr lang="en-US" sz="2200" dirty="0" smtClean="0">
                <a:solidFill>
                  <a:prstClr val="black"/>
                </a:solidFill>
                <a:latin typeface="Calibri"/>
              </a:rPr>
              <a:t>Our original scheme (SC’14) was “owner counts”, after an all-to-all</a:t>
            </a:r>
          </a:p>
          <a:p>
            <a:pPr marL="342900" indent="-342900">
              <a:lnSpc>
                <a:spcPct val="120000"/>
              </a:lnSpc>
              <a:buFontTx/>
              <a:buChar char="-"/>
            </a:pPr>
            <a:r>
              <a:rPr lang="en-US" sz="2200" dirty="0">
                <a:solidFill>
                  <a:prstClr val="black"/>
                </a:solidFill>
                <a:latin typeface="Calibri"/>
              </a:rPr>
              <a:t>C</a:t>
            </a:r>
            <a:r>
              <a:rPr lang="en-US" sz="2200" dirty="0" smtClean="0">
                <a:solidFill>
                  <a:prstClr val="black"/>
                </a:solidFill>
                <a:latin typeface="Calibri"/>
              </a:rPr>
              <a:t>ounting an item w/ 451 million occurrences alone is </a:t>
            </a:r>
            <a:r>
              <a:rPr lang="en-US" sz="2200" b="1" dirty="0" smtClean="0">
                <a:solidFill>
                  <a:prstClr val="black"/>
                </a:solidFill>
                <a:latin typeface="Calibri"/>
              </a:rPr>
              <a:t>load imbalanced</a:t>
            </a:r>
          </a:p>
        </p:txBody>
      </p:sp>
      <p:pic>
        <p:nvPicPr>
          <p:cNvPr id="2" name="Picture 1" descr="wheat-scaling-kmer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7734" y="3318933"/>
            <a:ext cx="4672007" cy="327522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59308" y="3382239"/>
            <a:ext cx="3533758" cy="29249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200" b="1" dirty="0">
                <a:solidFill>
                  <a:prstClr val="black"/>
                </a:solidFill>
                <a:latin typeface="Calibri"/>
              </a:rPr>
              <a:t>Solution: </a:t>
            </a:r>
            <a:r>
              <a:rPr lang="en-US" sz="2200" dirty="0">
                <a:solidFill>
                  <a:prstClr val="black"/>
                </a:solidFill>
                <a:latin typeface="Calibri"/>
              </a:rPr>
              <a:t>Quickly identify high-frequency k-</a:t>
            </a:r>
            <a:r>
              <a:rPr lang="en-US" sz="2200" dirty="0" err="1">
                <a:solidFill>
                  <a:prstClr val="black"/>
                </a:solidFill>
                <a:latin typeface="Calibri"/>
              </a:rPr>
              <a:t>mers</a:t>
            </a:r>
            <a:r>
              <a:rPr lang="en-US" sz="22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200" dirty="0" smtClean="0">
                <a:solidFill>
                  <a:prstClr val="black"/>
                </a:solidFill>
                <a:latin typeface="Calibri"/>
              </a:rPr>
              <a:t>using </a:t>
            </a:r>
            <a:r>
              <a:rPr lang="en-US" sz="2200" dirty="0">
                <a:solidFill>
                  <a:prstClr val="black"/>
                </a:solidFill>
                <a:latin typeface="Calibri"/>
              </a:rPr>
              <a:t>minimal communication </a:t>
            </a:r>
            <a:r>
              <a:rPr lang="en-US" sz="2200" dirty="0" smtClean="0">
                <a:solidFill>
                  <a:prstClr val="black"/>
                </a:solidFill>
                <a:latin typeface="Calibri"/>
              </a:rPr>
              <a:t>during the </a:t>
            </a:r>
            <a:r>
              <a:rPr lang="en-US" sz="2200" dirty="0">
                <a:solidFill>
                  <a:prstClr val="black"/>
                </a:solidFill>
                <a:latin typeface="Calibri"/>
              </a:rPr>
              <a:t>“cardinality estimation” </a:t>
            </a:r>
            <a:r>
              <a:rPr lang="en-US" sz="2200" dirty="0" smtClean="0">
                <a:solidFill>
                  <a:prstClr val="black"/>
                </a:solidFill>
                <a:latin typeface="Calibri"/>
              </a:rPr>
              <a:t>step and treat </a:t>
            </a:r>
            <a:r>
              <a:rPr lang="en-US" sz="2200" dirty="0">
                <a:solidFill>
                  <a:prstClr val="black"/>
                </a:solidFill>
                <a:latin typeface="Calibri"/>
              </a:rPr>
              <a:t>them </a:t>
            </a:r>
            <a:r>
              <a:rPr lang="en-US" sz="2200" dirty="0" smtClean="0">
                <a:solidFill>
                  <a:prstClr val="black"/>
                </a:solidFill>
                <a:latin typeface="Calibri"/>
              </a:rPr>
              <a:t>specially by using local counters.</a:t>
            </a:r>
            <a:endParaRPr lang="en-US" sz="2200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2536547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Content Placeholder 2"/>
          <p:cNvSpPr>
            <a:spLocks noGrp="1"/>
          </p:cNvSpPr>
          <p:nvPr>
            <p:ph idx="1"/>
          </p:nvPr>
        </p:nvSpPr>
        <p:spPr>
          <a:xfrm>
            <a:off x="226290" y="1673123"/>
            <a:ext cx="8917710" cy="4876800"/>
          </a:xfrm>
        </p:spPr>
        <p:txBody>
          <a:bodyPr>
            <a:normAutofit/>
          </a:bodyPr>
          <a:lstStyle/>
          <a:p>
            <a:pPr>
              <a:spcBef>
                <a:spcPts val="1728"/>
              </a:spcBef>
            </a:pPr>
            <a:r>
              <a:rPr lang="en-US" sz="2400" dirty="0" smtClean="0"/>
              <a:t>In Meraculous, the de </a:t>
            </a:r>
            <a:r>
              <a:rPr lang="en-US" sz="2400" dirty="0" err="1" smtClean="0"/>
              <a:t>Bruijn</a:t>
            </a:r>
            <a:r>
              <a:rPr lang="en-US" sz="2400" dirty="0" smtClean="0"/>
              <a:t> graph is represented as a hash table</a:t>
            </a:r>
            <a:endParaRPr lang="en-US" sz="2400" dirty="0"/>
          </a:p>
          <a:p>
            <a:pPr>
              <a:spcBef>
                <a:spcPts val="1728"/>
              </a:spcBef>
            </a:pPr>
            <a:r>
              <a:rPr lang="en-US" sz="2400" dirty="0" smtClean="0"/>
              <a:t>K-</a:t>
            </a:r>
            <a:r>
              <a:rPr lang="en-US" sz="2400" dirty="0" err="1" smtClean="0"/>
              <a:t>mers</a:t>
            </a:r>
            <a:r>
              <a:rPr lang="en-US" sz="2400" dirty="0" smtClean="0"/>
              <a:t> are both </a:t>
            </a:r>
            <a:r>
              <a:rPr lang="en-US" sz="2400" i="1" dirty="0" smtClean="0"/>
              <a:t>nodes in the graph </a:t>
            </a:r>
            <a:r>
              <a:rPr lang="en-US" sz="2400" dirty="0" smtClean="0">
                <a:sym typeface="Wingdings"/>
              </a:rPr>
              <a:t>&amp; </a:t>
            </a:r>
            <a:r>
              <a:rPr lang="en-US" sz="2400" i="1" dirty="0" smtClean="0">
                <a:sym typeface="Wingdings"/>
              </a:rPr>
              <a:t>keys in the hash table</a:t>
            </a:r>
            <a:endParaRPr lang="en-US" sz="2400" dirty="0">
              <a:sym typeface="Wingdings"/>
            </a:endParaRPr>
          </a:p>
          <a:p>
            <a:pPr>
              <a:spcBef>
                <a:spcPts val="1728"/>
              </a:spcBef>
            </a:pPr>
            <a:r>
              <a:rPr lang="en-US" sz="2400" dirty="0" smtClean="0">
                <a:sym typeface="Wingdings"/>
              </a:rPr>
              <a:t>An edge in the graph connects two nodes that overlap in k-1 bases</a:t>
            </a:r>
            <a:endParaRPr lang="en-US" sz="2400" dirty="0">
              <a:sym typeface="Wingdings"/>
            </a:endParaRPr>
          </a:p>
          <a:p>
            <a:pPr>
              <a:spcBef>
                <a:spcPts val="1728"/>
              </a:spcBef>
            </a:pPr>
            <a:r>
              <a:rPr lang="en-US" sz="2400" dirty="0" smtClean="0">
                <a:sym typeface="Wingdings"/>
              </a:rPr>
              <a:t>The edges in the graph are put in the hash table by storing the extensions of the k-</a:t>
            </a:r>
            <a:r>
              <a:rPr lang="en-US" sz="2400" dirty="0" err="1" smtClean="0">
                <a:sym typeface="Wingdings"/>
              </a:rPr>
              <a:t>mers</a:t>
            </a:r>
            <a:r>
              <a:rPr lang="en-US" sz="2400" dirty="0" smtClean="0">
                <a:sym typeface="Wingdings"/>
              </a:rPr>
              <a:t> as their corresponding values</a:t>
            </a:r>
            <a:endParaRPr lang="en-US" sz="2400" dirty="0" smtClean="0"/>
          </a:p>
          <a:p>
            <a:endParaRPr lang="en-US" sz="2000" dirty="0"/>
          </a:p>
          <a:p>
            <a:endParaRPr lang="en-US" sz="2000" dirty="0" smtClean="0"/>
          </a:p>
        </p:txBody>
      </p:sp>
      <p:grpSp>
        <p:nvGrpSpPr>
          <p:cNvPr id="51" name="Group 50"/>
          <p:cNvGrpSpPr/>
          <p:nvPr/>
        </p:nvGrpSpPr>
        <p:grpSpPr>
          <a:xfrm>
            <a:off x="1898615" y="5317180"/>
            <a:ext cx="688377" cy="246221"/>
            <a:chOff x="1984017" y="2918816"/>
            <a:chExt cx="688377" cy="246221"/>
          </a:xfrm>
        </p:grpSpPr>
        <p:sp>
          <p:nvSpPr>
            <p:cNvPr id="111" name="Oval 110"/>
            <p:cNvSpPr/>
            <p:nvPr/>
          </p:nvSpPr>
          <p:spPr>
            <a:xfrm>
              <a:off x="2045998" y="2953362"/>
              <a:ext cx="352759" cy="201595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1984017" y="2918816"/>
              <a:ext cx="68837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smtClean="0">
                  <a:solidFill>
                    <a:prstClr val="black"/>
                  </a:solidFill>
                  <a:latin typeface="cmr10"/>
                  <a:cs typeface="cmr10"/>
                </a:rPr>
                <a:t>GAT</a:t>
              </a:r>
              <a:endParaRPr lang="en-US" sz="1000" dirty="0">
                <a:solidFill>
                  <a:prstClr val="black"/>
                </a:solidFill>
                <a:latin typeface="cmr10"/>
                <a:cs typeface="cmr10"/>
              </a:endParaRPr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2422472" y="5317180"/>
            <a:ext cx="688377" cy="246221"/>
            <a:chOff x="1984017" y="2918816"/>
            <a:chExt cx="688377" cy="246221"/>
          </a:xfrm>
        </p:grpSpPr>
        <p:sp>
          <p:nvSpPr>
            <p:cNvPr id="109" name="Oval 108"/>
            <p:cNvSpPr/>
            <p:nvPr/>
          </p:nvSpPr>
          <p:spPr>
            <a:xfrm>
              <a:off x="2045998" y="2953362"/>
              <a:ext cx="352759" cy="201595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1984017" y="2918816"/>
              <a:ext cx="68837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smtClean="0">
                  <a:solidFill>
                    <a:prstClr val="black"/>
                  </a:solidFill>
                  <a:latin typeface="cmr10"/>
                  <a:cs typeface="cmr10"/>
                </a:rPr>
                <a:t>ATC</a:t>
              </a:r>
              <a:endParaRPr lang="en-US" sz="1000" dirty="0">
                <a:solidFill>
                  <a:prstClr val="black"/>
                </a:solidFill>
                <a:latin typeface="cmr10"/>
                <a:cs typeface="cmr10"/>
              </a:endParaRPr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2946329" y="5327260"/>
            <a:ext cx="688377" cy="246221"/>
            <a:chOff x="1984017" y="2918816"/>
            <a:chExt cx="688377" cy="246221"/>
          </a:xfrm>
        </p:grpSpPr>
        <p:sp>
          <p:nvSpPr>
            <p:cNvPr id="107" name="Oval 106"/>
            <p:cNvSpPr/>
            <p:nvPr/>
          </p:nvSpPr>
          <p:spPr>
            <a:xfrm>
              <a:off x="2045998" y="2953362"/>
              <a:ext cx="352759" cy="201595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1984017" y="2918816"/>
              <a:ext cx="68837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prstClr val="black"/>
                  </a:solidFill>
                  <a:latin typeface="cmr10"/>
                  <a:cs typeface="cmr10"/>
                </a:rPr>
                <a:t>T</a:t>
              </a:r>
              <a:r>
                <a:rPr lang="en-US" sz="1000" dirty="0" smtClean="0">
                  <a:solidFill>
                    <a:prstClr val="black"/>
                  </a:solidFill>
                  <a:latin typeface="cmr10"/>
                  <a:cs typeface="cmr10"/>
                </a:rPr>
                <a:t>CT</a:t>
              </a:r>
              <a:endParaRPr lang="en-US" sz="1000" dirty="0">
                <a:solidFill>
                  <a:prstClr val="black"/>
                </a:solidFill>
                <a:latin typeface="cmr10"/>
                <a:cs typeface="cmr10"/>
              </a:endParaRPr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3470183" y="5327260"/>
            <a:ext cx="688377" cy="246221"/>
            <a:chOff x="1984017" y="2918816"/>
            <a:chExt cx="688377" cy="246221"/>
          </a:xfrm>
        </p:grpSpPr>
        <p:sp>
          <p:nvSpPr>
            <p:cNvPr id="105" name="Oval 104"/>
            <p:cNvSpPr/>
            <p:nvPr/>
          </p:nvSpPr>
          <p:spPr>
            <a:xfrm>
              <a:off x="2045998" y="2953362"/>
              <a:ext cx="352759" cy="201595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1984017" y="2918816"/>
              <a:ext cx="68837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smtClean="0">
                  <a:solidFill>
                    <a:prstClr val="black"/>
                  </a:solidFill>
                  <a:latin typeface="cmr10"/>
                  <a:cs typeface="cmr10"/>
                </a:rPr>
                <a:t>CTG</a:t>
              </a:r>
              <a:endParaRPr lang="en-US" sz="1000" dirty="0">
                <a:solidFill>
                  <a:prstClr val="black"/>
                </a:solidFill>
                <a:latin typeface="cmr10"/>
                <a:cs typeface="cmr10"/>
              </a:endParaRPr>
            </a:p>
          </p:txBody>
        </p:sp>
      </p:grpSp>
      <p:grpSp>
        <p:nvGrpSpPr>
          <p:cNvPr id="56" name="Group 55"/>
          <p:cNvGrpSpPr/>
          <p:nvPr/>
        </p:nvGrpSpPr>
        <p:grpSpPr>
          <a:xfrm>
            <a:off x="3994040" y="5327260"/>
            <a:ext cx="688377" cy="246221"/>
            <a:chOff x="1984017" y="2918816"/>
            <a:chExt cx="688377" cy="246221"/>
          </a:xfrm>
        </p:grpSpPr>
        <p:sp>
          <p:nvSpPr>
            <p:cNvPr id="103" name="Oval 102"/>
            <p:cNvSpPr/>
            <p:nvPr/>
          </p:nvSpPr>
          <p:spPr>
            <a:xfrm>
              <a:off x="2045998" y="2953362"/>
              <a:ext cx="352759" cy="201595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1984017" y="2918816"/>
              <a:ext cx="68837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smtClean="0">
                  <a:solidFill>
                    <a:prstClr val="black"/>
                  </a:solidFill>
                  <a:latin typeface="cmr10"/>
                  <a:cs typeface="cmr10"/>
                </a:rPr>
                <a:t>TG</a:t>
              </a:r>
              <a:r>
                <a:rPr lang="en-US" sz="1000" dirty="0">
                  <a:solidFill>
                    <a:prstClr val="black"/>
                  </a:solidFill>
                  <a:latin typeface="cmr10"/>
                  <a:cs typeface="cmr10"/>
                </a:rPr>
                <a:t>A</a:t>
              </a: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4986047" y="5093533"/>
            <a:ext cx="688377" cy="246221"/>
            <a:chOff x="1984017" y="2918816"/>
            <a:chExt cx="688377" cy="246221"/>
          </a:xfrm>
        </p:grpSpPr>
        <p:sp>
          <p:nvSpPr>
            <p:cNvPr id="99" name="Oval 98"/>
            <p:cNvSpPr/>
            <p:nvPr/>
          </p:nvSpPr>
          <p:spPr>
            <a:xfrm>
              <a:off x="2045998" y="2953362"/>
              <a:ext cx="352759" cy="201595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1984017" y="2918816"/>
              <a:ext cx="68837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prstClr val="black"/>
                  </a:solidFill>
                  <a:latin typeface="cmr10"/>
                  <a:cs typeface="cmr10"/>
                </a:rPr>
                <a:t>A</a:t>
              </a:r>
              <a:r>
                <a:rPr lang="en-US" sz="1000" dirty="0" smtClean="0">
                  <a:solidFill>
                    <a:prstClr val="black"/>
                  </a:solidFill>
                  <a:latin typeface="cmr10"/>
                  <a:cs typeface="cmr10"/>
                </a:rPr>
                <a:t>AC</a:t>
              </a:r>
              <a:endParaRPr lang="en-US" sz="1000" dirty="0">
                <a:solidFill>
                  <a:prstClr val="black"/>
                </a:solidFill>
                <a:latin typeface="cmr10"/>
                <a:cs typeface="cmr10"/>
              </a:endParaRPr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5390708" y="4815609"/>
            <a:ext cx="688377" cy="246221"/>
            <a:chOff x="1984017" y="2918816"/>
            <a:chExt cx="688377" cy="246221"/>
          </a:xfrm>
        </p:grpSpPr>
        <p:sp>
          <p:nvSpPr>
            <p:cNvPr id="97" name="Oval 96"/>
            <p:cNvSpPr/>
            <p:nvPr/>
          </p:nvSpPr>
          <p:spPr>
            <a:xfrm>
              <a:off x="2045998" y="2953362"/>
              <a:ext cx="352759" cy="201595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1984017" y="2918816"/>
              <a:ext cx="68837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smtClean="0">
                  <a:solidFill>
                    <a:prstClr val="black"/>
                  </a:solidFill>
                  <a:latin typeface="cmr10"/>
                  <a:cs typeface="cmr10"/>
                </a:rPr>
                <a:t>ACC</a:t>
              </a:r>
              <a:endParaRPr lang="en-US" sz="1000" dirty="0">
                <a:solidFill>
                  <a:prstClr val="black"/>
                </a:solidFill>
                <a:latin typeface="cmr10"/>
                <a:cs typeface="cmr10"/>
              </a:endParaRPr>
            </a:p>
          </p:txBody>
        </p:sp>
      </p:grpSp>
      <p:grpSp>
        <p:nvGrpSpPr>
          <p:cNvPr id="60" name="Group 59"/>
          <p:cNvGrpSpPr/>
          <p:nvPr/>
        </p:nvGrpSpPr>
        <p:grpSpPr>
          <a:xfrm>
            <a:off x="5813534" y="4543454"/>
            <a:ext cx="688377" cy="246221"/>
            <a:chOff x="1984017" y="2918816"/>
            <a:chExt cx="688377" cy="246221"/>
          </a:xfrm>
        </p:grpSpPr>
        <p:sp>
          <p:nvSpPr>
            <p:cNvPr id="95" name="Oval 94"/>
            <p:cNvSpPr/>
            <p:nvPr/>
          </p:nvSpPr>
          <p:spPr>
            <a:xfrm>
              <a:off x="2045998" y="2953362"/>
              <a:ext cx="352759" cy="201595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1984017" y="2918816"/>
              <a:ext cx="68837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smtClean="0">
                  <a:solidFill>
                    <a:prstClr val="black"/>
                  </a:solidFill>
                  <a:latin typeface="cmr10"/>
                  <a:cs typeface="cmr10"/>
                </a:rPr>
                <a:t>CCG</a:t>
              </a:r>
              <a:endParaRPr lang="en-US" sz="1000" dirty="0">
                <a:solidFill>
                  <a:prstClr val="black"/>
                </a:solidFill>
                <a:latin typeface="cmr10"/>
                <a:cs typeface="cmr10"/>
              </a:endParaRPr>
            </a:p>
          </p:txBody>
        </p:sp>
      </p:grpSp>
      <p:grpSp>
        <p:nvGrpSpPr>
          <p:cNvPr id="61" name="Group 60"/>
          <p:cNvGrpSpPr/>
          <p:nvPr/>
        </p:nvGrpSpPr>
        <p:grpSpPr>
          <a:xfrm>
            <a:off x="4986047" y="5573481"/>
            <a:ext cx="688377" cy="246221"/>
            <a:chOff x="1984017" y="2918816"/>
            <a:chExt cx="688377" cy="246221"/>
          </a:xfrm>
        </p:grpSpPr>
        <p:sp>
          <p:nvSpPr>
            <p:cNvPr id="93" name="Oval 92"/>
            <p:cNvSpPr/>
            <p:nvPr/>
          </p:nvSpPr>
          <p:spPr>
            <a:xfrm>
              <a:off x="2045998" y="2953362"/>
              <a:ext cx="352759" cy="201595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1984017" y="2918816"/>
              <a:ext cx="68837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smtClean="0">
                  <a:solidFill>
                    <a:prstClr val="black"/>
                  </a:solidFill>
                  <a:latin typeface="cmr10"/>
                  <a:cs typeface="cmr10"/>
                </a:rPr>
                <a:t>AAT</a:t>
              </a:r>
              <a:endParaRPr lang="en-US" sz="1000" dirty="0">
                <a:solidFill>
                  <a:prstClr val="black"/>
                </a:solidFill>
                <a:latin typeface="cmr10"/>
                <a:cs typeface="cmr10"/>
              </a:endParaRPr>
            </a:p>
          </p:txBody>
        </p:sp>
      </p:grpSp>
      <p:grpSp>
        <p:nvGrpSpPr>
          <p:cNvPr id="62" name="Group 61"/>
          <p:cNvGrpSpPr/>
          <p:nvPr/>
        </p:nvGrpSpPr>
        <p:grpSpPr>
          <a:xfrm>
            <a:off x="5412374" y="5849942"/>
            <a:ext cx="688377" cy="246221"/>
            <a:chOff x="1984017" y="2918816"/>
            <a:chExt cx="688377" cy="246221"/>
          </a:xfrm>
        </p:grpSpPr>
        <p:sp>
          <p:nvSpPr>
            <p:cNvPr id="91" name="Oval 90"/>
            <p:cNvSpPr/>
            <p:nvPr/>
          </p:nvSpPr>
          <p:spPr>
            <a:xfrm>
              <a:off x="2045998" y="2953362"/>
              <a:ext cx="352759" cy="201595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1984017" y="2918816"/>
              <a:ext cx="68837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smtClean="0">
                  <a:solidFill>
                    <a:prstClr val="black"/>
                  </a:solidFill>
                  <a:latin typeface="cmr10"/>
                  <a:cs typeface="cmr10"/>
                </a:rPr>
                <a:t>ATG</a:t>
              </a:r>
              <a:endParaRPr lang="en-US" sz="1000" dirty="0">
                <a:solidFill>
                  <a:prstClr val="black"/>
                </a:solidFill>
                <a:latin typeface="cmr10"/>
                <a:cs typeface="cmr10"/>
              </a:endParaRPr>
            </a:p>
          </p:txBody>
        </p:sp>
      </p:grpSp>
      <p:grpSp>
        <p:nvGrpSpPr>
          <p:cNvPr id="63" name="Group 62"/>
          <p:cNvGrpSpPr/>
          <p:nvPr/>
        </p:nvGrpSpPr>
        <p:grpSpPr>
          <a:xfrm>
            <a:off x="5826386" y="6116323"/>
            <a:ext cx="688377" cy="246221"/>
            <a:chOff x="1984017" y="2918816"/>
            <a:chExt cx="688377" cy="246221"/>
          </a:xfrm>
        </p:grpSpPr>
        <p:sp>
          <p:nvSpPr>
            <p:cNvPr id="89" name="Oval 88"/>
            <p:cNvSpPr/>
            <p:nvPr/>
          </p:nvSpPr>
          <p:spPr>
            <a:xfrm>
              <a:off x="2045998" y="2953362"/>
              <a:ext cx="352759" cy="201595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1984017" y="2918816"/>
              <a:ext cx="68837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smtClean="0">
                  <a:solidFill>
                    <a:prstClr val="black"/>
                  </a:solidFill>
                  <a:latin typeface="cmr10"/>
                  <a:cs typeface="cmr10"/>
                </a:rPr>
                <a:t>TGC</a:t>
              </a:r>
              <a:endParaRPr lang="en-US" sz="1000" dirty="0">
                <a:solidFill>
                  <a:prstClr val="black"/>
                </a:solidFill>
                <a:latin typeface="cmr10"/>
                <a:cs typeface="cmr10"/>
              </a:endParaRPr>
            </a:p>
          </p:txBody>
        </p:sp>
      </p:grpSp>
      <p:cxnSp>
        <p:nvCxnSpPr>
          <p:cNvPr id="64" name="Straight Connector 63"/>
          <p:cNvCxnSpPr/>
          <p:nvPr/>
        </p:nvCxnSpPr>
        <p:spPr>
          <a:xfrm>
            <a:off x="2319940" y="5451043"/>
            <a:ext cx="16452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>
            <a:off x="2843796" y="5451043"/>
            <a:ext cx="16452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/>
          <p:nvPr/>
        </p:nvCxnSpPr>
        <p:spPr>
          <a:xfrm>
            <a:off x="3361076" y="5451043"/>
            <a:ext cx="16452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>
            <a:off x="3884932" y="5451043"/>
            <a:ext cx="16452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 flipV="1">
            <a:off x="5303595" y="5017313"/>
            <a:ext cx="185728" cy="1208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 flipV="1">
            <a:off x="5742957" y="4755177"/>
            <a:ext cx="185728" cy="1208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>
            <a:off x="5342687" y="5782762"/>
            <a:ext cx="179691" cy="1262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>
            <a:off x="5761367" y="6047424"/>
            <a:ext cx="179691" cy="1262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9" name="Group 124"/>
          <p:cNvGrpSpPr/>
          <p:nvPr/>
        </p:nvGrpSpPr>
        <p:grpSpPr>
          <a:xfrm>
            <a:off x="0" y="2"/>
            <a:ext cx="9144000" cy="1294804"/>
            <a:chOff x="0" y="0"/>
            <a:chExt cx="13004800" cy="1841500"/>
          </a:xfrm>
        </p:grpSpPr>
        <p:pic>
          <p:nvPicPr>
            <p:cNvPr id="50" name="Picture 3"/>
            <p:cNvPicPr>
              <a:picLocks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0"/>
              <a:ext cx="13004800" cy="1841500"/>
            </a:xfrm>
            <a:prstGeom prst="rect">
              <a:avLst/>
            </a:prstGeom>
            <a:noFill/>
            <a:ln w="9525" cap="flat">
              <a:noFill/>
              <a:miter lim="800000"/>
              <a:headEnd/>
              <a:tailEnd/>
            </a:ln>
          </p:spPr>
        </p:pic>
        <p:sp>
          <p:nvSpPr>
            <p:cNvPr id="54" name="Rectangle 5"/>
            <p:cNvSpPr txBox="1">
              <a:spLocks noChangeArrowheads="1"/>
            </p:cNvSpPr>
            <p:nvPr/>
          </p:nvSpPr>
          <p:spPr bwMode="auto">
            <a:xfrm>
              <a:off x="177638" y="21706"/>
              <a:ext cx="12031663" cy="140969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vert="horz" wrap="square" lIns="50777" tIns="50777" rIns="166318" bIns="50777" numCol="1" anchor="ctr" anchorCtr="0" compatLnSpc="1">
              <a:prstTxWarp prst="textNoShape">
                <a:avLst/>
              </a:prstTxWarp>
            </a:bodyPr>
            <a:lstStyle/>
            <a:p>
              <a:pPr marL="40160" defTabSz="642552">
                <a:defRPr/>
              </a:pPr>
              <a:r>
                <a:rPr lang="en-US" sz="3200" kern="0" dirty="0">
                  <a:solidFill>
                    <a:srgbClr val="FFFF00"/>
                  </a:solidFill>
                  <a:latin typeface="Calibri"/>
                  <a:cs typeface="Calibri"/>
                  <a:sym typeface="Arial Bold" charset="0"/>
                </a:rPr>
                <a:t>Parallel De </a:t>
              </a:r>
              <a:r>
                <a:rPr lang="en-US" sz="3200" kern="0" dirty="0" err="1">
                  <a:solidFill>
                    <a:srgbClr val="FFFF00"/>
                  </a:solidFill>
                  <a:latin typeface="Calibri"/>
                  <a:cs typeface="Calibri"/>
                  <a:sym typeface="Arial Bold" charset="0"/>
                </a:rPr>
                <a:t>Bruijn</a:t>
              </a:r>
              <a:r>
                <a:rPr lang="en-US" sz="3200" kern="0" dirty="0">
                  <a:solidFill>
                    <a:srgbClr val="FFFF00"/>
                  </a:solidFill>
                  <a:latin typeface="Calibri"/>
                  <a:cs typeface="Calibri"/>
                  <a:sym typeface="Arial Bold" charset="0"/>
                </a:rPr>
                <a:t> Graph Construction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5786670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124"/>
          <p:cNvGrpSpPr/>
          <p:nvPr/>
        </p:nvGrpSpPr>
        <p:grpSpPr>
          <a:xfrm>
            <a:off x="0" y="-16486"/>
            <a:ext cx="9144000" cy="1311292"/>
            <a:chOff x="0" y="-23450"/>
            <a:chExt cx="13004800" cy="1864950"/>
          </a:xfrm>
        </p:grpSpPr>
        <p:pic>
          <p:nvPicPr>
            <p:cNvPr id="29" name="Picture 3"/>
            <p:cNvPicPr>
              <a:picLocks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0" y="0"/>
              <a:ext cx="13004800" cy="1841500"/>
            </a:xfrm>
            <a:prstGeom prst="rect">
              <a:avLst/>
            </a:prstGeom>
            <a:noFill/>
            <a:ln w="9525" cap="flat">
              <a:noFill/>
              <a:miter lim="800000"/>
              <a:headEnd/>
              <a:tailEnd/>
            </a:ln>
          </p:spPr>
        </p:pic>
        <p:sp>
          <p:nvSpPr>
            <p:cNvPr id="30" name="Rectangle 5"/>
            <p:cNvSpPr txBox="1">
              <a:spLocks noChangeArrowheads="1"/>
            </p:cNvSpPr>
            <p:nvPr/>
          </p:nvSpPr>
          <p:spPr bwMode="auto">
            <a:xfrm>
              <a:off x="109905" y="-23450"/>
              <a:ext cx="12031663" cy="140969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vert="horz" wrap="square" lIns="50777" tIns="50777" rIns="166318" bIns="50777" numCol="1" anchor="ctr" anchorCtr="0" compatLnSpc="1">
              <a:prstTxWarp prst="textNoShape">
                <a:avLst/>
              </a:prstTxWarp>
            </a:bodyPr>
            <a:lstStyle/>
            <a:p>
              <a:pPr marL="40160" defTabSz="642552">
                <a:defRPr/>
              </a:pPr>
              <a:r>
                <a:rPr lang="en-US" sz="3200" kern="0" dirty="0">
                  <a:solidFill>
                    <a:srgbClr val="FFFF00"/>
                  </a:solidFill>
                  <a:latin typeface="Calibri"/>
                  <a:cs typeface="Calibri"/>
                  <a:sym typeface="Arial Bold" charset="0"/>
                </a:rPr>
                <a:t>Parallel De </a:t>
              </a:r>
              <a:r>
                <a:rPr lang="en-US" sz="3200" kern="0" dirty="0" err="1">
                  <a:solidFill>
                    <a:srgbClr val="FFFF00"/>
                  </a:solidFill>
                  <a:latin typeface="Calibri"/>
                  <a:cs typeface="Calibri"/>
                  <a:sym typeface="Arial Bold" charset="0"/>
                </a:rPr>
                <a:t>Bruijn</a:t>
              </a:r>
              <a:r>
                <a:rPr lang="en-US" sz="3200" kern="0" dirty="0">
                  <a:solidFill>
                    <a:srgbClr val="FFFF00"/>
                  </a:solidFill>
                  <a:latin typeface="Calibri"/>
                  <a:cs typeface="Calibri"/>
                  <a:sym typeface="Arial Bold" charset="0"/>
                </a:rPr>
                <a:t> Graph Construction</a:t>
              </a:r>
            </a:p>
          </p:txBody>
        </p:sp>
      </p:grpSp>
      <p:sp>
        <p:nvSpPr>
          <p:cNvPr id="60" name="Content Placeholder 2"/>
          <p:cNvSpPr>
            <a:spLocks noGrp="1"/>
          </p:cNvSpPr>
          <p:nvPr>
            <p:ph idx="1"/>
          </p:nvPr>
        </p:nvSpPr>
        <p:spPr>
          <a:xfrm>
            <a:off x="212714" y="1588968"/>
            <a:ext cx="8694219" cy="5269032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latin typeface="Arial"/>
                <a:cs typeface="Arial"/>
                <a:sym typeface="Wingdings"/>
              </a:rPr>
              <a:t>Challenge 1: </a:t>
            </a:r>
            <a:r>
              <a:rPr lang="en-US" sz="2400" dirty="0" smtClean="0">
                <a:latin typeface="Arial"/>
                <a:cs typeface="Arial"/>
                <a:sym typeface="Wingdings"/>
              </a:rPr>
              <a:t>The hash table that represents the de </a:t>
            </a:r>
            <a:r>
              <a:rPr lang="en-US" sz="2400" dirty="0" err="1" smtClean="0">
                <a:latin typeface="Arial"/>
                <a:cs typeface="Arial"/>
                <a:sym typeface="Wingdings"/>
              </a:rPr>
              <a:t>Bruijn</a:t>
            </a:r>
            <a:r>
              <a:rPr lang="en-US" sz="2400" dirty="0" smtClean="0">
                <a:latin typeface="Arial"/>
                <a:cs typeface="Arial"/>
                <a:sym typeface="Wingdings"/>
              </a:rPr>
              <a:t> graph is large (100s of GBs up to 10s of TBs !)</a:t>
            </a:r>
          </a:p>
          <a:p>
            <a:pPr lvl="1"/>
            <a:r>
              <a:rPr lang="en-US" sz="2400" b="1" dirty="0" smtClean="0">
                <a:latin typeface="Arial"/>
                <a:cs typeface="Arial"/>
                <a:sym typeface="Wingdings"/>
              </a:rPr>
              <a:t>Solution:</a:t>
            </a:r>
            <a:r>
              <a:rPr lang="en-US" sz="2400" dirty="0" smtClean="0">
                <a:latin typeface="Arial"/>
                <a:cs typeface="Arial"/>
                <a:sym typeface="Wingdings"/>
              </a:rPr>
              <a:t> Distribute the graph over multiple processors. The global address space of UPC is handy</a:t>
            </a:r>
            <a:r>
              <a:rPr lang="en-US" sz="2400" dirty="0">
                <a:latin typeface="Arial"/>
                <a:cs typeface="Arial"/>
                <a:sym typeface="Wingdings"/>
              </a:rPr>
              <a:t>!</a:t>
            </a:r>
            <a:endParaRPr lang="en-US" sz="2400" dirty="0" smtClean="0">
              <a:latin typeface="Arial"/>
              <a:cs typeface="Arial"/>
              <a:sym typeface="Wingdings"/>
            </a:endParaRPr>
          </a:p>
          <a:p>
            <a:pPr marL="0" indent="0">
              <a:buNone/>
            </a:pPr>
            <a:endParaRPr lang="en-US" sz="2400" dirty="0" smtClean="0">
              <a:latin typeface="Arial"/>
              <a:cs typeface="Arial"/>
              <a:sym typeface="Wingdings"/>
            </a:endParaRPr>
          </a:p>
          <a:p>
            <a:r>
              <a:rPr lang="en-US" sz="2400" b="1" dirty="0" smtClean="0">
                <a:latin typeface="Arial"/>
                <a:cs typeface="Arial"/>
                <a:sym typeface="Wingdings"/>
              </a:rPr>
              <a:t>Challenge 2: </a:t>
            </a:r>
            <a:r>
              <a:rPr lang="en-US" sz="2400" dirty="0" smtClean="0">
                <a:latin typeface="Arial"/>
                <a:cs typeface="Arial"/>
                <a:sym typeface="Wingdings"/>
              </a:rPr>
              <a:t>Parallel hash tables construction introduces communication and synchronization costs</a:t>
            </a:r>
          </a:p>
          <a:p>
            <a:pPr lvl="1"/>
            <a:r>
              <a:rPr lang="en-US" sz="2400" b="1" dirty="0" smtClean="0">
                <a:latin typeface="Arial"/>
                <a:cs typeface="Arial"/>
                <a:sym typeface="Wingdings"/>
              </a:rPr>
              <a:t>Solution: </a:t>
            </a:r>
            <a:r>
              <a:rPr lang="en-US" sz="2400" dirty="0" smtClean="0">
                <a:latin typeface="Arial"/>
                <a:cs typeface="Arial"/>
                <a:sym typeface="Wingdings"/>
              </a:rPr>
              <a:t>Aggregate messages to reduce number of messages and synchronization  </a:t>
            </a:r>
            <a:r>
              <a:rPr lang="en-US" sz="2400" b="1" dirty="0" smtClean="0">
                <a:latin typeface="Arial"/>
                <a:cs typeface="Arial"/>
                <a:sym typeface="Wingdings"/>
              </a:rPr>
              <a:t>10x-20x performance improvement.</a:t>
            </a:r>
            <a:endParaRPr lang="en-US" sz="2400" b="1" dirty="0" smtClean="0">
              <a:latin typeface="Arial"/>
              <a:cs typeface="Arial"/>
            </a:endParaRPr>
          </a:p>
          <a:p>
            <a:endParaRPr lang="en-US" sz="1800" dirty="0"/>
          </a:p>
          <a:p>
            <a:endParaRPr 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13084741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353023" y="3821502"/>
            <a:ext cx="423356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prstClr val="black"/>
                </a:solidFill>
                <a:latin typeface="Calibri"/>
              </a:rPr>
              <a:t>P</a:t>
            </a:r>
            <a:r>
              <a:rPr lang="en-US" baseline="-25000" dirty="0" smtClean="0">
                <a:solidFill>
                  <a:prstClr val="black"/>
                </a:solidFill>
                <a:latin typeface="Calibri"/>
              </a:rPr>
              <a:t>i</a:t>
            </a:r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72" name="Straight Arrow Connector 71"/>
          <p:cNvCxnSpPr>
            <a:endCxn id="55" idx="1"/>
          </p:cNvCxnSpPr>
          <p:nvPr/>
        </p:nvCxnSpPr>
        <p:spPr>
          <a:xfrm flipV="1">
            <a:off x="776386" y="1864589"/>
            <a:ext cx="793081" cy="20943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" name="Group 53"/>
          <p:cNvGrpSpPr/>
          <p:nvPr/>
        </p:nvGrpSpPr>
        <p:grpSpPr>
          <a:xfrm>
            <a:off x="1569467" y="1524000"/>
            <a:ext cx="130721" cy="1467810"/>
            <a:chOff x="7401296" y="2068004"/>
            <a:chExt cx="423356" cy="3477149"/>
          </a:xfrm>
        </p:grpSpPr>
        <p:grpSp>
          <p:nvGrpSpPr>
            <p:cNvPr id="3" name="Group 41"/>
            <p:cNvGrpSpPr/>
            <p:nvPr/>
          </p:nvGrpSpPr>
          <p:grpSpPr>
            <a:xfrm>
              <a:off x="7401296" y="2068004"/>
              <a:ext cx="423356" cy="1991371"/>
              <a:chOff x="7312686" y="2289348"/>
              <a:chExt cx="423356" cy="1991371"/>
            </a:xfrm>
          </p:grpSpPr>
          <p:sp>
            <p:nvSpPr>
              <p:cNvPr id="54" name="TextBox 36"/>
              <p:cNvSpPr txBox="1"/>
              <p:nvPr/>
            </p:nvSpPr>
            <p:spPr>
              <a:xfrm>
                <a:off x="7312686" y="2289348"/>
                <a:ext cx="423356" cy="87492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endParaRPr lang="en-US" dirty="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55" name="TextBox 37"/>
              <p:cNvSpPr txBox="1"/>
              <p:nvPr/>
            </p:nvSpPr>
            <p:spPr>
              <a:xfrm>
                <a:off x="7312686" y="2658679"/>
                <a:ext cx="423356" cy="87492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endParaRPr lang="en-US" dirty="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56" name="TextBox 38"/>
              <p:cNvSpPr txBox="1"/>
              <p:nvPr/>
            </p:nvSpPr>
            <p:spPr>
              <a:xfrm>
                <a:off x="7312686" y="3033853"/>
                <a:ext cx="423356" cy="87492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endParaRPr lang="en-US" dirty="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57" name="TextBox 39"/>
              <p:cNvSpPr txBox="1"/>
              <p:nvPr/>
            </p:nvSpPr>
            <p:spPr>
              <a:xfrm>
                <a:off x="7312686" y="3405795"/>
                <a:ext cx="423356" cy="87492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endParaRPr lang="en-US" dirty="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grpSp>
          <p:nvGrpSpPr>
            <p:cNvPr id="4" name="Group 42"/>
            <p:cNvGrpSpPr/>
            <p:nvPr/>
          </p:nvGrpSpPr>
          <p:grpSpPr>
            <a:xfrm>
              <a:off x="7401296" y="3553782"/>
              <a:ext cx="423356" cy="1991371"/>
              <a:chOff x="7312686" y="2289348"/>
              <a:chExt cx="423356" cy="1991371"/>
            </a:xfrm>
          </p:grpSpPr>
          <p:sp>
            <p:nvSpPr>
              <p:cNvPr id="50" name="TextBox 43"/>
              <p:cNvSpPr txBox="1"/>
              <p:nvPr/>
            </p:nvSpPr>
            <p:spPr>
              <a:xfrm>
                <a:off x="7312686" y="2289348"/>
                <a:ext cx="423356" cy="87492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endParaRPr lang="en-US" dirty="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51" name="TextBox 44"/>
              <p:cNvSpPr txBox="1"/>
              <p:nvPr/>
            </p:nvSpPr>
            <p:spPr>
              <a:xfrm>
                <a:off x="7312686" y="2658679"/>
                <a:ext cx="423356" cy="87492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endParaRPr lang="en-US" dirty="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52" name="TextBox 45"/>
              <p:cNvSpPr txBox="1"/>
              <p:nvPr/>
            </p:nvSpPr>
            <p:spPr>
              <a:xfrm>
                <a:off x="7312686" y="3033853"/>
                <a:ext cx="423356" cy="87492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endParaRPr lang="en-US" dirty="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53" name="TextBox 46"/>
              <p:cNvSpPr txBox="1"/>
              <p:nvPr/>
            </p:nvSpPr>
            <p:spPr>
              <a:xfrm>
                <a:off x="7312686" y="3405795"/>
                <a:ext cx="423356" cy="87492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endParaRPr lang="en-US" dirty="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</p:grpSp>
      <p:grpSp>
        <p:nvGrpSpPr>
          <p:cNvPr id="5" name="Group 53"/>
          <p:cNvGrpSpPr/>
          <p:nvPr/>
        </p:nvGrpSpPr>
        <p:grpSpPr>
          <a:xfrm>
            <a:off x="1569467" y="3092102"/>
            <a:ext cx="130721" cy="1467810"/>
            <a:chOff x="7401296" y="2068004"/>
            <a:chExt cx="423356" cy="3477149"/>
          </a:xfrm>
        </p:grpSpPr>
        <p:grpSp>
          <p:nvGrpSpPr>
            <p:cNvPr id="6" name="Group 41"/>
            <p:cNvGrpSpPr/>
            <p:nvPr/>
          </p:nvGrpSpPr>
          <p:grpSpPr>
            <a:xfrm>
              <a:off x="7401296" y="2068004"/>
              <a:ext cx="423356" cy="1991371"/>
              <a:chOff x="7312686" y="2289348"/>
              <a:chExt cx="423356" cy="1991371"/>
            </a:xfrm>
          </p:grpSpPr>
          <p:sp>
            <p:nvSpPr>
              <p:cNvPr id="67" name="TextBox 36"/>
              <p:cNvSpPr txBox="1"/>
              <p:nvPr/>
            </p:nvSpPr>
            <p:spPr>
              <a:xfrm>
                <a:off x="7312686" y="2289348"/>
                <a:ext cx="423356" cy="87492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endParaRPr lang="en-US" dirty="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69" name="TextBox 37"/>
              <p:cNvSpPr txBox="1"/>
              <p:nvPr/>
            </p:nvSpPr>
            <p:spPr>
              <a:xfrm>
                <a:off x="7312686" y="2658679"/>
                <a:ext cx="423356" cy="87492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endParaRPr lang="en-US" dirty="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70" name="TextBox 38"/>
              <p:cNvSpPr txBox="1"/>
              <p:nvPr/>
            </p:nvSpPr>
            <p:spPr>
              <a:xfrm>
                <a:off x="7312686" y="3033853"/>
                <a:ext cx="423356" cy="87492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endParaRPr lang="en-US" dirty="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71" name="TextBox 39"/>
              <p:cNvSpPr txBox="1"/>
              <p:nvPr/>
            </p:nvSpPr>
            <p:spPr>
              <a:xfrm>
                <a:off x="7312686" y="3405795"/>
                <a:ext cx="423356" cy="87492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endParaRPr lang="en-US" dirty="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grpSp>
          <p:nvGrpSpPr>
            <p:cNvPr id="7" name="Group 42"/>
            <p:cNvGrpSpPr/>
            <p:nvPr/>
          </p:nvGrpSpPr>
          <p:grpSpPr>
            <a:xfrm>
              <a:off x="7401296" y="3553782"/>
              <a:ext cx="423356" cy="1991371"/>
              <a:chOff x="7312686" y="2289348"/>
              <a:chExt cx="423356" cy="1991371"/>
            </a:xfrm>
          </p:grpSpPr>
          <p:sp>
            <p:nvSpPr>
              <p:cNvPr id="61" name="TextBox 43"/>
              <p:cNvSpPr txBox="1"/>
              <p:nvPr/>
            </p:nvSpPr>
            <p:spPr>
              <a:xfrm>
                <a:off x="7312686" y="2289348"/>
                <a:ext cx="423356" cy="87492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endParaRPr lang="en-US" dirty="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62" name="TextBox 44"/>
              <p:cNvSpPr txBox="1"/>
              <p:nvPr/>
            </p:nvSpPr>
            <p:spPr>
              <a:xfrm>
                <a:off x="7312686" y="2658679"/>
                <a:ext cx="423356" cy="87492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endParaRPr lang="en-US" dirty="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63" name="TextBox 45"/>
              <p:cNvSpPr txBox="1"/>
              <p:nvPr/>
            </p:nvSpPr>
            <p:spPr>
              <a:xfrm>
                <a:off x="7312686" y="3033853"/>
                <a:ext cx="423356" cy="87492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endParaRPr lang="en-US" dirty="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64" name="TextBox 46"/>
              <p:cNvSpPr txBox="1"/>
              <p:nvPr/>
            </p:nvSpPr>
            <p:spPr>
              <a:xfrm>
                <a:off x="7312686" y="3405795"/>
                <a:ext cx="423356" cy="87492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endParaRPr lang="en-US" dirty="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</p:grpSp>
      <p:grpSp>
        <p:nvGrpSpPr>
          <p:cNvPr id="8" name="Group 53"/>
          <p:cNvGrpSpPr/>
          <p:nvPr/>
        </p:nvGrpSpPr>
        <p:grpSpPr>
          <a:xfrm>
            <a:off x="1569467" y="5248954"/>
            <a:ext cx="130721" cy="1467810"/>
            <a:chOff x="7401296" y="2068004"/>
            <a:chExt cx="423356" cy="3477149"/>
          </a:xfrm>
        </p:grpSpPr>
        <p:grpSp>
          <p:nvGrpSpPr>
            <p:cNvPr id="9" name="Group 41"/>
            <p:cNvGrpSpPr/>
            <p:nvPr/>
          </p:nvGrpSpPr>
          <p:grpSpPr>
            <a:xfrm>
              <a:off x="7401296" y="2068004"/>
              <a:ext cx="423356" cy="1991371"/>
              <a:chOff x="7312686" y="2289348"/>
              <a:chExt cx="423356" cy="1991371"/>
            </a:xfrm>
          </p:grpSpPr>
          <p:sp>
            <p:nvSpPr>
              <p:cNvPr id="83" name="TextBox 36"/>
              <p:cNvSpPr txBox="1"/>
              <p:nvPr/>
            </p:nvSpPr>
            <p:spPr>
              <a:xfrm>
                <a:off x="7312686" y="2289348"/>
                <a:ext cx="423356" cy="87492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endParaRPr lang="en-US" dirty="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85" name="TextBox 37"/>
              <p:cNvSpPr txBox="1"/>
              <p:nvPr/>
            </p:nvSpPr>
            <p:spPr>
              <a:xfrm>
                <a:off x="7312686" y="2658679"/>
                <a:ext cx="423356" cy="87492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endParaRPr lang="en-US" dirty="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86" name="TextBox 38"/>
              <p:cNvSpPr txBox="1"/>
              <p:nvPr/>
            </p:nvSpPr>
            <p:spPr>
              <a:xfrm>
                <a:off x="7312686" y="3033853"/>
                <a:ext cx="423356" cy="87492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endParaRPr lang="en-US" dirty="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87" name="TextBox 39"/>
              <p:cNvSpPr txBox="1"/>
              <p:nvPr/>
            </p:nvSpPr>
            <p:spPr>
              <a:xfrm>
                <a:off x="7312686" y="3405795"/>
                <a:ext cx="423356" cy="87492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endParaRPr lang="en-US" dirty="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grpSp>
          <p:nvGrpSpPr>
            <p:cNvPr id="11" name="Group 42"/>
            <p:cNvGrpSpPr/>
            <p:nvPr/>
          </p:nvGrpSpPr>
          <p:grpSpPr>
            <a:xfrm>
              <a:off x="7401296" y="3553782"/>
              <a:ext cx="423356" cy="1991371"/>
              <a:chOff x="7312686" y="2289348"/>
              <a:chExt cx="423356" cy="1991371"/>
            </a:xfrm>
          </p:grpSpPr>
          <p:sp>
            <p:nvSpPr>
              <p:cNvPr id="77" name="TextBox 43"/>
              <p:cNvSpPr txBox="1"/>
              <p:nvPr/>
            </p:nvSpPr>
            <p:spPr>
              <a:xfrm>
                <a:off x="7312686" y="2289348"/>
                <a:ext cx="423356" cy="87492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endParaRPr lang="en-US" dirty="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79" name="TextBox 44"/>
              <p:cNvSpPr txBox="1"/>
              <p:nvPr/>
            </p:nvSpPr>
            <p:spPr>
              <a:xfrm>
                <a:off x="7312686" y="2658679"/>
                <a:ext cx="423356" cy="87492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endParaRPr lang="en-US" dirty="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80" name="TextBox 45"/>
              <p:cNvSpPr txBox="1"/>
              <p:nvPr/>
            </p:nvSpPr>
            <p:spPr>
              <a:xfrm>
                <a:off x="7312686" y="3033853"/>
                <a:ext cx="423356" cy="87492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endParaRPr lang="en-US" dirty="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82" name="TextBox 46"/>
              <p:cNvSpPr txBox="1"/>
              <p:nvPr/>
            </p:nvSpPr>
            <p:spPr>
              <a:xfrm>
                <a:off x="7312686" y="3405795"/>
                <a:ext cx="423356" cy="87492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endParaRPr lang="en-US" dirty="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</p:grpSp>
      <p:sp>
        <p:nvSpPr>
          <p:cNvPr id="88" name="TextBox 13"/>
          <p:cNvSpPr txBox="1"/>
          <p:nvPr/>
        </p:nvSpPr>
        <p:spPr>
          <a:xfrm>
            <a:off x="1423085" y="4585116"/>
            <a:ext cx="413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prstClr val="black"/>
                </a:solidFill>
                <a:latin typeface="Calibri"/>
              </a:rPr>
              <a:t>…</a:t>
            </a:r>
            <a:endParaRPr lang="en-US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0" name="89 - TextBox"/>
          <p:cNvSpPr txBox="1"/>
          <p:nvPr/>
        </p:nvSpPr>
        <p:spPr>
          <a:xfrm>
            <a:off x="1700179" y="1952148"/>
            <a:ext cx="14492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prstClr val="black"/>
                </a:solidFill>
                <a:latin typeface="Calibri"/>
              </a:rPr>
              <a:t>Local buffer for P</a:t>
            </a:r>
            <a:r>
              <a:rPr lang="en-US" sz="1200" baseline="-25000" dirty="0" smtClean="0">
                <a:solidFill>
                  <a:prstClr val="black"/>
                </a:solidFill>
                <a:latin typeface="Calibri"/>
              </a:rPr>
              <a:t>0</a:t>
            </a:r>
            <a:endParaRPr lang="en-US" sz="1200" baseline="-25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1" name="90 - TextBox"/>
          <p:cNvSpPr txBox="1"/>
          <p:nvPr/>
        </p:nvSpPr>
        <p:spPr>
          <a:xfrm>
            <a:off x="1940943" y="3451960"/>
            <a:ext cx="14492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prstClr val="black"/>
                </a:solidFill>
                <a:latin typeface="Calibri"/>
              </a:rPr>
              <a:t>Local buffer for P</a:t>
            </a:r>
            <a:r>
              <a:rPr lang="en-US" sz="1200" baseline="-25000" dirty="0" smtClean="0">
                <a:solidFill>
                  <a:prstClr val="black"/>
                </a:solidFill>
                <a:latin typeface="Calibri"/>
              </a:rPr>
              <a:t>1</a:t>
            </a:r>
            <a:endParaRPr lang="en-US" sz="1200" baseline="-25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2" name="91 - TextBox"/>
          <p:cNvSpPr txBox="1"/>
          <p:nvPr/>
        </p:nvSpPr>
        <p:spPr>
          <a:xfrm>
            <a:off x="1940943" y="5737664"/>
            <a:ext cx="14492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prstClr val="black"/>
                </a:solidFill>
                <a:latin typeface="Calibri"/>
              </a:rPr>
              <a:t>Local buffer for </a:t>
            </a:r>
            <a:r>
              <a:rPr lang="en-US" sz="1200" dirty="0" err="1" smtClean="0">
                <a:solidFill>
                  <a:prstClr val="black"/>
                </a:solidFill>
                <a:latin typeface="Calibri"/>
              </a:rPr>
              <a:t>P</a:t>
            </a:r>
            <a:r>
              <a:rPr lang="en-US" sz="1200" baseline="-25000" dirty="0" err="1" smtClean="0">
                <a:solidFill>
                  <a:prstClr val="black"/>
                </a:solidFill>
                <a:latin typeface="Calibri"/>
              </a:rPr>
              <a:t>n</a:t>
            </a:r>
            <a:endParaRPr lang="en-US" sz="1200" baseline="-25000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94" name="Straight Arrow Connector 71"/>
          <p:cNvCxnSpPr>
            <a:stCxn id="10" idx="3"/>
            <a:endCxn id="86" idx="1"/>
          </p:cNvCxnSpPr>
          <p:nvPr/>
        </p:nvCxnSpPr>
        <p:spPr>
          <a:xfrm>
            <a:off x="776386" y="4006168"/>
            <a:ext cx="793081" cy="17417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71"/>
          <p:cNvCxnSpPr>
            <a:stCxn id="10" idx="3"/>
            <a:endCxn id="51" idx="1"/>
          </p:cNvCxnSpPr>
          <p:nvPr/>
        </p:nvCxnSpPr>
        <p:spPr>
          <a:xfrm flipV="1">
            <a:off x="776386" y="2491764"/>
            <a:ext cx="793081" cy="151440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71"/>
          <p:cNvCxnSpPr>
            <a:stCxn id="10" idx="3"/>
            <a:endCxn id="53" idx="1"/>
          </p:cNvCxnSpPr>
          <p:nvPr/>
        </p:nvCxnSpPr>
        <p:spPr>
          <a:xfrm flipV="1">
            <a:off x="776386" y="2807144"/>
            <a:ext cx="793081" cy="119902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" name="Group 53"/>
          <p:cNvGrpSpPr/>
          <p:nvPr/>
        </p:nvGrpSpPr>
        <p:grpSpPr>
          <a:xfrm>
            <a:off x="5825165" y="1524000"/>
            <a:ext cx="130721" cy="1467810"/>
            <a:chOff x="7401296" y="2068004"/>
            <a:chExt cx="423356" cy="3477149"/>
          </a:xfrm>
        </p:grpSpPr>
        <p:grpSp>
          <p:nvGrpSpPr>
            <p:cNvPr id="13" name="Group 41"/>
            <p:cNvGrpSpPr/>
            <p:nvPr/>
          </p:nvGrpSpPr>
          <p:grpSpPr>
            <a:xfrm>
              <a:off x="7401296" y="2068004"/>
              <a:ext cx="423356" cy="1991371"/>
              <a:chOff x="7312686" y="2289348"/>
              <a:chExt cx="423356" cy="1991371"/>
            </a:xfrm>
          </p:grpSpPr>
          <p:sp>
            <p:nvSpPr>
              <p:cNvPr id="66" name="TextBox 36"/>
              <p:cNvSpPr txBox="1"/>
              <p:nvPr/>
            </p:nvSpPr>
            <p:spPr>
              <a:xfrm>
                <a:off x="7312686" y="2289348"/>
                <a:ext cx="423356" cy="87492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endParaRPr lang="en-US" dirty="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68" name="TextBox 37"/>
              <p:cNvSpPr txBox="1"/>
              <p:nvPr/>
            </p:nvSpPr>
            <p:spPr>
              <a:xfrm>
                <a:off x="7312686" y="2658679"/>
                <a:ext cx="423356" cy="87492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endParaRPr lang="en-US" dirty="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73" name="TextBox 38"/>
              <p:cNvSpPr txBox="1"/>
              <p:nvPr/>
            </p:nvSpPr>
            <p:spPr>
              <a:xfrm>
                <a:off x="7312686" y="3033853"/>
                <a:ext cx="423356" cy="87492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endParaRPr lang="en-US" dirty="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74" name="TextBox 39"/>
              <p:cNvSpPr txBox="1"/>
              <p:nvPr/>
            </p:nvSpPr>
            <p:spPr>
              <a:xfrm>
                <a:off x="7312686" y="3405795"/>
                <a:ext cx="423356" cy="87492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endParaRPr lang="en-US" dirty="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grpSp>
          <p:nvGrpSpPr>
            <p:cNvPr id="14" name="Group 42"/>
            <p:cNvGrpSpPr/>
            <p:nvPr/>
          </p:nvGrpSpPr>
          <p:grpSpPr>
            <a:xfrm>
              <a:off x="7401296" y="3553782"/>
              <a:ext cx="423356" cy="1991371"/>
              <a:chOff x="7312686" y="2289348"/>
              <a:chExt cx="423356" cy="1991371"/>
            </a:xfrm>
          </p:grpSpPr>
          <p:sp>
            <p:nvSpPr>
              <p:cNvPr id="58" name="TextBox 43"/>
              <p:cNvSpPr txBox="1"/>
              <p:nvPr/>
            </p:nvSpPr>
            <p:spPr>
              <a:xfrm>
                <a:off x="7312686" y="2289348"/>
                <a:ext cx="423356" cy="87492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endParaRPr lang="en-US" dirty="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59" name="TextBox 44"/>
              <p:cNvSpPr txBox="1"/>
              <p:nvPr/>
            </p:nvSpPr>
            <p:spPr>
              <a:xfrm>
                <a:off x="7312686" y="2658679"/>
                <a:ext cx="423356" cy="87492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endParaRPr lang="en-US" dirty="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60" name="TextBox 45"/>
              <p:cNvSpPr txBox="1"/>
              <p:nvPr/>
            </p:nvSpPr>
            <p:spPr>
              <a:xfrm>
                <a:off x="7312686" y="3033853"/>
                <a:ext cx="423356" cy="87492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endParaRPr lang="en-US" dirty="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65" name="TextBox 46"/>
              <p:cNvSpPr txBox="1"/>
              <p:nvPr/>
            </p:nvSpPr>
            <p:spPr>
              <a:xfrm>
                <a:off x="7312686" y="3405795"/>
                <a:ext cx="423356" cy="87492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endParaRPr lang="en-US" dirty="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</p:grpSp>
      <p:cxnSp>
        <p:nvCxnSpPr>
          <p:cNvPr id="76" name="Straight Arrow Connector 71"/>
          <p:cNvCxnSpPr>
            <a:stCxn id="50" idx="3"/>
            <a:endCxn id="58" idx="1"/>
          </p:cNvCxnSpPr>
          <p:nvPr/>
        </p:nvCxnSpPr>
        <p:spPr>
          <a:xfrm>
            <a:off x="1700188" y="2335858"/>
            <a:ext cx="4124977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88 - TextBox"/>
          <p:cNvSpPr txBox="1"/>
          <p:nvPr/>
        </p:nvSpPr>
        <p:spPr>
          <a:xfrm>
            <a:off x="4375920" y="1936086"/>
            <a:ext cx="14492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prstClr val="black"/>
                </a:solidFill>
                <a:latin typeface="Calibri"/>
              </a:rPr>
              <a:t>Buffer local to P</a:t>
            </a:r>
            <a:r>
              <a:rPr lang="en-US" sz="1200" baseline="-25000" dirty="0" smtClean="0">
                <a:solidFill>
                  <a:prstClr val="black"/>
                </a:solidFill>
                <a:latin typeface="Calibri"/>
              </a:rPr>
              <a:t>0</a:t>
            </a:r>
            <a:endParaRPr lang="en-US" sz="1200" baseline="-25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7" name="TextBox 64"/>
          <p:cNvSpPr txBox="1"/>
          <p:nvPr/>
        </p:nvSpPr>
        <p:spPr>
          <a:xfrm>
            <a:off x="7646463" y="1243604"/>
            <a:ext cx="13523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prstClr val="black"/>
                </a:solidFill>
                <a:latin typeface="Calibri"/>
              </a:rPr>
              <a:t>Distributed</a:t>
            </a:r>
          </a:p>
          <a:p>
            <a:r>
              <a:rPr lang="en-US" dirty="0" smtClean="0">
                <a:solidFill>
                  <a:prstClr val="black"/>
                </a:solidFill>
                <a:latin typeface="Calibri"/>
              </a:rPr>
              <a:t>Hash table</a:t>
            </a:r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15" name="123 - Ομάδα"/>
          <p:cNvGrpSpPr/>
          <p:nvPr/>
        </p:nvGrpSpPr>
        <p:grpSpPr>
          <a:xfrm>
            <a:off x="7762284" y="2065318"/>
            <a:ext cx="1348717" cy="4435410"/>
            <a:chOff x="7087917" y="2058581"/>
            <a:chExt cx="1348717" cy="4435410"/>
          </a:xfrm>
        </p:grpSpPr>
        <p:grpSp>
          <p:nvGrpSpPr>
            <p:cNvPr id="16" name="118 - Ομάδα"/>
            <p:cNvGrpSpPr/>
            <p:nvPr/>
          </p:nvGrpSpPr>
          <p:grpSpPr>
            <a:xfrm>
              <a:off x="7087917" y="2058581"/>
              <a:ext cx="423356" cy="4435410"/>
              <a:chOff x="7475389" y="1942526"/>
              <a:chExt cx="423356" cy="4435410"/>
            </a:xfrm>
          </p:grpSpPr>
          <p:grpSp>
            <p:nvGrpSpPr>
              <p:cNvPr id="17" name="Group 53"/>
              <p:cNvGrpSpPr/>
              <p:nvPr/>
            </p:nvGrpSpPr>
            <p:grpSpPr>
              <a:xfrm>
                <a:off x="7475389" y="1942526"/>
                <a:ext cx="423356" cy="2971556"/>
                <a:chOff x="7401296" y="2068004"/>
                <a:chExt cx="423356" cy="2971556"/>
              </a:xfrm>
            </p:grpSpPr>
            <p:grpSp>
              <p:nvGrpSpPr>
                <p:cNvPr id="18" name="Group 41"/>
                <p:cNvGrpSpPr/>
                <p:nvPr/>
              </p:nvGrpSpPr>
              <p:grpSpPr>
                <a:xfrm>
                  <a:off x="7401296" y="2068004"/>
                  <a:ext cx="423356" cy="1485778"/>
                  <a:chOff x="7312686" y="2289348"/>
                  <a:chExt cx="423356" cy="1485778"/>
                </a:xfrm>
              </p:grpSpPr>
              <p:sp>
                <p:nvSpPr>
                  <p:cNvPr id="103" name="TextBox 36"/>
                  <p:cNvSpPr txBox="1"/>
                  <p:nvPr/>
                </p:nvSpPr>
                <p:spPr>
                  <a:xfrm>
                    <a:off x="7312686" y="2289348"/>
                    <a:ext cx="423356" cy="369332"/>
                  </a:xfrm>
                  <a:prstGeom prst="rect">
                    <a:avLst/>
                  </a:prstGeom>
                  <a:solidFill>
                    <a:schemeClr val="bg2">
                      <a:lumMod val="75000"/>
                    </a:schemeClr>
                  </a:solidFill>
                </p:spPr>
                <p:style>
                  <a:lnRef idx="2">
                    <a:schemeClr val="accent4"/>
                  </a:lnRef>
                  <a:fillRef idx="1">
                    <a:schemeClr val="lt1"/>
                  </a:fillRef>
                  <a:effectRef idx="0">
                    <a:schemeClr val="accent4"/>
                  </a:effectRef>
                  <a:fontRef idx="minor">
                    <a:schemeClr val="dk1"/>
                  </a:fontRef>
                </p:style>
                <p:txBody>
                  <a:bodyPr wrap="square" rtlCol="0">
                    <a:spAutoFit/>
                  </a:bodyPr>
                  <a:lstStyle/>
                  <a:p>
                    <a:endParaRPr lang="en-US" dirty="0">
                      <a:solidFill>
                        <a:prstClr val="black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04" name="TextBox 37"/>
                  <p:cNvSpPr txBox="1"/>
                  <p:nvPr/>
                </p:nvSpPr>
                <p:spPr>
                  <a:xfrm>
                    <a:off x="7312686" y="2658680"/>
                    <a:ext cx="423356" cy="369332"/>
                  </a:xfrm>
                  <a:prstGeom prst="rect">
                    <a:avLst/>
                  </a:prstGeom>
                  <a:solidFill>
                    <a:schemeClr val="bg2">
                      <a:lumMod val="75000"/>
                    </a:schemeClr>
                  </a:solidFill>
                </p:spPr>
                <p:style>
                  <a:lnRef idx="2">
                    <a:schemeClr val="accent4"/>
                  </a:lnRef>
                  <a:fillRef idx="1">
                    <a:schemeClr val="lt1"/>
                  </a:fillRef>
                  <a:effectRef idx="0">
                    <a:schemeClr val="accent4"/>
                  </a:effectRef>
                  <a:fontRef idx="minor">
                    <a:schemeClr val="dk1"/>
                  </a:fontRef>
                </p:style>
                <p:txBody>
                  <a:bodyPr wrap="square" rtlCol="0">
                    <a:spAutoFit/>
                  </a:bodyPr>
                  <a:lstStyle/>
                  <a:p>
                    <a:endParaRPr lang="en-US" dirty="0">
                      <a:solidFill>
                        <a:prstClr val="black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05" name="TextBox 38"/>
                  <p:cNvSpPr txBox="1"/>
                  <p:nvPr/>
                </p:nvSpPr>
                <p:spPr>
                  <a:xfrm>
                    <a:off x="7312686" y="3033852"/>
                    <a:ext cx="423356" cy="369332"/>
                  </a:xfrm>
                  <a:prstGeom prst="rect">
                    <a:avLst/>
                  </a:prstGeom>
                  <a:solidFill>
                    <a:schemeClr val="bg2">
                      <a:lumMod val="75000"/>
                    </a:schemeClr>
                  </a:solidFill>
                </p:spPr>
                <p:style>
                  <a:lnRef idx="2">
                    <a:schemeClr val="accent4"/>
                  </a:lnRef>
                  <a:fillRef idx="1">
                    <a:schemeClr val="lt1"/>
                  </a:fillRef>
                  <a:effectRef idx="0">
                    <a:schemeClr val="accent4"/>
                  </a:effectRef>
                  <a:fontRef idx="minor">
                    <a:schemeClr val="dk1"/>
                  </a:fontRef>
                </p:style>
                <p:txBody>
                  <a:bodyPr wrap="square" rtlCol="0">
                    <a:spAutoFit/>
                  </a:bodyPr>
                  <a:lstStyle/>
                  <a:p>
                    <a:endParaRPr lang="en-US" dirty="0">
                      <a:solidFill>
                        <a:prstClr val="black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06" name="TextBox 39"/>
                  <p:cNvSpPr txBox="1"/>
                  <p:nvPr/>
                </p:nvSpPr>
                <p:spPr>
                  <a:xfrm>
                    <a:off x="7312686" y="3405794"/>
                    <a:ext cx="423356" cy="369332"/>
                  </a:xfrm>
                  <a:prstGeom prst="rect">
                    <a:avLst/>
                  </a:prstGeom>
                  <a:solidFill>
                    <a:schemeClr val="bg2">
                      <a:lumMod val="75000"/>
                    </a:schemeClr>
                  </a:solidFill>
                </p:spPr>
                <p:style>
                  <a:lnRef idx="2">
                    <a:schemeClr val="accent4"/>
                  </a:lnRef>
                  <a:fillRef idx="1">
                    <a:schemeClr val="lt1"/>
                  </a:fillRef>
                  <a:effectRef idx="0">
                    <a:schemeClr val="accent4"/>
                  </a:effectRef>
                  <a:fontRef idx="minor">
                    <a:schemeClr val="dk1"/>
                  </a:fontRef>
                </p:style>
                <p:txBody>
                  <a:bodyPr wrap="square" rtlCol="0">
                    <a:spAutoFit/>
                  </a:bodyPr>
                  <a:lstStyle/>
                  <a:p>
                    <a:endParaRPr lang="en-US" dirty="0">
                      <a:solidFill>
                        <a:prstClr val="black"/>
                      </a:solidFill>
                      <a:latin typeface="Calibri"/>
                    </a:endParaRPr>
                  </a:p>
                </p:txBody>
              </p:sp>
            </p:grpSp>
            <p:grpSp>
              <p:nvGrpSpPr>
                <p:cNvPr id="19" name="Group 42"/>
                <p:cNvGrpSpPr/>
                <p:nvPr/>
              </p:nvGrpSpPr>
              <p:grpSpPr>
                <a:xfrm>
                  <a:off x="7401296" y="3553782"/>
                  <a:ext cx="423356" cy="1485778"/>
                  <a:chOff x="7312686" y="2289348"/>
                  <a:chExt cx="423356" cy="1485778"/>
                </a:xfrm>
              </p:grpSpPr>
              <p:sp>
                <p:nvSpPr>
                  <p:cNvPr id="99" name="TextBox 43"/>
                  <p:cNvSpPr txBox="1"/>
                  <p:nvPr/>
                </p:nvSpPr>
                <p:spPr>
                  <a:xfrm>
                    <a:off x="7312686" y="2289348"/>
                    <a:ext cx="423356" cy="369332"/>
                  </a:xfrm>
                  <a:prstGeom prst="rect">
                    <a:avLst/>
                  </a:prstGeom>
                  <a:solidFill>
                    <a:schemeClr val="bg2">
                      <a:lumMod val="75000"/>
                    </a:schemeClr>
                  </a:solidFill>
                </p:spPr>
                <p:style>
                  <a:lnRef idx="2">
                    <a:schemeClr val="accent4"/>
                  </a:lnRef>
                  <a:fillRef idx="1">
                    <a:schemeClr val="lt1"/>
                  </a:fillRef>
                  <a:effectRef idx="0">
                    <a:schemeClr val="accent4"/>
                  </a:effectRef>
                  <a:fontRef idx="minor">
                    <a:schemeClr val="dk1"/>
                  </a:fontRef>
                </p:style>
                <p:txBody>
                  <a:bodyPr wrap="square" rtlCol="0">
                    <a:spAutoFit/>
                  </a:bodyPr>
                  <a:lstStyle/>
                  <a:p>
                    <a:endParaRPr lang="en-US" dirty="0">
                      <a:solidFill>
                        <a:prstClr val="black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00" name="TextBox 44"/>
                  <p:cNvSpPr txBox="1"/>
                  <p:nvPr/>
                </p:nvSpPr>
                <p:spPr>
                  <a:xfrm>
                    <a:off x="7312686" y="2658680"/>
                    <a:ext cx="423356" cy="369332"/>
                  </a:xfrm>
                  <a:prstGeom prst="rect">
                    <a:avLst/>
                  </a:prstGeom>
                  <a:solidFill>
                    <a:schemeClr val="bg2">
                      <a:lumMod val="75000"/>
                    </a:schemeClr>
                  </a:solidFill>
                </p:spPr>
                <p:style>
                  <a:lnRef idx="2">
                    <a:schemeClr val="accent4"/>
                  </a:lnRef>
                  <a:fillRef idx="1">
                    <a:schemeClr val="lt1"/>
                  </a:fillRef>
                  <a:effectRef idx="0">
                    <a:schemeClr val="accent4"/>
                  </a:effectRef>
                  <a:fontRef idx="minor">
                    <a:schemeClr val="dk1"/>
                  </a:fontRef>
                </p:style>
                <p:txBody>
                  <a:bodyPr wrap="square" rtlCol="0">
                    <a:spAutoFit/>
                  </a:bodyPr>
                  <a:lstStyle/>
                  <a:p>
                    <a:endParaRPr lang="en-US" dirty="0">
                      <a:solidFill>
                        <a:prstClr val="black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01" name="TextBox 45"/>
                  <p:cNvSpPr txBox="1"/>
                  <p:nvPr/>
                </p:nvSpPr>
                <p:spPr>
                  <a:xfrm>
                    <a:off x="7312686" y="3033852"/>
                    <a:ext cx="423356" cy="369332"/>
                  </a:xfrm>
                  <a:prstGeom prst="rect">
                    <a:avLst/>
                  </a:prstGeom>
                  <a:solidFill>
                    <a:schemeClr val="bg2">
                      <a:lumMod val="75000"/>
                    </a:schemeClr>
                  </a:solidFill>
                </p:spPr>
                <p:style>
                  <a:lnRef idx="2">
                    <a:schemeClr val="accent4"/>
                  </a:lnRef>
                  <a:fillRef idx="1">
                    <a:schemeClr val="lt1"/>
                  </a:fillRef>
                  <a:effectRef idx="0">
                    <a:schemeClr val="accent4"/>
                  </a:effectRef>
                  <a:fontRef idx="minor">
                    <a:schemeClr val="dk1"/>
                  </a:fontRef>
                </p:style>
                <p:txBody>
                  <a:bodyPr wrap="square" rtlCol="0">
                    <a:spAutoFit/>
                  </a:bodyPr>
                  <a:lstStyle/>
                  <a:p>
                    <a:endParaRPr lang="en-US" dirty="0">
                      <a:solidFill>
                        <a:prstClr val="black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02" name="TextBox 46"/>
                  <p:cNvSpPr txBox="1"/>
                  <p:nvPr/>
                </p:nvSpPr>
                <p:spPr>
                  <a:xfrm>
                    <a:off x="7312686" y="3405794"/>
                    <a:ext cx="423356" cy="369332"/>
                  </a:xfrm>
                  <a:prstGeom prst="rect">
                    <a:avLst/>
                  </a:prstGeom>
                  <a:solidFill>
                    <a:schemeClr val="bg2">
                      <a:lumMod val="75000"/>
                    </a:schemeClr>
                  </a:solidFill>
                </p:spPr>
                <p:style>
                  <a:lnRef idx="2">
                    <a:schemeClr val="accent4"/>
                  </a:lnRef>
                  <a:fillRef idx="1">
                    <a:schemeClr val="lt1"/>
                  </a:fillRef>
                  <a:effectRef idx="0">
                    <a:schemeClr val="accent4"/>
                  </a:effectRef>
                  <a:fontRef idx="minor">
                    <a:schemeClr val="dk1"/>
                  </a:fontRef>
                </p:style>
                <p:txBody>
                  <a:bodyPr wrap="square" rtlCol="0">
                    <a:spAutoFit/>
                  </a:bodyPr>
                  <a:lstStyle/>
                  <a:p>
                    <a:endParaRPr lang="en-US" dirty="0">
                      <a:solidFill>
                        <a:prstClr val="black"/>
                      </a:solidFill>
                      <a:latin typeface="Calibri"/>
                    </a:endParaRPr>
                  </a:p>
                </p:txBody>
              </p:sp>
            </p:grpSp>
          </p:grpSp>
          <p:grpSp>
            <p:nvGrpSpPr>
              <p:cNvPr id="20" name="Group 53"/>
              <p:cNvGrpSpPr/>
              <p:nvPr/>
            </p:nvGrpSpPr>
            <p:grpSpPr>
              <a:xfrm>
                <a:off x="7475389" y="3406380"/>
                <a:ext cx="423356" cy="2971556"/>
                <a:chOff x="7401296" y="2068004"/>
                <a:chExt cx="423356" cy="2971556"/>
              </a:xfrm>
            </p:grpSpPr>
            <p:grpSp>
              <p:nvGrpSpPr>
                <p:cNvPr id="21" name="Group 41"/>
                <p:cNvGrpSpPr/>
                <p:nvPr/>
              </p:nvGrpSpPr>
              <p:grpSpPr>
                <a:xfrm>
                  <a:off x="7401296" y="2068004"/>
                  <a:ext cx="423356" cy="1485778"/>
                  <a:chOff x="7312686" y="2289348"/>
                  <a:chExt cx="423356" cy="1485778"/>
                </a:xfrm>
              </p:grpSpPr>
              <p:sp>
                <p:nvSpPr>
                  <p:cNvPr id="115" name="TextBox 36"/>
                  <p:cNvSpPr txBox="1"/>
                  <p:nvPr/>
                </p:nvSpPr>
                <p:spPr>
                  <a:xfrm>
                    <a:off x="7312686" y="2289348"/>
                    <a:ext cx="423356" cy="369332"/>
                  </a:xfrm>
                  <a:prstGeom prst="rect">
                    <a:avLst/>
                  </a:prstGeom>
                  <a:solidFill>
                    <a:schemeClr val="bg2">
                      <a:lumMod val="75000"/>
                    </a:schemeClr>
                  </a:solidFill>
                </p:spPr>
                <p:style>
                  <a:lnRef idx="2">
                    <a:schemeClr val="accent4"/>
                  </a:lnRef>
                  <a:fillRef idx="1">
                    <a:schemeClr val="lt1"/>
                  </a:fillRef>
                  <a:effectRef idx="0">
                    <a:schemeClr val="accent4"/>
                  </a:effectRef>
                  <a:fontRef idx="minor">
                    <a:schemeClr val="dk1"/>
                  </a:fontRef>
                </p:style>
                <p:txBody>
                  <a:bodyPr wrap="square" rtlCol="0">
                    <a:spAutoFit/>
                  </a:bodyPr>
                  <a:lstStyle/>
                  <a:p>
                    <a:endParaRPr lang="en-US" dirty="0">
                      <a:solidFill>
                        <a:prstClr val="black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16" name="TextBox 37"/>
                  <p:cNvSpPr txBox="1"/>
                  <p:nvPr/>
                </p:nvSpPr>
                <p:spPr>
                  <a:xfrm>
                    <a:off x="7312686" y="2658680"/>
                    <a:ext cx="423356" cy="369332"/>
                  </a:xfrm>
                  <a:prstGeom prst="rect">
                    <a:avLst/>
                  </a:prstGeom>
                  <a:solidFill>
                    <a:schemeClr val="bg2">
                      <a:lumMod val="75000"/>
                    </a:schemeClr>
                  </a:solidFill>
                </p:spPr>
                <p:style>
                  <a:lnRef idx="2">
                    <a:schemeClr val="accent4"/>
                  </a:lnRef>
                  <a:fillRef idx="1">
                    <a:schemeClr val="lt1"/>
                  </a:fillRef>
                  <a:effectRef idx="0">
                    <a:schemeClr val="accent4"/>
                  </a:effectRef>
                  <a:fontRef idx="minor">
                    <a:schemeClr val="dk1"/>
                  </a:fontRef>
                </p:style>
                <p:txBody>
                  <a:bodyPr wrap="square" rtlCol="0">
                    <a:spAutoFit/>
                  </a:bodyPr>
                  <a:lstStyle/>
                  <a:p>
                    <a:endParaRPr lang="en-US" dirty="0">
                      <a:solidFill>
                        <a:prstClr val="black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17" name="TextBox 38"/>
                  <p:cNvSpPr txBox="1"/>
                  <p:nvPr/>
                </p:nvSpPr>
                <p:spPr>
                  <a:xfrm>
                    <a:off x="7312686" y="3033852"/>
                    <a:ext cx="423356" cy="369332"/>
                  </a:xfrm>
                  <a:prstGeom prst="rect">
                    <a:avLst/>
                  </a:prstGeom>
                  <a:solidFill>
                    <a:schemeClr val="bg2">
                      <a:lumMod val="75000"/>
                    </a:schemeClr>
                  </a:solidFill>
                </p:spPr>
                <p:style>
                  <a:lnRef idx="2">
                    <a:schemeClr val="accent4"/>
                  </a:lnRef>
                  <a:fillRef idx="1">
                    <a:schemeClr val="lt1"/>
                  </a:fillRef>
                  <a:effectRef idx="0">
                    <a:schemeClr val="accent4"/>
                  </a:effectRef>
                  <a:fontRef idx="minor">
                    <a:schemeClr val="dk1"/>
                  </a:fontRef>
                </p:style>
                <p:txBody>
                  <a:bodyPr wrap="square" rtlCol="0">
                    <a:spAutoFit/>
                  </a:bodyPr>
                  <a:lstStyle/>
                  <a:p>
                    <a:endParaRPr lang="en-US" dirty="0">
                      <a:solidFill>
                        <a:prstClr val="black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18" name="TextBox 39"/>
                  <p:cNvSpPr txBox="1"/>
                  <p:nvPr/>
                </p:nvSpPr>
                <p:spPr>
                  <a:xfrm>
                    <a:off x="7312686" y="3405794"/>
                    <a:ext cx="423356" cy="369332"/>
                  </a:xfrm>
                  <a:prstGeom prst="rect">
                    <a:avLst/>
                  </a:prstGeom>
                  <a:solidFill>
                    <a:schemeClr val="bg2">
                      <a:lumMod val="75000"/>
                    </a:schemeClr>
                  </a:solidFill>
                </p:spPr>
                <p:style>
                  <a:lnRef idx="2">
                    <a:schemeClr val="accent4"/>
                  </a:lnRef>
                  <a:fillRef idx="1">
                    <a:schemeClr val="lt1"/>
                  </a:fillRef>
                  <a:effectRef idx="0">
                    <a:schemeClr val="accent4"/>
                  </a:effectRef>
                  <a:fontRef idx="minor">
                    <a:schemeClr val="dk1"/>
                  </a:fontRef>
                </p:style>
                <p:txBody>
                  <a:bodyPr wrap="square" rtlCol="0">
                    <a:spAutoFit/>
                  </a:bodyPr>
                  <a:lstStyle/>
                  <a:p>
                    <a:endParaRPr lang="en-US" dirty="0">
                      <a:solidFill>
                        <a:prstClr val="black"/>
                      </a:solidFill>
                      <a:latin typeface="Calibri"/>
                    </a:endParaRPr>
                  </a:p>
                </p:txBody>
              </p:sp>
            </p:grpSp>
            <p:grpSp>
              <p:nvGrpSpPr>
                <p:cNvPr id="22" name="Group 42"/>
                <p:cNvGrpSpPr/>
                <p:nvPr/>
              </p:nvGrpSpPr>
              <p:grpSpPr>
                <a:xfrm>
                  <a:off x="7401296" y="3553782"/>
                  <a:ext cx="423356" cy="1485778"/>
                  <a:chOff x="7312686" y="2289348"/>
                  <a:chExt cx="423356" cy="1485778"/>
                </a:xfrm>
              </p:grpSpPr>
              <p:sp>
                <p:nvSpPr>
                  <p:cNvPr id="111" name="TextBox 43"/>
                  <p:cNvSpPr txBox="1"/>
                  <p:nvPr/>
                </p:nvSpPr>
                <p:spPr>
                  <a:xfrm>
                    <a:off x="7312686" y="2289348"/>
                    <a:ext cx="423356" cy="369332"/>
                  </a:xfrm>
                  <a:prstGeom prst="rect">
                    <a:avLst/>
                  </a:prstGeom>
                  <a:solidFill>
                    <a:schemeClr val="bg2">
                      <a:lumMod val="75000"/>
                    </a:schemeClr>
                  </a:solidFill>
                </p:spPr>
                <p:style>
                  <a:lnRef idx="2">
                    <a:schemeClr val="accent4"/>
                  </a:lnRef>
                  <a:fillRef idx="1">
                    <a:schemeClr val="lt1"/>
                  </a:fillRef>
                  <a:effectRef idx="0">
                    <a:schemeClr val="accent4"/>
                  </a:effectRef>
                  <a:fontRef idx="minor">
                    <a:schemeClr val="dk1"/>
                  </a:fontRef>
                </p:style>
                <p:txBody>
                  <a:bodyPr wrap="square" rtlCol="0">
                    <a:spAutoFit/>
                  </a:bodyPr>
                  <a:lstStyle/>
                  <a:p>
                    <a:endParaRPr lang="en-US" dirty="0">
                      <a:solidFill>
                        <a:prstClr val="black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12" name="TextBox 44"/>
                  <p:cNvSpPr txBox="1"/>
                  <p:nvPr/>
                </p:nvSpPr>
                <p:spPr>
                  <a:xfrm>
                    <a:off x="7312686" y="2658680"/>
                    <a:ext cx="423356" cy="369332"/>
                  </a:xfrm>
                  <a:prstGeom prst="rect">
                    <a:avLst/>
                  </a:prstGeom>
                  <a:solidFill>
                    <a:schemeClr val="bg2">
                      <a:lumMod val="75000"/>
                    </a:schemeClr>
                  </a:solidFill>
                </p:spPr>
                <p:style>
                  <a:lnRef idx="2">
                    <a:schemeClr val="accent4"/>
                  </a:lnRef>
                  <a:fillRef idx="1">
                    <a:schemeClr val="lt1"/>
                  </a:fillRef>
                  <a:effectRef idx="0">
                    <a:schemeClr val="accent4"/>
                  </a:effectRef>
                  <a:fontRef idx="minor">
                    <a:schemeClr val="dk1"/>
                  </a:fontRef>
                </p:style>
                <p:txBody>
                  <a:bodyPr wrap="square" rtlCol="0">
                    <a:spAutoFit/>
                  </a:bodyPr>
                  <a:lstStyle/>
                  <a:p>
                    <a:endParaRPr lang="en-US" dirty="0">
                      <a:solidFill>
                        <a:prstClr val="black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13" name="TextBox 45"/>
                  <p:cNvSpPr txBox="1"/>
                  <p:nvPr/>
                </p:nvSpPr>
                <p:spPr>
                  <a:xfrm>
                    <a:off x="7312686" y="3033852"/>
                    <a:ext cx="423356" cy="369332"/>
                  </a:xfrm>
                  <a:prstGeom prst="rect">
                    <a:avLst/>
                  </a:prstGeom>
                  <a:solidFill>
                    <a:schemeClr val="bg2">
                      <a:lumMod val="75000"/>
                    </a:schemeClr>
                  </a:solidFill>
                </p:spPr>
                <p:style>
                  <a:lnRef idx="2">
                    <a:schemeClr val="accent4"/>
                  </a:lnRef>
                  <a:fillRef idx="1">
                    <a:schemeClr val="lt1"/>
                  </a:fillRef>
                  <a:effectRef idx="0">
                    <a:schemeClr val="accent4"/>
                  </a:effectRef>
                  <a:fontRef idx="minor">
                    <a:schemeClr val="dk1"/>
                  </a:fontRef>
                </p:style>
                <p:txBody>
                  <a:bodyPr wrap="square" rtlCol="0">
                    <a:spAutoFit/>
                  </a:bodyPr>
                  <a:lstStyle/>
                  <a:p>
                    <a:endParaRPr lang="en-US" dirty="0">
                      <a:solidFill>
                        <a:prstClr val="black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14" name="TextBox 46"/>
                  <p:cNvSpPr txBox="1"/>
                  <p:nvPr/>
                </p:nvSpPr>
                <p:spPr>
                  <a:xfrm>
                    <a:off x="7312686" y="3405794"/>
                    <a:ext cx="423356" cy="369332"/>
                  </a:xfrm>
                  <a:prstGeom prst="rect">
                    <a:avLst/>
                  </a:prstGeom>
                  <a:solidFill>
                    <a:schemeClr val="bg2">
                      <a:lumMod val="75000"/>
                    </a:schemeClr>
                  </a:solidFill>
                </p:spPr>
                <p:style>
                  <a:lnRef idx="2">
                    <a:schemeClr val="accent4"/>
                  </a:lnRef>
                  <a:fillRef idx="1">
                    <a:schemeClr val="lt1"/>
                  </a:fillRef>
                  <a:effectRef idx="0">
                    <a:schemeClr val="accent4"/>
                  </a:effectRef>
                  <a:fontRef idx="minor">
                    <a:schemeClr val="dk1"/>
                  </a:fontRef>
                </p:style>
                <p:txBody>
                  <a:bodyPr wrap="square" rtlCol="0">
                    <a:spAutoFit/>
                  </a:bodyPr>
                  <a:lstStyle/>
                  <a:p>
                    <a:endParaRPr lang="en-US" dirty="0">
                      <a:solidFill>
                        <a:prstClr val="black"/>
                      </a:solidFill>
                      <a:latin typeface="Calibri"/>
                    </a:endParaRPr>
                  </a:p>
                </p:txBody>
              </p:sp>
            </p:grpSp>
          </p:grpSp>
        </p:grpSp>
        <p:sp>
          <p:nvSpPr>
            <p:cNvPr id="120" name="119 - TextBox"/>
            <p:cNvSpPr txBox="1"/>
            <p:nvPr/>
          </p:nvSpPr>
          <p:spPr>
            <a:xfrm>
              <a:off x="7511273" y="2090645"/>
              <a:ext cx="92536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>
                  <a:solidFill>
                    <a:prstClr val="black"/>
                  </a:solidFill>
                  <a:latin typeface="Calibri"/>
                </a:rPr>
                <a:t>Local to P</a:t>
              </a:r>
              <a:r>
                <a:rPr lang="en-US" sz="1200" baseline="-25000" dirty="0" smtClean="0">
                  <a:solidFill>
                    <a:prstClr val="black"/>
                  </a:solidFill>
                  <a:latin typeface="Calibri"/>
                </a:rPr>
                <a:t>0</a:t>
              </a:r>
              <a:endParaRPr lang="en-US" sz="1200" baseline="-2500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1" name="120 - TextBox"/>
            <p:cNvSpPr txBox="1"/>
            <p:nvPr/>
          </p:nvSpPr>
          <p:spPr>
            <a:xfrm>
              <a:off x="7511273" y="3245436"/>
              <a:ext cx="92536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>
                  <a:solidFill>
                    <a:prstClr val="black"/>
                  </a:solidFill>
                  <a:latin typeface="Calibri"/>
                </a:rPr>
                <a:t>Local to P</a:t>
              </a:r>
              <a:r>
                <a:rPr lang="en-US" sz="1200" baseline="-25000" dirty="0" smtClean="0">
                  <a:solidFill>
                    <a:prstClr val="black"/>
                  </a:solidFill>
                  <a:latin typeface="Calibri"/>
                </a:rPr>
                <a:t>0</a:t>
              </a:r>
              <a:endParaRPr lang="en-US" sz="1200" baseline="-2500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2" name="121 - TextBox"/>
            <p:cNvSpPr txBox="1"/>
            <p:nvPr/>
          </p:nvSpPr>
          <p:spPr>
            <a:xfrm>
              <a:off x="7511273" y="4308117"/>
              <a:ext cx="92536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>
                  <a:solidFill>
                    <a:prstClr val="black"/>
                  </a:solidFill>
                  <a:latin typeface="Calibri"/>
                </a:rPr>
                <a:t>Local to P</a:t>
              </a:r>
              <a:r>
                <a:rPr lang="en-US" sz="1200" baseline="-25000" dirty="0" smtClean="0">
                  <a:solidFill>
                    <a:prstClr val="black"/>
                  </a:solidFill>
                  <a:latin typeface="Calibri"/>
                </a:rPr>
                <a:t>0</a:t>
              </a:r>
              <a:endParaRPr lang="en-US" sz="1200" baseline="-2500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3" name="122 - TextBox"/>
            <p:cNvSpPr txBox="1"/>
            <p:nvPr/>
          </p:nvSpPr>
          <p:spPr>
            <a:xfrm>
              <a:off x="7511273" y="5443241"/>
              <a:ext cx="92536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>
                  <a:solidFill>
                    <a:prstClr val="black"/>
                  </a:solidFill>
                  <a:latin typeface="Calibri"/>
                </a:rPr>
                <a:t>Local to P</a:t>
              </a:r>
              <a:r>
                <a:rPr lang="en-US" sz="1200" baseline="-25000" dirty="0" smtClean="0">
                  <a:solidFill>
                    <a:prstClr val="black"/>
                  </a:solidFill>
                  <a:latin typeface="Calibri"/>
                </a:rPr>
                <a:t>0</a:t>
              </a:r>
              <a:endParaRPr lang="en-US" sz="1200" baseline="-25000"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95" name="Group 124"/>
          <p:cNvGrpSpPr/>
          <p:nvPr/>
        </p:nvGrpSpPr>
        <p:grpSpPr>
          <a:xfrm>
            <a:off x="0" y="-16486"/>
            <a:ext cx="9144000" cy="1311292"/>
            <a:chOff x="0" y="-23450"/>
            <a:chExt cx="13004800" cy="1864950"/>
          </a:xfrm>
        </p:grpSpPr>
        <p:pic>
          <p:nvPicPr>
            <p:cNvPr id="96" name="Picture 3"/>
            <p:cNvPicPr>
              <a:picLocks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0" y="0"/>
              <a:ext cx="13004800" cy="1841500"/>
            </a:xfrm>
            <a:prstGeom prst="rect">
              <a:avLst/>
            </a:prstGeom>
            <a:noFill/>
            <a:ln w="9525" cap="flat">
              <a:noFill/>
              <a:miter lim="800000"/>
              <a:headEnd/>
              <a:tailEnd/>
            </a:ln>
          </p:spPr>
        </p:pic>
        <p:sp>
          <p:nvSpPr>
            <p:cNvPr id="98" name="Rectangle 5"/>
            <p:cNvSpPr txBox="1">
              <a:spLocks noChangeArrowheads="1"/>
            </p:cNvSpPr>
            <p:nvPr/>
          </p:nvSpPr>
          <p:spPr bwMode="auto">
            <a:xfrm>
              <a:off x="200216" y="-23450"/>
              <a:ext cx="12031663" cy="140969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vert="horz" wrap="square" lIns="50777" tIns="50777" rIns="166318" bIns="50777" numCol="1" anchor="ctr" anchorCtr="0" compatLnSpc="1">
              <a:prstTxWarp prst="textNoShape">
                <a:avLst/>
              </a:prstTxWarp>
            </a:bodyPr>
            <a:lstStyle/>
            <a:p>
              <a:pPr marL="40160" defTabSz="642552">
                <a:defRPr/>
              </a:pPr>
              <a:r>
                <a:rPr lang="en-US" sz="3200" kern="0" dirty="0">
                  <a:solidFill>
                    <a:srgbClr val="FFFF00"/>
                  </a:solidFill>
                  <a:latin typeface="Calibri"/>
                  <a:cs typeface="Calibri"/>
                  <a:sym typeface="Arial Bold" charset="0"/>
                </a:rPr>
                <a:t>Aggregating stores optimization</a:t>
              </a:r>
            </a:p>
          </p:txBody>
        </p:sp>
      </p:grpSp>
      <p:sp>
        <p:nvSpPr>
          <p:cNvPr id="108" name="TextBox 9"/>
          <p:cNvSpPr txBox="1"/>
          <p:nvPr/>
        </p:nvSpPr>
        <p:spPr>
          <a:xfrm>
            <a:off x="6733693" y="1566752"/>
            <a:ext cx="423356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prstClr val="black"/>
                </a:solidFill>
                <a:latin typeface="Calibri"/>
              </a:rPr>
              <a:t>P</a:t>
            </a:r>
            <a:r>
              <a:rPr lang="en-US" baseline="-25000" dirty="0" smtClean="0">
                <a:solidFill>
                  <a:prstClr val="black"/>
                </a:solidFill>
                <a:latin typeface="Calibri"/>
              </a:rPr>
              <a:t>0</a:t>
            </a:r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109" name="Straight Arrow Connector 71"/>
          <p:cNvCxnSpPr/>
          <p:nvPr/>
        </p:nvCxnSpPr>
        <p:spPr>
          <a:xfrm>
            <a:off x="5955877" y="1601971"/>
            <a:ext cx="1806398" cy="17644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71"/>
          <p:cNvCxnSpPr/>
          <p:nvPr/>
        </p:nvCxnSpPr>
        <p:spPr>
          <a:xfrm>
            <a:off x="5955877" y="1757861"/>
            <a:ext cx="1806398" cy="4921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71"/>
          <p:cNvCxnSpPr/>
          <p:nvPr/>
        </p:nvCxnSpPr>
        <p:spPr>
          <a:xfrm>
            <a:off x="5955877" y="1916249"/>
            <a:ext cx="1806398" cy="254211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71"/>
          <p:cNvCxnSpPr/>
          <p:nvPr/>
        </p:nvCxnSpPr>
        <p:spPr>
          <a:xfrm>
            <a:off x="5955877" y="2073240"/>
            <a:ext cx="1806398" cy="349570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71"/>
          <p:cNvCxnSpPr/>
          <p:nvPr/>
        </p:nvCxnSpPr>
        <p:spPr>
          <a:xfrm flipV="1">
            <a:off x="5955877" y="2250002"/>
            <a:ext cx="1806398" cy="13506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71"/>
          <p:cNvCxnSpPr/>
          <p:nvPr/>
        </p:nvCxnSpPr>
        <p:spPr>
          <a:xfrm>
            <a:off x="5955877" y="2229163"/>
            <a:ext cx="1806398" cy="2083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71"/>
          <p:cNvCxnSpPr/>
          <p:nvPr/>
        </p:nvCxnSpPr>
        <p:spPr>
          <a:xfrm>
            <a:off x="5955877" y="2543430"/>
            <a:ext cx="1806398" cy="191491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71"/>
          <p:cNvCxnSpPr/>
          <p:nvPr/>
        </p:nvCxnSpPr>
        <p:spPr>
          <a:xfrm>
            <a:off x="5955877" y="2700449"/>
            <a:ext cx="1806398" cy="66599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TextBox 3"/>
          <p:cNvSpPr txBox="1"/>
          <p:nvPr/>
        </p:nvSpPr>
        <p:spPr>
          <a:xfrm>
            <a:off x="3744343" y="4189646"/>
            <a:ext cx="37948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rgbClr val="FF0000"/>
                </a:solidFill>
                <a:latin typeface="Calibri"/>
              </a:rPr>
              <a:t>P</a:t>
            </a:r>
            <a:r>
              <a:rPr lang="en-US" sz="1600" b="1" baseline="-25000" dirty="0" smtClean="0">
                <a:solidFill>
                  <a:srgbClr val="FF0000"/>
                </a:solidFill>
                <a:latin typeface="Calibri"/>
              </a:rPr>
              <a:t>0</a:t>
            </a:r>
            <a:r>
              <a:rPr lang="en-US" sz="1600" b="1" dirty="0" smtClean="0">
                <a:solidFill>
                  <a:srgbClr val="FF0000"/>
                </a:solidFill>
                <a:latin typeface="Calibri"/>
              </a:rPr>
              <a:t> stores the k-</a:t>
            </a:r>
            <a:r>
              <a:rPr lang="en-US" sz="1600" b="1" dirty="0" err="1" smtClean="0">
                <a:solidFill>
                  <a:srgbClr val="FF0000"/>
                </a:solidFill>
                <a:latin typeface="Calibri"/>
              </a:rPr>
              <a:t>mers</a:t>
            </a:r>
            <a:r>
              <a:rPr lang="en-US" sz="1600" b="1" dirty="0" smtClean="0">
                <a:solidFill>
                  <a:srgbClr val="FF0000"/>
                </a:solidFill>
                <a:latin typeface="Calibri"/>
              </a:rPr>
              <a:t> &amp; extensions</a:t>
            </a:r>
          </a:p>
          <a:p>
            <a:r>
              <a:rPr lang="en-US" sz="1600" b="1" dirty="0" smtClean="0">
                <a:solidFill>
                  <a:srgbClr val="FF0000"/>
                </a:solidFill>
                <a:latin typeface="Calibri"/>
              </a:rPr>
              <a:t>in its local buckets in a lock-free &amp; communication-free fashion</a:t>
            </a:r>
            <a:endParaRPr lang="en-US" sz="1600" b="1" dirty="0">
              <a:solidFill>
                <a:srgbClr val="FF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932139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 animBg="1"/>
      <p:bldP spid="12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265750" y="1399558"/>
            <a:ext cx="8782316" cy="503592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 smtClean="0"/>
              <a:t>Goal: </a:t>
            </a:r>
          </a:p>
          <a:p>
            <a:r>
              <a:rPr lang="en-US" sz="2400" dirty="0"/>
              <a:t>T</a:t>
            </a:r>
            <a:r>
              <a:rPr lang="en-US" sz="2400" dirty="0" smtClean="0"/>
              <a:t>raverse the de </a:t>
            </a:r>
            <a:r>
              <a:rPr lang="en-US" sz="2400" dirty="0" err="1" smtClean="0"/>
              <a:t>Bruijn</a:t>
            </a:r>
            <a:r>
              <a:rPr lang="en-US" sz="2400" dirty="0" smtClean="0"/>
              <a:t> graph and find UU </a:t>
            </a:r>
            <a:r>
              <a:rPr lang="en-US" sz="2400" dirty="0" err="1" smtClean="0"/>
              <a:t>contigs</a:t>
            </a:r>
            <a:r>
              <a:rPr lang="en-US" sz="2400" dirty="0" smtClean="0"/>
              <a:t> (chains of UU nodes), </a:t>
            </a:r>
            <a:r>
              <a:rPr lang="en-US" sz="2400" i="1" dirty="0" smtClean="0"/>
              <a:t>or alternatively </a:t>
            </a:r>
          </a:p>
          <a:p>
            <a:r>
              <a:rPr lang="en-US" sz="2400" dirty="0" smtClean="0"/>
              <a:t>find the connected components which consist of the UU </a:t>
            </a:r>
            <a:r>
              <a:rPr lang="en-US" sz="2400" dirty="0" err="1" smtClean="0"/>
              <a:t>contigs</a:t>
            </a:r>
            <a:r>
              <a:rPr lang="en-US" sz="2400" dirty="0" smtClean="0"/>
              <a:t>.</a:t>
            </a:r>
            <a:endParaRPr lang="en-US" sz="2400" dirty="0"/>
          </a:p>
          <a:p>
            <a:endParaRPr lang="en-US" sz="2000" dirty="0" smtClean="0"/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endParaRPr lang="en-US" sz="2400" b="1" dirty="0" smtClean="0"/>
          </a:p>
          <a:p>
            <a:r>
              <a:rPr lang="en-US" sz="2400" b="1" dirty="0" smtClean="0"/>
              <a:t>Main idea:</a:t>
            </a:r>
          </a:p>
          <a:p>
            <a:pPr lvl="1"/>
            <a:r>
              <a:rPr lang="en-US" sz="2200" dirty="0" smtClean="0"/>
              <a:t>Pick </a:t>
            </a:r>
            <a:r>
              <a:rPr lang="en-US" sz="2200" dirty="0"/>
              <a:t>a </a:t>
            </a:r>
            <a:r>
              <a:rPr lang="en-US" sz="2200" dirty="0" smtClean="0"/>
              <a:t>seed </a:t>
            </a:r>
          </a:p>
          <a:p>
            <a:pPr lvl="1"/>
            <a:r>
              <a:rPr lang="en-US" sz="2200" dirty="0"/>
              <a:t>I</a:t>
            </a:r>
            <a:r>
              <a:rPr lang="en-US" sz="2200" dirty="0" smtClean="0"/>
              <a:t>teratively </a:t>
            </a:r>
            <a:r>
              <a:rPr lang="en-US" sz="2200" dirty="0"/>
              <a:t>extend </a:t>
            </a:r>
            <a:r>
              <a:rPr lang="en-US" sz="2200" dirty="0" smtClean="0"/>
              <a:t>it by </a:t>
            </a:r>
            <a:r>
              <a:rPr lang="en-US" sz="2200" dirty="0"/>
              <a:t>consecutive lookups in the distributed hash table</a:t>
            </a:r>
            <a:endParaRPr lang="en-US" sz="2200" b="1" dirty="0" smtClean="0"/>
          </a:p>
        </p:txBody>
      </p:sp>
      <p:grpSp>
        <p:nvGrpSpPr>
          <p:cNvPr id="8" name="Group 7"/>
          <p:cNvGrpSpPr/>
          <p:nvPr/>
        </p:nvGrpSpPr>
        <p:grpSpPr>
          <a:xfrm>
            <a:off x="1783066" y="3450231"/>
            <a:ext cx="5842951" cy="1655769"/>
            <a:chOff x="2535621" y="5199878"/>
            <a:chExt cx="5842951" cy="1655769"/>
          </a:xfrm>
        </p:grpSpPr>
        <p:grpSp>
          <p:nvGrpSpPr>
            <p:cNvPr id="9" name="Group 8"/>
            <p:cNvGrpSpPr/>
            <p:nvPr/>
          </p:nvGrpSpPr>
          <p:grpSpPr>
            <a:xfrm>
              <a:off x="2550057" y="5199878"/>
              <a:ext cx="4042441" cy="1655769"/>
              <a:chOff x="2550057" y="5199878"/>
              <a:chExt cx="4042441" cy="1655769"/>
            </a:xfrm>
          </p:grpSpPr>
          <p:grpSp>
            <p:nvGrpSpPr>
              <p:cNvPr id="16" name="Group 15"/>
              <p:cNvGrpSpPr/>
              <p:nvPr/>
            </p:nvGrpSpPr>
            <p:grpSpPr>
              <a:xfrm>
                <a:off x="2550057" y="5893263"/>
                <a:ext cx="602824" cy="246221"/>
                <a:chOff x="1984017" y="2918816"/>
                <a:chExt cx="688377" cy="274750"/>
              </a:xfrm>
            </p:grpSpPr>
            <p:sp>
              <p:nvSpPr>
                <p:cNvPr id="56" name="Oval 55"/>
                <p:cNvSpPr/>
                <p:nvPr/>
              </p:nvSpPr>
              <p:spPr>
                <a:xfrm>
                  <a:off x="2045998" y="2953362"/>
                  <a:ext cx="352759" cy="201595"/>
                </a:xfrm>
                <a:prstGeom prst="ellipse">
                  <a:avLst/>
                </a:prstGeom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7" name="TextBox 56"/>
                <p:cNvSpPr txBox="1"/>
                <p:nvPr/>
              </p:nvSpPr>
              <p:spPr>
                <a:xfrm>
                  <a:off x="1984017" y="2918816"/>
                  <a:ext cx="688377" cy="2747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00" dirty="0" smtClean="0">
                      <a:latin typeface="cmr10"/>
                      <a:cs typeface="cmr10"/>
                    </a:rPr>
                    <a:t>GAT</a:t>
                  </a:r>
                  <a:endParaRPr lang="en-US" sz="1000" dirty="0">
                    <a:latin typeface="cmr10"/>
                    <a:cs typeface="cmr10"/>
                  </a:endParaRPr>
                </a:p>
              </p:txBody>
            </p:sp>
          </p:grpSp>
          <p:grpSp>
            <p:nvGrpSpPr>
              <p:cNvPr id="17" name="Group 16"/>
              <p:cNvGrpSpPr/>
              <p:nvPr/>
            </p:nvGrpSpPr>
            <p:grpSpPr>
              <a:xfrm>
                <a:off x="3008807" y="5893263"/>
                <a:ext cx="602824" cy="246221"/>
                <a:chOff x="1984017" y="2918816"/>
                <a:chExt cx="688377" cy="274750"/>
              </a:xfrm>
            </p:grpSpPr>
            <p:sp>
              <p:nvSpPr>
                <p:cNvPr id="54" name="Oval 53"/>
                <p:cNvSpPr/>
                <p:nvPr/>
              </p:nvSpPr>
              <p:spPr>
                <a:xfrm>
                  <a:off x="2045998" y="2953362"/>
                  <a:ext cx="352759" cy="201595"/>
                </a:xfrm>
                <a:prstGeom prst="ellipse">
                  <a:avLst/>
                </a:prstGeom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TextBox 54"/>
                <p:cNvSpPr txBox="1"/>
                <p:nvPr/>
              </p:nvSpPr>
              <p:spPr>
                <a:xfrm>
                  <a:off x="1984017" y="2918816"/>
                  <a:ext cx="688377" cy="2747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00" dirty="0" smtClean="0">
                      <a:latin typeface="cmr10"/>
                      <a:cs typeface="cmr10"/>
                    </a:rPr>
                    <a:t>ATC</a:t>
                  </a:r>
                  <a:endParaRPr lang="en-US" sz="1000" dirty="0">
                    <a:latin typeface="cmr10"/>
                    <a:cs typeface="cmr10"/>
                  </a:endParaRPr>
                </a:p>
              </p:txBody>
            </p:sp>
          </p:grpSp>
          <p:grpSp>
            <p:nvGrpSpPr>
              <p:cNvPr id="18" name="Group 17"/>
              <p:cNvGrpSpPr/>
              <p:nvPr/>
            </p:nvGrpSpPr>
            <p:grpSpPr>
              <a:xfrm>
                <a:off x="3467557" y="5902296"/>
                <a:ext cx="602824" cy="246221"/>
                <a:chOff x="1984017" y="2918816"/>
                <a:chExt cx="688377" cy="274750"/>
              </a:xfrm>
            </p:grpSpPr>
            <p:sp>
              <p:nvSpPr>
                <p:cNvPr id="52" name="Oval 51"/>
                <p:cNvSpPr/>
                <p:nvPr/>
              </p:nvSpPr>
              <p:spPr>
                <a:xfrm>
                  <a:off x="2045998" y="2953362"/>
                  <a:ext cx="352759" cy="201595"/>
                </a:xfrm>
                <a:prstGeom prst="ellipse">
                  <a:avLst/>
                </a:prstGeom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3" name="TextBox 52"/>
                <p:cNvSpPr txBox="1"/>
                <p:nvPr/>
              </p:nvSpPr>
              <p:spPr>
                <a:xfrm>
                  <a:off x="1984017" y="2918816"/>
                  <a:ext cx="688377" cy="2747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00" dirty="0">
                      <a:latin typeface="cmr10"/>
                      <a:cs typeface="cmr10"/>
                    </a:rPr>
                    <a:t>T</a:t>
                  </a:r>
                  <a:r>
                    <a:rPr lang="en-US" sz="1000" dirty="0" smtClean="0">
                      <a:latin typeface="cmr10"/>
                      <a:cs typeface="cmr10"/>
                    </a:rPr>
                    <a:t>CT</a:t>
                  </a:r>
                  <a:endParaRPr lang="en-US" sz="1000" dirty="0">
                    <a:latin typeface="cmr10"/>
                    <a:cs typeface="cmr10"/>
                  </a:endParaRPr>
                </a:p>
              </p:txBody>
            </p:sp>
          </p:grpSp>
          <p:grpSp>
            <p:nvGrpSpPr>
              <p:cNvPr id="19" name="Group 18"/>
              <p:cNvGrpSpPr/>
              <p:nvPr/>
            </p:nvGrpSpPr>
            <p:grpSpPr>
              <a:xfrm>
                <a:off x="3926306" y="5902296"/>
                <a:ext cx="602824" cy="246221"/>
                <a:chOff x="1984017" y="2918816"/>
                <a:chExt cx="688377" cy="274750"/>
              </a:xfrm>
            </p:grpSpPr>
            <p:sp>
              <p:nvSpPr>
                <p:cNvPr id="50" name="Oval 49"/>
                <p:cNvSpPr/>
                <p:nvPr/>
              </p:nvSpPr>
              <p:spPr>
                <a:xfrm>
                  <a:off x="2045998" y="2953362"/>
                  <a:ext cx="352759" cy="201595"/>
                </a:xfrm>
                <a:prstGeom prst="ellipse">
                  <a:avLst/>
                </a:prstGeom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1" name="TextBox 50"/>
                <p:cNvSpPr txBox="1"/>
                <p:nvPr/>
              </p:nvSpPr>
              <p:spPr>
                <a:xfrm>
                  <a:off x="1984017" y="2918816"/>
                  <a:ext cx="688377" cy="2747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00" dirty="0" smtClean="0">
                      <a:latin typeface="cmr10"/>
                      <a:cs typeface="cmr10"/>
                    </a:rPr>
                    <a:t>CTG</a:t>
                  </a:r>
                  <a:endParaRPr lang="en-US" sz="1000" dirty="0">
                    <a:latin typeface="cmr10"/>
                    <a:cs typeface="cmr10"/>
                  </a:endParaRPr>
                </a:p>
              </p:txBody>
            </p:sp>
          </p:grpSp>
          <p:grpSp>
            <p:nvGrpSpPr>
              <p:cNvPr id="20" name="Group 19"/>
              <p:cNvGrpSpPr/>
              <p:nvPr/>
            </p:nvGrpSpPr>
            <p:grpSpPr>
              <a:xfrm>
                <a:off x="4385056" y="5902296"/>
                <a:ext cx="602824" cy="246221"/>
                <a:chOff x="1984017" y="2918816"/>
                <a:chExt cx="688377" cy="274750"/>
              </a:xfrm>
            </p:grpSpPr>
            <p:sp>
              <p:nvSpPr>
                <p:cNvPr id="48" name="Oval 47"/>
                <p:cNvSpPr/>
                <p:nvPr/>
              </p:nvSpPr>
              <p:spPr>
                <a:xfrm>
                  <a:off x="2045998" y="2953362"/>
                  <a:ext cx="352759" cy="201595"/>
                </a:xfrm>
                <a:prstGeom prst="ellipse">
                  <a:avLst/>
                </a:prstGeom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9" name="TextBox 48"/>
                <p:cNvSpPr txBox="1"/>
                <p:nvPr/>
              </p:nvSpPr>
              <p:spPr>
                <a:xfrm>
                  <a:off x="1984017" y="2918816"/>
                  <a:ext cx="688377" cy="2747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00" dirty="0" smtClean="0">
                      <a:latin typeface="cmr10"/>
                      <a:cs typeface="cmr10"/>
                    </a:rPr>
                    <a:t>TG</a:t>
                  </a:r>
                  <a:r>
                    <a:rPr lang="en-US" sz="1000" dirty="0">
                      <a:latin typeface="cmr10"/>
                      <a:cs typeface="cmr10"/>
                    </a:rPr>
                    <a:t>A</a:t>
                  </a:r>
                </a:p>
              </p:txBody>
            </p:sp>
          </p:grpSp>
          <p:grpSp>
            <p:nvGrpSpPr>
              <p:cNvPr id="21" name="Group 20"/>
              <p:cNvGrpSpPr/>
              <p:nvPr/>
            </p:nvGrpSpPr>
            <p:grpSpPr>
              <a:xfrm>
                <a:off x="5253775" y="5692839"/>
                <a:ext cx="602824" cy="246221"/>
                <a:chOff x="1984017" y="2918816"/>
                <a:chExt cx="688377" cy="274750"/>
              </a:xfrm>
            </p:grpSpPr>
            <p:sp>
              <p:nvSpPr>
                <p:cNvPr id="46" name="Oval 45"/>
                <p:cNvSpPr/>
                <p:nvPr/>
              </p:nvSpPr>
              <p:spPr>
                <a:xfrm>
                  <a:off x="2045998" y="2953362"/>
                  <a:ext cx="352759" cy="201595"/>
                </a:xfrm>
                <a:prstGeom prst="ellipse">
                  <a:avLst/>
                </a:prstGeom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7" name="TextBox 46"/>
                <p:cNvSpPr txBox="1"/>
                <p:nvPr/>
              </p:nvSpPr>
              <p:spPr>
                <a:xfrm>
                  <a:off x="1984017" y="2918816"/>
                  <a:ext cx="688377" cy="2747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00" dirty="0">
                      <a:latin typeface="cmr10"/>
                      <a:cs typeface="cmr10"/>
                    </a:rPr>
                    <a:t>A</a:t>
                  </a:r>
                  <a:r>
                    <a:rPr lang="en-US" sz="1000" dirty="0" smtClean="0">
                      <a:latin typeface="cmr10"/>
                      <a:cs typeface="cmr10"/>
                    </a:rPr>
                    <a:t>AC</a:t>
                  </a:r>
                  <a:endParaRPr lang="en-US" sz="1000" dirty="0">
                    <a:latin typeface="cmr10"/>
                    <a:cs typeface="cmr10"/>
                  </a:endParaRPr>
                </a:p>
              </p:txBody>
            </p:sp>
          </p:grpSp>
          <p:grpSp>
            <p:nvGrpSpPr>
              <p:cNvPr id="22" name="Group 21"/>
              <p:cNvGrpSpPr/>
              <p:nvPr/>
            </p:nvGrpSpPr>
            <p:grpSpPr>
              <a:xfrm>
                <a:off x="5608144" y="5443773"/>
                <a:ext cx="602824" cy="246221"/>
                <a:chOff x="1984017" y="2918816"/>
                <a:chExt cx="688377" cy="274750"/>
              </a:xfrm>
            </p:grpSpPr>
            <p:sp>
              <p:nvSpPr>
                <p:cNvPr id="44" name="Oval 43"/>
                <p:cNvSpPr/>
                <p:nvPr/>
              </p:nvSpPr>
              <p:spPr>
                <a:xfrm>
                  <a:off x="2045998" y="2953362"/>
                  <a:ext cx="352759" cy="201595"/>
                </a:xfrm>
                <a:prstGeom prst="ellipse">
                  <a:avLst/>
                </a:prstGeom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5" name="TextBox 44"/>
                <p:cNvSpPr txBox="1"/>
                <p:nvPr/>
              </p:nvSpPr>
              <p:spPr>
                <a:xfrm>
                  <a:off x="1984017" y="2918816"/>
                  <a:ext cx="688377" cy="2747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00" dirty="0" smtClean="0">
                      <a:latin typeface="cmr10"/>
                      <a:cs typeface="cmr10"/>
                    </a:rPr>
                    <a:t>ACC</a:t>
                  </a:r>
                  <a:endParaRPr lang="en-US" sz="1000" dirty="0">
                    <a:latin typeface="cmr10"/>
                    <a:cs typeface="cmr10"/>
                  </a:endParaRPr>
                </a:p>
              </p:txBody>
            </p:sp>
          </p:grpSp>
          <p:grpSp>
            <p:nvGrpSpPr>
              <p:cNvPr id="23" name="Group 22"/>
              <p:cNvGrpSpPr/>
              <p:nvPr/>
            </p:nvGrpSpPr>
            <p:grpSpPr>
              <a:xfrm>
                <a:off x="5978420" y="5199878"/>
                <a:ext cx="602824" cy="246221"/>
                <a:chOff x="1984017" y="2918816"/>
                <a:chExt cx="688377" cy="274750"/>
              </a:xfrm>
            </p:grpSpPr>
            <p:sp>
              <p:nvSpPr>
                <p:cNvPr id="42" name="Oval 41"/>
                <p:cNvSpPr/>
                <p:nvPr/>
              </p:nvSpPr>
              <p:spPr>
                <a:xfrm>
                  <a:off x="2045998" y="2953362"/>
                  <a:ext cx="352759" cy="201595"/>
                </a:xfrm>
                <a:prstGeom prst="ellipse">
                  <a:avLst/>
                </a:prstGeom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3" name="TextBox 42"/>
                <p:cNvSpPr txBox="1"/>
                <p:nvPr/>
              </p:nvSpPr>
              <p:spPr>
                <a:xfrm>
                  <a:off x="1984017" y="2918816"/>
                  <a:ext cx="688377" cy="2747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00" dirty="0" smtClean="0">
                      <a:latin typeface="cmr10"/>
                      <a:cs typeface="cmr10"/>
                    </a:rPr>
                    <a:t>CCG</a:t>
                  </a:r>
                  <a:endParaRPr lang="en-US" sz="1000" dirty="0">
                    <a:latin typeface="cmr10"/>
                    <a:cs typeface="cmr10"/>
                  </a:endParaRPr>
                </a:p>
              </p:txBody>
            </p:sp>
          </p:grpSp>
          <p:grpSp>
            <p:nvGrpSpPr>
              <p:cNvPr id="24" name="Group 23"/>
              <p:cNvGrpSpPr/>
              <p:nvPr/>
            </p:nvGrpSpPr>
            <p:grpSpPr>
              <a:xfrm>
                <a:off x="5253775" y="6122951"/>
                <a:ext cx="602824" cy="246221"/>
                <a:chOff x="1984017" y="2918816"/>
                <a:chExt cx="688377" cy="274750"/>
              </a:xfrm>
            </p:grpSpPr>
            <p:sp>
              <p:nvSpPr>
                <p:cNvPr id="40" name="Oval 39"/>
                <p:cNvSpPr/>
                <p:nvPr/>
              </p:nvSpPr>
              <p:spPr>
                <a:xfrm>
                  <a:off x="2045998" y="2953362"/>
                  <a:ext cx="352759" cy="201595"/>
                </a:xfrm>
                <a:prstGeom prst="ellipse">
                  <a:avLst/>
                </a:prstGeom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1" name="TextBox 40"/>
                <p:cNvSpPr txBox="1"/>
                <p:nvPr/>
              </p:nvSpPr>
              <p:spPr>
                <a:xfrm>
                  <a:off x="1984017" y="2918816"/>
                  <a:ext cx="688377" cy="2747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00" dirty="0" smtClean="0">
                      <a:latin typeface="cmr10"/>
                      <a:cs typeface="cmr10"/>
                    </a:rPr>
                    <a:t>AAT</a:t>
                  </a:r>
                  <a:endParaRPr lang="en-US" sz="1000" dirty="0">
                    <a:latin typeface="cmr10"/>
                    <a:cs typeface="cmr10"/>
                  </a:endParaRPr>
                </a:p>
              </p:txBody>
            </p:sp>
          </p:grpSp>
          <p:grpSp>
            <p:nvGrpSpPr>
              <p:cNvPr id="25" name="Group 24"/>
              <p:cNvGrpSpPr/>
              <p:nvPr/>
            </p:nvGrpSpPr>
            <p:grpSpPr>
              <a:xfrm>
                <a:off x="5627116" y="6370705"/>
                <a:ext cx="602824" cy="246221"/>
                <a:chOff x="1984017" y="2918816"/>
                <a:chExt cx="688377" cy="274750"/>
              </a:xfrm>
            </p:grpSpPr>
            <p:sp>
              <p:nvSpPr>
                <p:cNvPr id="38" name="Oval 37"/>
                <p:cNvSpPr/>
                <p:nvPr/>
              </p:nvSpPr>
              <p:spPr>
                <a:xfrm>
                  <a:off x="2045998" y="2953362"/>
                  <a:ext cx="352759" cy="201595"/>
                </a:xfrm>
                <a:prstGeom prst="ellipse">
                  <a:avLst/>
                </a:prstGeom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" name="TextBox 38"/>
                <p:cNvSpPr txBox="1"/>
                <p:nvPr/>
              </p:nvSpPr>
              <p:spPr>
                <a:xfrm>
                  <a:off x="1984017" y="2918816"/>
                  <a:ext cx="688377" cy="2747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00" dirty="0" smtClean="0">
                      <a:latin typeface="cmr10"/>
                      <a:cs typeface="cmr10"/>
                    </a:rPr>
                    <a:t>ATG</a:t>
                  </a:r>
                  <a:endParaRPr lang="en-US" sz="1000" dirty="0">
                    <a:latin typeface="cmr10"/>
                    <a:cs typeface="cmr10"/>
                  </a:endParaRPr>
                </a:p>
              </p:txBody>
            </p:sp>
          </p:grpSp>
          <p:grpSp>
            <p:nvGrpSpPr>
              <p:cNvPr id="26" name="Group 25"/>
              <p:cNvGrpSpPr/>
              <p:nvPr/>
            </p:nvGrpSpPr>
            <p:grpSpPr>
              <a:xfrm>
                <a:off x="5989674" y="6609426"/>
                <a:ext cx="602824" cy="246221"/>
                <a:chOff x="1984017" y="2918816"/>
                <a:chExt cx="688377" cy="274750"/>
              </a:xfrm>
            </p:grpSpPr>
            <p:sp>
              <p:nvSpPr>
                <p:cNvPr id="36" name="Oval 35"/>
                <p:cNvSpPr/>
                <p:nvPr/>
              </p:nvSpPr>
              <p:spPr>
                <a:xfrm>
                  <a:off x="2045998" y="2953362"/>
                  <a:ext cx="352759" cy="201595"/>
                </a:xfrm>
                <a:prstGeom prst="ellipse">
                  <a:avLst/>
                </a:prstGeom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" name="TextBox 36"/>
                <p:cNvSpPr txBox="1"/>
                <p:nvPr/>
              </p:nvSpPr>
              <p:spPr>
                <a:xfrm>
                  <a:off x="1984017" y="2918816"/>
                  <a:ext cx="688377" cy="2747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00" dirty="0" smtClean="0">
                      <a:latin typeface="cmr10"/>
                      <a:cs typeface="cmr10"/>
                    </a:rPr>
                    <a:t>TGC</a:t>
                  </a:r>
                  <a:endParaRPr lang="en-US" sz="1000" dirty="0">
                    <a:latin typeface="cmr10"/>
                    <a:cs typeface="cmr10"/>
                  </a:endParaRPr>
                </a:p>
              </p:txBody>
            </p:sp>
          </p:grpSp>
          <p:cxnSp>
            <p:nvCxnSpPr>
              <p:cNvPr id="27" name="Straight Connector 26"/>
              <p:cNvCxnSpPr/>
              <p:nvPr/>
            </p:nvCxnSpPr>
            <p:spPr>
              <a:xfrm>
                <a:off x="2919011" y="6013238"/>
                <a:ext cx="144074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>
              <a:xfrm>
                <a:off x="3377761" y="6013238"/>
                <a:ext cx="144074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>
              <a:xfrm>
                <a:off x="3830752" y="6013238"/>
                <a:ext cx="144074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>
              <a:xfrm>
                <a:off x="4289501" y="6013238"/>
                <a:ext cx="144074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>
              <a:xfrm flipV="1">
                <a:off x="5531857" y="5624545"/>
                <a:ext cx="162645" cy="108282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>
              <a:xfrm flipV="1">
                <a:off x="5916612" y="5389629"/>
                <a:ext cx="162645" cy="108282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>
              <a:xfrm>
                <a:off x="5566089" y="6310513"/>
                <a:ext cx="157359" cy="11310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>
              <a:xfrm>
                <a:off x="5932734" y="6547693"/>
                <a:ext cx="157359" cy="11310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ctangle 9"/>
            <p:cNvSpPr/>
            <p:nvPr/>
          </p:nvSpPr>
          <p:spPr>
            <a:xfrm>
              <a:off x="2535621" y="5832383"/>
              <a:ext cx="2280158" cy="321523"/>
            </a:xfrm>
            <a:prstGeom prst="rect">
              <a:avLst/>
            </a:prstGeom>
            <a:noFill/>
            <a:ln w="412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 rot="19442400">
              <a:off x="5222892" y="5380313"/>
              <a:ext cx="1314824" cy="321523"/>
            </a:xfrm>
            <a:prstGeom prst="rect">
              <a:avLst/>
            </a:prstGeom>
            <a:noFill/>
            <a:ln w="412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 rot="1780249">
              <a:off x="5228555" y="6316533"/>
              <a:ext cx="1285810" cy="321523"/>
            </a:xfrm>
            <a:prstGeom prst="rect">
              <a:avLst/>
            </a:prstGeom>
            <a:noFill/>
            <a:ln w="412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535621" y="5497911"/>
              <a:ext cx="231382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 smtClean="0"/>
                <a:t>Contig</a:t>
              </a:r>
              <a:r>
                <a:rPr lang="en-US" sz="1600" dirty="0" smtClean="0"/>
                <a:t> 1: GATCTGA</a:t>
              </a:r>
              <a:endParaRPr lang="en-US" sz="1600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538658" y="5354281"/>
              <a:ext cx="178230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 smtClean="0"/>
                <a:t>Contig</a:t>
              </a:r>
              <a:r>
                <a:rPr lang="en-US" sz="1600" dirty="0" smtClean="0"/>
                <a:t> 2: AACCG</a:t>
              </a:r>
              <a:endParaRPr lang="en-US" sz="1600" dirty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596263" y="6302639"/>
              <a:ext cx="178230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 smtClean="0"/>
                <a:t>Contig</a:t>
              </a:r>
              <a:r>
                <a:rPr lang="en-US" sz="1600" dirty="0" smtClean="0"/>
                <a:t> 3: AATGC</a:t>
              </a:r>
              <a:endParaRPr lang="en-US" sz="1600" dirty="0"/>
            </a:p>
          </p:txBody>
        </p:sp>
      </p:grpSp>
      <p:grpSp>
        <p:nvGrpSpPr>
          <p:cNvPr id="58" name="Group 124"/>
          <p:cNvGrpSpPr/>
          <p:nvPr/>
        </p:nvGrpSpPr>
        <p:grpSpPr>
          <a:xfrm>
            <a:off x="0" y="-16486"/>
            <a:ext cx="9144000" cy="1311292"/>
            <a:chOff x="0" y="-23450"/>
            <a:chExt cx="13004800" cy="1864950"/>
          </a:xfrm>
        </p:grpSpPr>
        <p:pic>
          <p:nvPicPr>
            <p:cNvPr id="59" name="Picture 3"/>
            <p:cNvPicPr>
              <a:picLocks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0"/>
              <a:ext cx="13004800" cy="1841500"/>
            </a:xfrm>
            <a:prstGeom prst="rect">
              <a:avLst/>
            </a:prstGeom>
            <a:noFill/>
            <a:ln w="9525" cap="flat">
              <a:noFill/>
              <a:miter lim="800000"/>
              <a:headEnd/>
              <a:tailEnd/>
            </a:ln>
          </p:spPr>
        </p:pic>
        <p:sp>
          <p:nvSpPr>
            <p:cNvPr id="60" name="Rectangle 5"/>
            <p:cNvSpPr txBox="1">
              <a:spLocks noChangeArrowheads="1"/>
            </p:cNvSpPr>
            <p:nvPr/>
          </p:nvSpPr>
          <p:spPr bwMode="auto">
            <a:xfrm>
              <a:off x="200216" y="-23450"/>
              <a:ext cx="12031663" cy="140969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vert="horz" wrap="square" lIns="50777" tIns="50777" rIns="166318" bIns="50777" numCol="1" anchor="ctr" anchorCtr="0" compatLnSpc="1">
              <a:prstTxWarp prst="textNoShape">
                <a:avLst/>
              </a:prstTxWarp>
            </a:bodyPr>
            <a:lstStyle/>
            <a:p>
              <a:r>
                <a:rPr lang="en-US" sz="3200" dirty="0">
                  <a:solidFill>
                    <a:srgbClr val="FFFF00"/>
                  </a:solidFill>
                </a:rPr>
                <a:t>Parallel De </a:t>
              </a:r>
              <a:r>
                <a:rPr lang="en-US" sz="3200" dirty="0" err="1">
                  <a:solidFill>
                    <a:srgbClr val="FFFF00"/>
                  </a:solidFill>
                </a:rPr>
                <a:t>Bruijn</a:t>
              </a:r>
              <a:r>
                <a:rPr lang="en-US" sz="3200" dirty="0">
                  <a:solidFill>
                    <a:srgbClr val="FFFF00"/>
                  </a:solidFill>
                </a:rPr>
                <a:t> Graph Traversal</a:t>
              </a:r>
              <a:endParaRPr lang="en-US" sz="3200" i="1" dirty="0">
                <a:solidFill>
                  <a:srgbClr val="FFFF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6314590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6069" y="2429234"/>
            <a:ext cx="77002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CGTATTGCCAATGCAACGTATCATGGCCAATCCGAT</a:t>
            </a:r>
            <a:endParaRPr lang="en-US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776076" y="1693396"/>
            <a:ext cx="61480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Assume </a:t>
            </a:r>
            <a:r>
              <a:rPr lang="en-US" sz="2000" i="1" dirty="0" smtClean="0"/>
              <a:t>one</a:t>
            </a:r>
            <a:r>
              <a:rPr lang="en-US" sz="2000" dirty="0" smtClean="0"/>
              <a:t> of the UU </a:t>
            </a:r>
            <a:r>
              <a:rPr lang="en-US" sz="2000" dirty="0" err="1" smtClean="0"/>
              <a:t>contigs</a:t>
            </a:r>
            <a:r>
              <a:rPr lang="en-US" sz="2000" dirty="0" smtClean="0"/>
              <a:t> to be assembled is:</a:t>
            </a:r>
            <a:endParaRPr lang="en-US" sz="2000" dirty="0"/>
          </a:p>
        </p:txBody>
      </p:sp>
      <p:grpSp>
        <p:nvGrpSpPr>
          <p:cNvPr id="6" name="Group 124"/>
          <p:cNvGrpSpPr/>
          <p:nvPr/>
        </p:nvGrpSpPr>
        <p:grpSpPr>
          <a:xfrm>
            <a:off x="0" y="-16486"/>
            <a:ext cx="9144000" cy="1311292"/>
            <a:chOff x="0" y="-23450"/>
            <a:chExt cx="13004800" cy="1864950"/>
          </a:xfrm>
        </p:grpSpPr>
        <p:pic>
          <p:nvPicPr>
            <p:cNvPr id="7" name="Picture 3"/>
            <p:cNvPicPr>
              <a:picLocks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0"/>
              <a:ext cx="13004800" cy="1841500"/>
            </a:xfrm>
            <a:prstGeom prst="rect">
              <a:avLst/>
            </a:prstGeom>
            <a:noFill/>
            <a:ln w="9525" cap="flat">
              <a:noFill/>
              <a:miter lim="800000"/>
              <a:headEnd/>
              <a:tailEnd/>
            </a:ln>
          </p:spPr>
        </p:pic>
        <p:sp>
          <p:nvSpPr>
            <p:cNvPr id="8" name="Rectangle 5"/>
            <p:cNvSpPr txBox="1">
              <a:spLocks noChangeArrowheads="1"/>
            </p:cNvSpPr>
            <p:nvPr/>
          </p:nvSpPr>
          <p:spPr bwMode="auto">
            <a:xfrm>
              <a:off x="200216" y="-23450"/>
              <a:ext cx="12031663" cy="140969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vert="horz" wrap="square" lIns="50777" tIns="50777" rIns="166318" bIns="50777" numCol="1" anchor="ctr" anchorCtr="0" compatLnSpc="1">
              <a:prstTxWarp prst="textNoShape">
                <a:avLst/>
              </a:prstTxWarp>
            </a:bodyPr>
            <a:lstStyle/>
            <a:p>
              <a:pPr marL="40160" defTabSz="642552">
                <a:defRPr/>
              </a:pPr>
              <a:r>
                <a:rPr lang="en-US" sz="3200" kern="0" dirty="0">
                  <a:solidFill>
                    <a:srgbClr val="FFFF00"/>
                  </a:solidFill>
                  <a:ea typeface="+mj-ea"/>
                  <a:cs typeface="Calibri"/>
                  <a:sym typeface="Arial Bold" charset="0"/>
                </a:rPr>
                <a:t>Parallel De </a:t>
              </a:r>
              <a:r>
                <a:rPr lang="en-US" sz="3200" kern="0" dirty="0" err="1">
                  <a:solidFill>
                    <a:srgbClr val="FFFF00"/>
                  </a:solidFill>
                  <a:ea typeface="+mj-ea"/>
                  <a:cs typeface="Calibri"/>
                  <a:sym typeface="Arial Bold" charset="0"/>
                </a:rPr>
                <a:t>Bruijn</a:t>
              </a:r>
              <a:r>
                <a:rPr lang="en-US" sz="3200" kern="0" dirty="0">
                  <a:solidFill>
                    <a:srgbClr val="FFFF00"/>
                  </a:solidFill>
                  <a:ea typeface="+mj-ea"/>
                  <a:cs typeface="Calibri"/>
                  <a:sym typeface="Arial Bold" charset="0"/>
                </a:rPr>
                <a:t> Graph Traversal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82802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3057591" y="2507184"/>
            <a:ext cx="1690492" cy="369332"/>
          </a:xfrm>
          <a:prstGeom prst="rect">
            <a:avLst/>
          </a:prstGeom>
          <a:solidFill>
            <a:schemeClr val="lt1">
              <a:alpha val="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grpSp>
        <p:nvGrpSpPr>
          <p:cNvPr id="6" name="Group 124"/>
          <p:cNvGrpSpPr/>
          <p:nvPr/>
        </p:nvGrpSpPr>
        <p:grpSpPr>
          <a:xfrm>
            <a:off x="0" y="-16486"/>
            <a:ext cx="9144000" cy="1311292"/>
            <a:chOff x="0" y="-23450"/>
            <a:chExt cx="13004800" cy="1864950"/>
          </a:xfrm>
        </p:grpSpPr>
        <p:pic>
          <p:nvPicPr>
            <p:cNvPr id="7" name="Picture 3"/>
            <p:cNvPicPr>
              <a:picLocks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0"/>
              <a:ext cx="13004800" cy="1841500"/>
            </a:xfrm>
            <a:prstGeom prst="rect">
              <a:avLst/>
            </a:prstGeom>
            <a:noFill/>
            <a:ln w="9525" cap="flat">
              <a:noFill/>
              <a:miter lim="800000"/>
              <a:headEnd/>
              <a:tailEnd/>
            </a:ln>
          </p:spPr>
        </p:pic>
        <p:sp>
          <p:nvSpPr>
            <p:cNvPr id="8" name="Rectangle 5"/>
            <p:cNvSpPr txBox="1">
              <a:spLocks noChangeArrowheads="1"/>
            </p:cNvSpPr>
            <p:nvPr/>
          </p:nvSpPr>
          <p:spPr bwMode="auto">
            <a:xfrm>
              <a:off x="200216" y="-23450"/>
              <a:ext cx="12031663" cy="140969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vert="horz" wrap="square" lIns="50777" tIns="50777" rIns="166318" bIns="50777" numCol="1" anchor="ctr" anchorCtr="0" compatLnSpc="1">
              <a:prstTxWarp prst="textNoShape">
                <a:avLst/>
              </a:prstTxWarp>
            </a:bodyPr>
            <a:lstStyle/>
            <a:p>
              <a:pPr marL="40160" defTabSz="642552">
                <a:defRPr/>
              </a:pPr>
              <a:r>
                <a:rPr lang="en-US" sz="3200" kern="0" dirty="0">
                  <a:solidFill>
                    <a:srgbClr val="FFFF00"/>
                  </a:solidFill>
                  <a:ea typeface="+mj-ea"/>
                  <a:cs typeface="Calibri"/>
                  <a:sym typeface="Arial Bold" charset="0"/>
                </a:rPr>
                <a:t>Parallel De </a:t>
              </a:r>
              <a:r>
                <a:rPr lang="en-US" sz="3200" kern="0" dirty="0" err="1">
                  <a:solidFill>
                    <a:srgbClr val="FFFF00"/>
                  </a:solidFill>
                  <a:ea typeface="+mj-ea"/>
                  <a:cs typeface="Calibri"/>
                  <a:sym typeface="Arial Bold" charset="0"/>
                </a:rPr>
                <a:t>Bruijn</a:t>
              </a:r>
              <a:r>
                <a:rPr lang="en-US" sz="3200" kern="0" dirty="0">
                  <a:solidFill>
                    <a:srgbClr val="FFFF00"/>
                  </a:solidFill>
                  <a:ea typeface="+mj-ea"/>
                  <a:cs typeface="Calibri"/>
                  <a:sym typeface="Arial Bold" charset="0"/>
                </a:rPr>
                <a:t> Graph Traversal</a:t>
              </a: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776069" y="2429234"/>
            <a:ext cx="77002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1">
                    <a:lumMod val="85000"/>
                  </a:schemeClr>
                </a:solidFill>
              </a:rPr>
              <a:t>CGTATTGCCAAT</a:t>
            </a:r>
            <a:r>
              <a:rPr lang="en-US" sz="2400" dirty="0" smtClean="0"/>
              <a:t>GCAACGTATC</a:t>
            </a:r>
            <a:r>
              <a:rPr lang="en-US" sz="2400" dirty="0" smtClean="0">
                <a:solidFill>
                  <a:schemeClr val="bg1">
                    <a:lumMod val="85000"/>
                  </a:schemeClr>
                </a:solidFill>
              </a:rPr>
              <a:t>ATGGCCAATCCGAT</a:t>
            </a:r>
            <a:endParaRPr lang="en-US" sz="2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82205" y="1693396"/>
            <a:ext cx="86879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Processor P</a:t>
            </a:r>
            <a:r>
              <a:rPr lang="en-US" sz="2000" baseline="-25000" dirty="0" smtClean="0"/>
              <a:t>i</a:t>
            </a:r>
            <a:r>
              <a:rPr lang="en-US" sz="2000" dirty="0" smtClean="0"/>
              <a:t> picks a random k-</a:t>
            </a:r>
            <a:r>
              <a:rPr lang="en-US" sz="2000" dirty="0" err="1" smtClean="0"/>
              <a:t>mer</a:t>
            </a:r>
            <a:r>
              <a:rPr lang="en-US" sz="2000" dirty="0" smtClean="0"/>
              <a:t> from the distributed hash table as seed:</a:t>
            </a:r>
            <a:endParaRPr lang="en-US" sz="2000" dirty="0"/>
          </a:p>
        </p:txBody>
      </p:sp>
      <p:sp>
        <p:nvSpPr>
          <p:cNvPr id="11" name="TextBox 10"/>
          <p:cNvSpPr txBox="1"/>
          <p:nvPr/>
        </p:nvSpPr>
        <p:spPr>
          <a:xfrm>
            <a:off x="4541466" y="2507184"/>
            <a:ext cx="206616" cy="369332"/>
          </a:xfrm>
          <a:prstGeom prst="rect">
            <a:avLst/>
          </a:prstGeom>
          <a:solidFill>
            <a:schemeClr val="lt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345705" y="3270750"/>
            <a:ext cx="81940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P</a:t>
            </a:r>
            <a:r>
              <a:rPr lang="en-US" sz="2000" baseline="-25000" dirty="0"/>
              <a:t>i</a:t>
            </a:r>
            <a:r>
              <a:rPr lang="en-US" sz="2000" dirty="0" smtClean="0"/>
              <a:t> knows that forward extension is A</a:t>
            </a:r>
            <a:endParaRPr lang="en-US" sz="2000" dirty="0"/>
          </a:p>
        </p:txBody>
      </p:sp>
      <p:sp>
        <p:nvSpPr>
          <p:cNvPr id="13" name="TextBox 12"/>
          <p:cNvSpPr txBox="1"/>
          <p:nvPr/>
        </p:nvSpPr>
        <p:spPr>
          <a:xfrm>
            <a:off x="352758" y="3703119"/>
            <a:ext cx="8617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P</a:t>
            </a:r>
            <a:r>
              <a:rPr lang="en-US" sz="2000" baseline="-25000" dirty="0"/>
              <a:t>i</a:t>
            </a:r>
            <a:r>
              <a:rPr lang="en-US" sz="2000" dirty="0" smtClean="0"/>
              <a:t> uses the last k-1 bases and the forward extension and forms: CAACGTATCA</a:t>
            </a:r>
            <a:endParaRPr lang="en-US" sz="2000" dirty="0"/>
          </a:p>
        </p:txBody>
      </p:sp>
      <p:sp>
        <p:nvSpPr>
          <p:cNvPr id="15" name="TextBox 14"/>
          <p:cNvSpPr txBox="1"/>
          <p:nvPr/>
        </p:nvSpPr>
        <p:spPr>
          <a:xfrm>
            <a:off x="345705" y="4175189"/>
            <a:ext cx="8617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P</a:t>
            </a:r>
            <a:r>
              <a:rPr lang="en-US" sz="2000" baseline="-25000" dirty="0"/>
              <a:t>i</a:t>
            </a:r>
            <a:r>
              <a:rPr lang="en-US" sz="2000" dirty="0" smtClean="0"/>
              <a:t> does a lookup in the </a:t>
            </a:r>
            <a:r>
              <a:rPr lang="en-US" sz="2000" b="1" dirty="0" smtClean="0"/>
              <a:t>distributed hash table </a:t>
            </a:r>
            <a:r>
              <a:rPr lang="en-US" sz="2000" dirty="0" smtClean="0"/>
              <a:t>for CAACGTATCA</a:t>
            </a:r>
            <a:endParaRPr lang="en-US" sz="2000" dirty="0"/>
          </a:p>
        </p:txBody>
      </p:sp>
      <p:sp>
        <p:nvSpPr>
          <p:cNvPr id="16" name="TextBox 15"/>
          <p:cNvSpPr txBox="1"/>
          <p:nvPr/>
        </p:nvSpPr>
        <p:spPr>
          <a:xfrm>
            <a:off x="360015" y="4677305"/>
            <a:ext cx="8617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P</a:t>
            </a:r>
            <a:r>
              <a:rPr lang="en-US" sz="2000" baseline="-25000" dirty="0" smtClean="0"/>
              <a:t>i</a:t>
            </a:r>
            <a:r>
              <a:rPr lang="en-US" sz="2000" dirty="0" smtClean="0"/>
              <a:t> iterates this process until it reaches the “right” endpoint of the UU </a:t>
            </a:r>
            <a:r>
              <a:rPr lang="en-US" sz="2000" dirty="0" err="1" smtClean="0"/>
              <a:t>contig</a:t>
            </a:r>
            <a:endParaRPr lang="en-US" sz="2000" dirty="0"/>
          </a:p>
        </p:txBody>
      </p:sp>
      <p:sp>
        <p:nvSpPr>
          <p:cNvPr id="17" name="TextBox 16"/>
          <p:cNvSpPr txBox="1"/>
          <p:nvPr/>
        </p:nvSpPr>
        <p:spPr>
          <a:xfrm>
            <a:off x="375891" y="5173255"/>
            <a:ext cx="86173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P</a:t>
            </a:r>
            <a:r>
              <a:rPr lang="en-US" sz="2000" baseline="-25000" dirty="0" smtClean="0"/>
              <a:t>i</a:t>
            </a:r>
            <a:r>
              <a:rPr lang="en-US" sz="2000" dirty="0" smtClean="0"/>
              <a:t> also iterates this process backwards until it reaches the “left” endpoint of the UU </a:t>
            </a:r>
            <a:r>
              <a:rPr lang="en-US" sz="2000" dirty="0" err="1" smtClean="0"/>
              <a:t>contig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9837951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1" grpId="0" animBg="1"/>
      <p:bldP spid="11" grpId="1" animBg="1"/>
      <p:bldP spid="12" grpId="0"/>
      <p:bldP spid="12" grpId="1"/>
      <p:bldP spid="13" grpId="0"/>
      <p:bldP spid="13" grpId="1"/>
      <p:bldP spid="15" grpId="0"/>
      <p:bldP spid="15" grpId="1"/>
      <p:bldP spid="16" grpId="0"/>
      <p:bldP spid="1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124"/>
          <p:cNvGrpSpPr/>
          <p:nvPr/>
        </p:nvGrpSpPr>
        <p:grpSpPr>
          <a:xfrm>
            <a:off x="0" y="-16486"/>
            <a:ext cx="9144000" cy="1311292"/>
            <a:chOff x="0" y="-23450"/>
            <a:chExt cx="13004800" cy="1864950"/>
          </a:xfrm>
        </p:grpSpPr>
        <p:pic>
          <p:nvPicPr>
            <p:cNvPr id="7" name="Picture 3"/>
            <p:cNvPicPr>
              <a:picLocks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0"/>
              <a:ext cx="13004800" cy="1841500"/>
            </a:xfrm>
            <a:prstGeom prst="rect">
              <a:avLst/>
            </a:prstGeom>
            <a:noFill/>
            <a:ln w="9525" cap="flat">
              <a:noFill/>
              <a:miter lim="800000"/>
              <a:headEnd/>
              <a:tailEnd/>
            </a:ln>
          </p:spPr>
        </p:pic>
        <p:sp>
          <p:nvSpPr>
            <p:cNvPr id="8" name="Rectangle 5"/>
            <p:cNvSpPr txBox="1">
              <a:spLocks noChangeArrowheads="1"/>
            </p:cNvSpPr>
            <p:nvPr/>
          </p:nvSpPr>
          <p:spPr bwMode="auto">
            <a:xfrm>
              <a:off x="200216" y="-23450"/>
              <a:ext cx="12031663" cy="140969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vert="horz" wrap="square" lIns="50777" tIns="50777" rIns="166318" bIns="50777" numCol="1" anchor="ctr" anchorCtr="0" compatLnSpc="1">
              <a:prstTxWarp prst="textNoShape">
                <a:avLst/>
              </a:prstTxWarp>
            </a:bodyPr>
            <a:lstStyle/>
            <a:p>
              <a:r>
                <a:rPr lang="en-US" sz="3200" dirty="0">
                  <a:solidFill>
                    <a:srgbClr val="FFFF00"/>
                  </a:solidFill>
                </a:rPr>
                <a:t>Multiple processors </a:t>
              </a:r>
              <a:endParaRPr lang="en-US" sz="3200" dirty="0" smtClean="0">
                <a:solidFill>
                  <a:srgbClr val="FFFF00"/>
                </a:solidFill>
              </a:endParaRPr>
            </a:p>
            <a:p>
              <a:r>
                <a:rPr lang="en-US" sz="3200" dirty="0" smtClean="0">
                  <a:solidFill>
                    <a:srgbClr val="FFFF00"/>
                  </a:solidFill>
                </a:rPr>
                <a:t>on </a:t>
              </a:r>
              <a:r>
                <a:rPr lang="en-US" sz="3200" dirty="0">
                  <a:solidFill>
                    <a:srgbClr val="FFFF00"/>
                  </a:solidFill>
                </a:rPr>
                <a:t>the same UU </a:t>
              </a:r>
              <a:r>
                <a:rPr lang="en-US" sz="3200" dirty="0" err="1">
                  <a:solidFill>
                    <a:srgbClr val="FFFF00"/>
                  </a:solidFill>
                </a:rPr>
                <a:t>contig</a:t>
              </a:r>
              <a:endParaRPr lang="en-US" sz="3200" i="1" dirty="0">
                <a:solidFill>
                  <a:srgbClr val="FFFF00"/>
                </a:solidFill>
              </a:endParaRP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776069" y="2429234"/>
            <a:ext cx="77002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CGTATTGCCA</a:t>
            </a:r>
            <a:r>
              <a:rPr lang="en-US" sz="2400" dirty="0" smtClean="0">
                <a:solidFill>
                  <a:schemeClr val="bg1">
                    <a:lumMod val="85000"/>
                  </a:schemeClr>
                </a:solidFill>
              </a:rPr>
              <a:t>ATG</a:t>
            </a:r>
            <a:r>
              <a:rPr lang="en-US" sz="2400" dirty="0" smtClean="0"/>
              <a:t>CAACGTATCA</a:t>
            </a:r>
            <a:r>
              <a:rPr lang="en-US" sz="2400" dirty="0" smtClean="0">
                <a:solidFill>
                  <a:srgbClr val="D9D9D9"/>
                </a:solidFill>
              </a:rPr>
              <a:t>TGG</a:t>
            </a:r>
            <a:r>
              <a:rPr lang="en-US" sz="2400" dirty="0" smtClean="0"/>
              <a:t>CCAATCCGAT</a:t>
            </a:r>
            <a:endParaRPr lang="en-US" sz="2400" dirty="0"/>
          </a:p>
        </p:txBody>
      </p:sp>
      <p:sp>
        <p:nvSpPr>
          <p:cNvPr id="19" name="TextBox 18"/>
          <p:cNvSpPr txBox="1"/>
          <p:nvPr/>
        </p:nvSpPr>
        <p:spPr>
          <a:xfrm>
            <a:off x="282206" y="3454931"/>
            <a:ext cx="831915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/>
              <a:t>However, processors P</a:t>
            </a:r>
            <a:r>
              <a:rPr lang="en-US" sz="2200" baseline="-25000" dirty="0" smtClean="0"/>
              <a:t>i</a:t>
            </a:r>
            <a:r>
              <a:rPr lang="en-US" sz="2200" dirty="0" smtClean="0"/>
              <a:t>, </a:t>
            </a:r>
            <a:r>
              <a:rPr lang="en-US" sz="2200" dirty="0" err="1" smtClean="0"/>
              <a:t>P</a:t>
            </a:r>
            <a:r>
              <a:rPr lang="en-US" sz="2200" baseline="-25000" dirty="0" err="1" smtClean="0"/>
              <a:t>j</a:t>
            </a:r>
            <a:r>
              <a:rPr lang="en-US" sz="2200" dirty="0" smtClean="0"/>
              <a:t> and </a:t>
            </a:r>
            <a:r>
              <a:rPr lang="en-US" sz="2200" dirty="0" err="1" smtClean="0"/>
              <a:t>P</a:t>
            </a:r>
            <a:r>
              <a:rPr lang="en-US" sz="2200" baseline="-25000" dirty="0" err="1" smtClean="0"/>
              <a:t>t</a:t>
            </a:r>
            <a:r>
              <a:rPr lang="en-US" sz="2200" dirty="0" smtClean="0"/>
              <a:t> might have picked initial seeds from the same UU </a:t>
            </a:r>
            <a:r>
              <a:rPr lang="en-US" sz="2200" dirty="0" err="1" smtClean="0"/>
              <a:t>contig</a:t>
            </a:r>
            <a:endParaRPr lang="en-US" sz="2200" dirty="0"/>
          </a:p>
        </p:txBody>
      </p:sp>
      <p:sp>
        <p:nvSpPr>
          <p:cNvPr id="20" name="TextBox 19"/>
          <p:cNvSpPr txBox="1"/>
          <p:nvPr/>
        </p:nvSpPr>
        <p:spPr>
          <a:xfrm>
            <a:off x="823693" y="2503003"/>
            <a:ext cx="2039742" cy="369332"/>
          </a:xfrm>
          <a:prstGeom prst="rect">
            <a:avLst/>
          </a:prstGeom>
          <a:solidFill>
            <a:schemeClr val="lt1">
              <a:alpha val="0"/>
            </a:schemeClr>
          </a:solidFill>
          <a:ln>
            <a:solidFill>
              <a:srgbClr val="00009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2864520" y="2503003"/>
            <a:ext cx="2039742" cy="369332"/>
          </a:xfrm>
          <a:prstGeom prst="rect">
            <a:avLst/>
          </a:prstGeom>
          <a:solidFill>
            <a:schemeClr val="lt1">
              <a:alpha val="0"/>
            </a:schemeClr>
          </a:solidFill>
          <a:ln>
            <a:solidFill>
              <a:srgbClr val="008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4936012" y="2503003"/>
            <a:ext cx="2039742" cy="369332"/>
          </a:xfrm>
          <a:prstGeom prst="rect">
            <a:avLst/>
          </a:prstGeom>
          <a:solidFill>
            <a:schemeClr val="lt1">
              <a:alpha val="0"/>
            </a:schemeClr>
          </a:solidFill>
          <a:ln>
            <a:solidFill>
              <a:srgbClr val="66006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1632767" y="2029276"/>
            <a:ext cx="38299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000090"/>
                </a:solidFill>
              </a:rPr>
              <a:t>P</a:t>
            </a:r>
            <a:r>
              <a:rPr lang="en-US" sz="2200" baseline="-25000" dirty="0">
                <a:solidFill>
                  <a:srgbClr val="000090"/>
                </a:solidFill>
              </a:rPr>
              <a:t>i</a:t>
            </a:r>
            <a:endParaRPr lang="en-US" sz="2200" dirty="0">
              <a:solidFill>
                <a:srgbClr val="00009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183925" y="2027355"/>
            <a:ext cx="38299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err="1" smtClean="0">
                <a:solidFill>
                  <a:srgbClr val="008000"/>
                </a:solidFill>
              </a:rPr>
              <a:t>P</a:t>
            </a:r>
            <a:r>
              <a:rPr lang="en-US" sz="2200" baseline="-25000" dirty="0" err="1" smtClean="0">
                <a:solidFill>
                  <a:srgbClr val="008000"/>
                </a:solidFill>
              </a:rPr>
              <a:t>j</a:t>
            </a:r>
            <a:endParaRPr lang="en-US" sz="2200" dirty="0">
              <a:solidFill>
                <a:srgbClr val="008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166131" y="2054924"/>
            <a:ext cx="51724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err="1" smtClean="0">
                <a:solidFill>
                  <a:srgbClr val="660066"/>
                </a:solidFill>
              </a:rPr>
              <a:t>P</a:t>
            </a:r>
            <a:r>
              <a:rPr lang="en-US" sz="2200" baseline="-25000" dirty="0" err="1">
                <a:solidFill>
                  <a:srgbClr val="660066"/>
                </a:solidFill>
              </a:rPr>
              <a:t>t</a:t>
            </a:r>
            <a:endParaRPr lang="en-US" sz="2200" dirty="0">
              <a:solidFill>
                <a:srgbClr val="660066"/>
              </a:solidFill>
            </a:endParaRPr>
          </a:p>
        </p:txBody>
      </p:sp>
      <p:sp>
        <p:nvSpPr>
          <p:cNvPr id="26" name="Explosion 1 25"/>
          <p:cNvSpPr/>
          <p:nvPr/>
        </p:nvSpPr>
        <p:spPr>
          <a:xfrm>
            <a:off x="2582686" y="2270350"/>
            <a:ext cx="1068354" cy="884608"/>
          </a:xfrm>
          <a:prstGeom prst="irregularSeal1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Explosion 1 26"/>
          <p:cNvSpPr/>
          <p:nvPr/>
        </p:nvSpPr>
        <p:spPr>
          <a:xfrm>
            <a:off x="4618532" y="2270350"/>
            <a:ext cx="1068354" cy="884608"/>
          </a:xfrm>
          <a:prstGeom prst="irregularSeal1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258228" y="4534430"/>
            <a:ext cx="861738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200" dirty="0"/>
              <a:t>P</a:t>
            </a:r>
            <a:r>
              <a:rPr lang="en-US" sz="2200" dirty="0" smtClean="0"/>
              <a:t>rocessors P</a:t>
            </a:r>
            <a:r>
              <a:rPr lang="en-US" sz="2200" baseline="-25000" dirty="0" smtClean="0"/>
              <a:t>i</a:t>
            </a:r>
            <a:r>
              <a:rPr lang="en-US" sz="2200" dirty="0" smtClean="0"/>
              <a:t>, </a:t>
            </a:r>
            <a:r>
              <a:rPr lang="en-US" sz="2200" dirty="0" err="1" smtClean="0"/>
              <a:t>P</a:t>
            </a:r>
            <a:r>
              <a:rPr lang="en-US" sz="2200" baseline="-25000" dirty="0" err="1" smtClean="0"/>
              <a:t>j</a:t>
            </a:r>
            <a:r>
              <a:rPr lang="en-US" sz="2200" dirty="0" smtClean="0"/>
              <a:t> and </a:t>
            </a:r>
            <a:r>
              <a:rPr lang="en-US" sz="2200" dirty="0" err="1" smtClean="0"/>
              <a:t>P</a:t>
            </a:r>
            <a:r>
              <a:rPr lang="en-US" sz="2200" baseline="-25000" dirty="0" err="1" smtClean="0"/>
              <a:t>t</a:t>
            </a:r>
            <a:r>
              <a:rPr lang="en-US" sz="2200" dirty="0"/>
              <a:t> </a:t>
            </a:r>
            <a:r>
              <a:rPr lang="en-US" sz="2200" dirty="0" smtClean="0"/>
              <a:t> have to collaborate and concatenate </a:t>
            </a:r>
            <a:r>
              <a:rPr lang="en-US" sz="2200" dirty="0" err="1" smtClean="0"/>
              <a:t>subcontigs</a:t>
            </a:r>
            <a:r>
              <a:rPr lang="en-US" sz="2200" dirty="0"/>
              <a:t> </a:t>
            </a:r>
            <a:r>
              <a:rPr lang="en-US" sz="2200" dirty="0" smtClean="0"/>
              <a:t>in order to avoid redundant work.</a:t>
            </a:r>
          </a:p>
          <a:p>
            <a:endParaRPr lang="en-US" sz="2200" dirty="0"/>
          </a:p>
          <a:p>
            <a:pPr marL="285750" indent="-285750">
              <a:buFont typeface="Arial"/>
              <a:buChar char="•"/>
            </a:pPr>
            <a:r>
              <a:rPr lang="en-US" sz="2200" b="1" dirty="0" smtClean="0"/>
              <a:t>Solution: </a:t>
            </a:r>
            <a:r>
              <a:rPr lang="en-US" sz="2200" dirty="0" smtClean="0"/>
              <a:t>lightweight synchronization scheme based on a state machine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33892016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roup 112"/>
          <p:cNvGrpSpPr/>
          <p:nvPr/>
        </p:nvGrpSpPr>
        <p:grpSpPr>
          <a:xfrm>
            <a:off x="1401182" y="1676451"/>
            <a:ext cx="7148469" cy="4702752"/>
            <a:chOff x="400733" y="1305714"/>
            <a:chExt cx="5864509" cy="3397114"/>
          </a:xfrm>
        </p:grpSpPr>
        <p:sp>
          <p:nvSpPr>
            <p:cNvPr id="117" name="Down Arrow 74"/>
            <p:cNvSpPr>
              <a:spLocks noChangeArrowheads="1"/>
            </p:cNvSpPr>
            <p:nvPr/>
          </p:nvSpPr>
          <p:spPr bwMode="auto">
            <a:xfrm>
              <a:off x="4323532" y="3076637"/>
              <a:ext cx="506412" cy="307975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914400" indent="-457200" algn="ctr" eaLnBrk="0" hangingPunct="0">
                <a:lnSpc>
                  <a:spcPct val="120000"/>
                </a:lnSpc>
                <a:spcBef>
                  <a:spcPct val="50000"/>
                </a:spcBef>
                <a:buClr>
                  <a:srgbClr val="063DE8"/>
                </a:buClr>
                <a:buFont typeface="Wingdings" charset="0"/>
                <a:buAutoNum type="arabicPeriod"/>
              </a:pPr>
              <a:endParaRPr lang="en-US"/>
            </a:p>
          </p:txBody>
        </p:sp>
        <p:sp>
          <p:nvSpPr>
            <p:cNvPr id="118" name="TextBox 17"/>
            <p:cNvSpPr txBox="1">
              <a:spLocks noChangeArrowheads="1"/>
            </p:cNvSpPr>
            <p:nvPr/>
          </p:nvSpPr>
          <p:spPr bwMode="auto">
            <a:xfrm>
              <a:off x="774418" y="1347279"/>
              <a:ext cx="2022399" cy="450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8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eaLnBrk="0" hangingPunct="0">
                <a:defRPr sz="28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eaLnBrk="0" hangingPunct="0">
                <a:defRPr sz="28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eaLnBrk="0" hangingPunct="0">
                <a:defRPr sz="28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ct val="120000"/>
                </a:lnSpc>
                <a:spcBef>
                  <a:spcPct val="50000"/>
                </a:spcBef>
                <a:buClr>
                  <a:srgbClr val="063DE8"/>
                </a:buClr>
                <a:buFont typeface="Wingdings" charset="0"/>
                <a:buNone/>
              </a:pPr>
              <a:r>
                <a:rPr lang="en-US" sz="2000" dirty="0">
                  <a:latin typeface="cmr10"/>
                  <a:cs typeface="cmr10"/>
                </a:rPr>
                <a:t>r</a:t>
              </a:r>
              <a:r>
                <a:rPr lang="en-US" sz="2000" dirty="0" smtClean="0">
                  <a:latin typeface="cmr10"/>
                  <a:cs typeface="cmr10"/>
                </a:rPr>
                <a:t>eads</a:t>
              </a:r>
              <a:endParaRPr lang="en-US" sz="2000" dirty="0">
                <a:latin typeface="cmr10"/>
                <a:cs typeface="cmr10"/>
              </a:endParaRPr>
            </a:p>
          </p:txBody>
        </p:sp>
        <p:sp>
          <p:nvSpPr>
            <p:cNvPr id="119" name="TextBox 17"/>
            <p:cNvSpPr txBox="1">
              <a:spLocks noChangeArrowheads="1"/>
            </p:cNvSpPr>
            <p:nvPr/>
          </p:nvSpPr>
          <p:spPr bwMode="auto">
            <a:xfrm>
              <a:off x="421035" y="3313163"/>
              <a:ext cx="2832100" cy="4514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8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eaLnBrk="0" hangingPunct="0">
                <a:defRPr sz="28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eaLnBrk="0" hangingPunct="0">
                <a:defRPr sz="28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eaLnBrk="0" hangingPunct="0">
                <a:defRPr sz="28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ct val="120000"/>
                </a:lnSpc>
                <a:spcBef>
                  <a:spcPct val="50000"/>
                </a:spcBef>
                <a:buClr>
                  <a:srgbClr val="063DE8"/>
                </a:buClr>
                <a:buFont typeface="Wingdings" charset="0"/>
                <a:buNone/>
              </a:pPr>
              <a:r>
                <a:rPr lang="en-US" sz="2000" dirty="0" err="1" smtClean="0">
                  <a:latin typeface="cmr10"/>
                  <a:cs typeface="cmr10"/>
                </a:rPr>
                <a:t>contigs</a:t>
              </a:r>
              <a:endParaRPr lang="en-US" sz="2000" dirty="0">
                <a:latin typeface="cmr10"/>
                <a:cs typeface="cmr10"/>
              </a:endParaRPr>
            </a:p>
          </p:txBody>
        </p:sp>
        <p:sp>
          <p:nvSpPr>
            <p:cNvPr id="120" name="TextBox 64"/>
            <p:cNvSpPr txBox="1">
              <a:spLocks noChangeArrowheads="1"/>
            </p:cNvSpPr>
            <p:nvPr/>
          </p:nvSpPr>
          <p:spPr bwMode="auto">
            <a:xfrm>
              <a:off x="421035" y="4206938"/>
              <a:ext cx="2927351" cy="4514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8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eaLnBrk="0" hangingPunct="0">
                <a:defRPr sz="28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eaLnBrk="0" hangingPunct="0">
                <a:defRPr sz="28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eaLnBrk="0" hangingPunct="0">
                <a:defRPr sz="28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ct val="120000"/>
                </a:lnSpc>
                <a:spcBef>
                  <a:spcPct val="50000"/>
                </a:spcBef>
                <a:buClr>
                  <a:srgbClr val="063DE8"/>
                </a:buClr>
                <a:buFont typeface="Wingdings" charset="0"/>
                <a:buNone/>
              </a:pPr>
              <a:r>
                <a:rPr lang="en-US" sz="2000" dirty="0">
                  <a:latin typeface="cmr10"/>
                  <a:cs typeface="cmr10"/>
                </a:rPr>
                <a:t>s</a:t>
              </a:r>
              <a:r>
                <a:rPr lang="en-US" sz="2000" dirty="0" smtClean="0">
                  <a:latin typeface="cmr10"/>
                  <a:cs typeface="cmr10"/>
                </a:rPr>
                <a:t>caffolds</a:t>
              </a:r>
              <a:endParaRPr lang="en-US" sz="2000" dirty="0">
                <a:latin typeface="cmr10"/>
                <a:cs typeface="cmr10"/>
              </a:endParaRPr>
            </a:p>
          </p:txBody>
        </p:sp>
        <p:sp>
          <p:nvSpPr>
            <p:cNvPr id="121" name="TextBox 120"/>
            <p:cNvSpPr txBox="1"/>
            <p:nvPr/>
          </p:nvSpPr>
          <p:spPr>
            <a:xfrm flipV="1">
              <a:off x="2791532" y="2492127"/>
              <a:ext cx="205547" cy="52228"/>
            </a:xfrm>
            <a:prstGeom prst="rect">
              <a:avLst/>
            </a:prstGeom>
            <a:solidFill>
              <a:srgbClr val="008000"/>
            </a:solidFill>
          </p:spPr>
          <p:txBody>
            <a:bodyPr wrap="square" rtlCol="0">
              <a:spAutoFit/>
            </a:bodyPr>
            <a:lstStyle/>
            <a:p>
              <a:pPr algn="r"/>
              <a:endParaRPr lang="en-US" sz="800" dirty="0">
                <a:solidFill>
                  <a:srgbClr val="008000"/>
                </a:solidFill>
              </a:endParaRPr>
            </a:p>
          </p:txBody>
        </p:sp>
        <p:sp>
          <p:nvSpPr>
            <p:cNvPr id="122" name="TextBox 121"/>
            <p:cNvSpPr txBox="1"/>
            <p:nvPr/>
          </p:nvSpPr>
          <p:spPr>
            <a:xfrm flipV="1">
              <a:off x="2894305" y="2666224"/>
              <a:ext cx="205547" cy="52228"/>
            </a:xfrm>
            <a:prstGeom prst="rect">
              <a:avLst/>
            </a:prstGeom>
            <a:solidFill>
              <a:srgbClr val="008000"/>
            </a:solidFill>
          </p:spPr>
          <p:txBody>
            <a:bodyPr wrap="square" rtlCol="0">
              <a:spAutoFit/>
            </a:bodyPr>
            <a:lstStyle/>
            <a:p>
              <a:pPr algn="r"/>
              <a:endParaRPr lang="en-US" sz="800" dirty="0">
                <a:solidFill>
                  <a:srgbClr val="008000"/>
                </a:solidFill>
              </a:endParaRPr>
            </a:p>
          </p:txBody>
        </p:sp>
        <p:sp>
          <p:nvSpPr>
            <p:cNvPr id="123" name="TextBox 122"/>
            <p:cNvSpPr txBox="1"/>
            <p:nvPr/>
          </p:nvSpPr>
          <p:spPr>
            <a:xfrm flipV="1">
              <a:off x="2791532" y="2840322"/>
              <a:ext cx="205547" cy="52228"/>
            </a:xfrm>
            <a:prstGeom prst="rect">
              <a:avLst/>
            </a:prstGeom>
            <a:solidFill>
              <a:srgbClr val="008000"/>
            </a:solidFill>
          </p:spPr>
          <p:txBody>
            <a:bodyPr wrap="square" rtlCol="0">
              <a:spAutoFit/>
            </a:bodyPr>
            <a:lstStyle/>
            <a:p>
              <a:pPr algn="r"/>
              <a:endParaRPr lang="en-US" sz="800" dirty="0">
                <a:solidFill>
                  <a:srgbClr val="008000"/>
                </a:solidFill>
              </a:endParaRPr>
            </a:p>
          </p:txBody>
        </p:sp>
        <p:sp>
          <p:nvSpPr>
            <p:cNvPr id="124" name="TextBox 123"/>
            <p:cNvSpPr txBox="1"/>
            <p:nvPr/>
          </p:nvSpPr>
          <p:spPr>
            <a:xfrm flipV="1">
              <a:off x="3127869" y="2506689"/>
              <a:ext cx="205547" cy="52228"/>
            </a:xfrm>
            <a:prstGeom prst="rect">
              <a:avLst/>
            </a:prstGeom>
            <a:solidFill>
              <a:srgbClr val="008000"/>
            </a:solidFill>
          </p:spPr>
          <p:txBody>
            <a:bodyPr wrap="square" rtlCol="0">
              <a:spAutoFit/>
            </a:bodyPr>
            <a:lstStyle/>
            <a:p>
              <a:pPr algn="r"/>
              <a:endParaRPr lang="en-US" sz="800" dirty="0">
                <a:solidFill>
                  <a:srgbClr val="008000"/>
                </a:solidFill>
              </a:endParaRPr>
            </a:p>
          </p:txBody>
        </p:sp>
        <p:sp>
          <p:nvSpPr>
            <p:cNvPr id="125" name="TextBox 124"/>
            <p:cNvSpPr txBox="1"/>
            <p:nvPr/>
          </p:nvSpPr>
          <p:spPr>
            <a:xfrm flipV="1">
              <a:off x="3164741" y="2718452"/>
              <a:ext cx="205547" cy="52228"/>
            </a:xfrm>
            <a:prstGeom prst="rect">
              <a:avLst/>
            </a:prstGeom>
            <a:solidFill>
              <a:srgbClr val="008000"/>
            </a:solidFill>
          </p:spPr>
          <p:txBody>
            <a:bodyPr wrap="square" rtlCol="0">
              <a:spAutoFit/>
            </a:bodyPr>
            <a:lstStyle/>
            <a:p>
              <a:pPr algn="r"/>
              <a:endParaRPr lang="en-US" sz="800" dirty="0">
                <a:solidFill>
                  <a:srgbClr val="008000"/>
                </a:solidFill>
              </a:endParaRPr>
            </a:p>
          </p:txBody>
        </p:sp>
        <p:sp>
          <p:nvSpPr>
            <p:cNvPr id="126" name="TextBox 125"/>
            <p:cNvSpPr txBox="1"/>
            <p:nvPr/>
          </p:nvSpPr>
          <p:spPr>
            <a:xfrm flipV="1">
              <a:off x="3418430" y="2613996"/>
              <a:ext cx="205547" cy="52228"/>
            </a:xfrm>
            <a:prstGeom prst="rect">
              <a:avLst/>
            </a:prstGeom>
            <a:solidFill>
              <a:srgbClr val="008000"/>
            </a:solidFill>
          </p:spPr>
          <p:txBody>
            <a:bodyPr wrap="square" rtlCol="0">
              <a:spAutoFit/>
            </a:bodyPr>
            <a:lstStyle/>
            <a:p>
              <a:pPr algn="r"/>
              <a:endParaRPr lang="en-US" sz="800" dirty="0">
                <a:solidFill>
                  <a:srgbClr val="008000"/>
                </a:solidFill>
              </a:endParaRPr>
            </a:p>
          </p:txBody>
        </p:sp>
        <p:sp>
          <p:nvSpPr>
            <p:cNvPr id="127" name="TextBox 126"/>
            <p:cNvSpPr txBox="1"/>
            <p:nvPr/>
          </p:nvSpPr>
          <p:spPr>
            <a:xfrm flipV="1">
              <a:off x="3397193" y="2836894"/>
              <a:ext cx="205547" cy="52228"/>
            </a:xfrm>
            <a:prstGeom prst="rect">
              <a:avLst/>
            </a:prstGeom>
            <a:solidFill>
              <a:srgbClr val="008000"/>
            </a:solidFill>
          </p:spPr>
          <p:txBody>
            <a:bodyPr wrap="square" rtlCol="0">
              <a:spAutoFit/>
            </a:bodyPr>
            <a:lstStyle/>
            <a:p>
              <a:pPr algn="r"/>
              <a:endParaRPr lang="en-US" sz="800" dirty="0">
                <a:solidFill>
                  <a:srgbClr val="008000"/>
                </a:solidFill>
              </a:endParaRPr>
            </a:p>
          </p:txBody>
        </p:sp>
        <p:sp>
          <p:nvSpPr>
            <p:cNvPr id="128" name="TextBox 127"/>
            <p:cNvSpPr txBox="1"/>
            <p:nvPr/>
          </p:nvSpPr>
          <p:spPr>
            <a:xfrm flipV="1">
              <a:off x="3692143" y="2518240"/>
              <a:ext cx="205547" cy="52228"/>
            </a:xfrm>
            <a:prstGeom prst="rect">
              <a:avLst/>
            </a:prstGeom>
            <a:solidFill>
              <a:srgbClr val="008000"/>
            </a:solidFill>
          </p:spPr>
          <p:txBody>
            <a:bodyPr wrap="square" rtlCol="0">
              <a:spAutoFit/>
            </a:bodyPr>
            <a:lstStyle/>
            <a:p>
              <a:pPr algn="r"/>
              <a:endParaRPr lang="en-US" sz="800" dirty="0">
                <a:solidFill>
                  <a:srgbClr val="008000"/>
                </a:solidFill>
              </a:endParaRPr>
            </a:p>
          </p:txBody>
        </p:sp>
        <p:sp>
          <p:nvSpPr>
            <p:cNvPr id="129" name="TextBox 128"/>
            <p:cNvSpPr txBox="1"/>
            <p:nvPr/>
          </p:nvSpPr>
          <p:spPr>
            <a:xfrm flipV="1">
              <a:off x="3897690" y="2718452"/>
              <a:ext cx="205547" cy="52228"/>
            </a:xfrm>
            <a:prstGeom prst="rect">
              <a:avLst/>
            </a:prstGeom>
            <a:solidFill>
              <a:srgbClr val="008000"/>
            </a:solidFill>
          </p:spPr>
          <p:txBody>
            <a:bodyPr wrap="square" rtlCol="0">
              <a:spAutoFit/>
            </a:bodyPr>
            <a:lstStyle/>
            <a:p>
              <a:pPr algn="r"/>
              <a:endParaRPr lang="en-US" sz="800" dirty="0">
                <a:solidFill>
                  <a:srgbClr val="008000"/>
                </a:solidFill>
              </a:endParaRPr>
            </a:p>
          </p:txBody>
        </p:sp>
        <p:sp>
          <p:nvSpPr>
            <p:cNvPr id="130" name="TextBox 129"/>
            <p:cNvSpPr txBox="1"/>
            <p:nvPr/>
          </p:nvSpPr>
          <p:spPr>
            <a:xfrm flipV="1">
              <a:off x="3766899" y="2878880"/>
              <a:ext cx="205547" cy="52228"/>
            </a:xfrm>
            <a:prstGeom prst="rect">
              <a:avLst/>
            </a:prstGeom>
            <a:solidFill>
              <a:srgbClr val="008000"/>
            </a:solidFill>
          </p:spPr>
          <p:txBody>
            <a:bodyPr wrap="square" rtlCol="0">
              <a:spAutoFit/>
            </a:bodyPr>
            <a:lstStyle/>
            <a:p>
              <a:pPr algn="r"/>
              <a:endParaRPr lang="en-US" sz="800" dirty="0">
                <a:solidFill>
                  <a:srgbClr val="008000"/>
                </a:solidFill>
              </a:endParaRPr>
            </a:p>
          </p:txBody>
        </p:sp>
        <p:sp>
          <p:nvSpPr>
            <p:cNvPr id="131" name="TextBox 130"/>
            <p:cNvSpPr txBox="1"/>
            <p:nvPr/>
          </p:nvSpPr>
          <p:spPr>
            <a:xfrm flipV="1">
              <a:off x="4194151" y="2518240"/>
              <a:ext cx="205547" cy="52228"/>
            </a:xfrm>
            <a:prstGeom prst="rect">
              <a:avLst/>
            </a:prstGeom>
            <a:solidFill>
              <a:srgbClr val="008000"/>
            </a:solidFill>
          </p:spPr>
          <p:txBody>
            <a:bodyPr wrap="square" rtlCol="0">
              <a:spAutoFit/>
            </a:bodyPr>
            <a:lstStyle/>
            <a:p>
              <a:pPr algn="r"/>
              <a:endParaRPr lang="en-US" sz="800" dirty="0">
                <a:solidFill>
                  <a:srgbClr val="008000"/>
                </a:solidFill>
              </a:endParaRPr>
            </a:p>
          </p:txBody>
        </p:sp>
        <p:sp>
          <p:nvSpPr>
            <p:cNvPr id="132" name="TextBox 131"/>
            <p:cNvSpPr txBox="1"/>
            <p:nvPr/>
          </p:nvSpPr>
          <p:spPr>
            <a:xfrm flipV="1">
              <a:off x="4140108" y="2657643"/>
              <a:ext cx="205547" cy="52228"/>
            </a:xfrm>
            <a:prstGeom prst="rect">
              <a:avLst/>
            </a:prstGeom>
            <a:solidFill>
              <a:srgbClr val="008000"/>
            </a:solidFill>
          </p:spPr>
          <p:txBody>
            <a:bodyPr wrap="square" rtlCol="0">
              <a:spAutoFit/>
            </a:bodyPr>
            <a:lstStyle/>
            <a:p>
              <a:pPr algn="r"/>
              <a:endParaRPr lang="en-US" sz="800" dirty="0">
                <a:solidFill>
                  <a:srgbClr val="008000"/>
                </a:solidFill>
              </a:endParaRPr>
            </a:p>
          </p:txBody>
        </p:sp>
        <p:sp>
          <p:nvSpPr>
            <p:cNvPr id="133" name="TextBox 132"/>
            <p:cNvSpPr txBox="1"/>
            <p:nvPr/>
          </p:nvSpPr>
          <p:spPr>
            <a:xfrm flipV="1">
              <a:off x="3589370" y="2718452"/>
              <a:ext cx="205547" cy="52228"/>
            </a:xfrm>
            <a:prstGeom prst="rect">
              <a:avLst/>
            </a:prstGeom>
            <a:solidFill>
              <a:srgbClr val="008000"/>
            </a:solidFill>
          </p:spPr>
          <p:txBody>
            <a:bodyPr wrap="square" rtlCol="0">
              <a:spAutoFit/>
            </a:bodyPr>
            <a:lstStyle/>
            <a:p>
              <a:pPr algn="r"/>
              <a:endParaRPr lang="en-US" sz="800" dirty="0">
                <a:solidFill>
                  <a:srgbClr val="008000"/>
                </a:solidFill>
              </a:endParaRPr>
            </a:p>
          </p:txBody>
        </p:sp>
        <p:sp>
          <p:nvSpPr>
            <p:cNvPr id="134" name="TextBox 133"/>
            <p:cNvSpPr txBox="1"/>
            <p:nvPr/>
          </p:nvSpPr>
          <p:spPr>
            <a:xfrm flipV="1">
              <a:off x="4167014" y="2875453"/>
              <a:ext cx="205547" cy="52228"/>
            </a:xfrm>
            <a:prstGeom prst="rect">
              <a:avLst/>
            </a:prstGeom>
            <a:solidFill>
              <a:srgbClr val="008000"/>
            </a:solidFill>
          </p:spPr>
          <p:txBody>
            <a:bodyPr wrap="square" rtlCol="0">
              <a:spAutoFit/>
            </a:bodyPr>
            <a:lstStyle/>
            <a:p>
              <a:pPr algn="r"/>
              <a:endParaRPr lang="en-US" sz="800" dirty="0">
                <a:solidFill>
                  <a:srgbClr val="008000"/>
                </a:solidFill>
              </a:endParaRPr>
            </a:p>
          </p:txBody>
        </p:sp>
        <p:grpSp>
          <p:nvGrpSpPr>
            <p:cNvPr id="135" name="Group 134"/>
            <p:cNvGrpSpPr/>
            <p:nvPr/>
          </p:nvGrpSpPr>
          <p:grpSpPr>
            <a:xfrm>
              <a:off x="4535432" y="2518240"/>
              <a:ext cx="1608166" cy="438981"/>
              <a:chOff x="5831554" y="1974040"/>
              <a:chExt cx="1461777" cy="384272"/>
            </a:xfrm>
          </p:grpSpPr>
          <p:sp>
            <p:nvSpPr>
              <p:cNvPr id="201" name="TextBox 200"/>
              <p:cNvSpPr txBox="1"/>
              <p:nvPr/>
            </p:nvSpPr>
            <p:spPr>
              <a:xfrm flipV="1">
                <a:off x="5831554" y="1974040"/>
                <a:ext cx="186836" cy="45719"/>
              </a:xfrm>
              <a:prstGeom prst="rect">
                <a:avLst/>
              </a:prstGeom>
              <a:solidFill>
                <a:srgbClr val="008000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</a:endParaRPr>
              </a:p>
            </p:txBody>
          </p:sp>
          <p:sp>
            <p:nvSpPr>
              <p:cNvPr id="202" name="TextBox 201"/>
              <p:cNvSpPr txBox="1"/>
              <p:nvPr/>
            </p:nvSpPr>
            <p:spPr>
              <a:xfrm flipV="1">
                <a:off x="5924972" y="2126440"/>
                <a:ext cx="186836" cy="45719"/>
              </a:xfrm>
              <a:prstGeom prst="rect">
                <a:avLst/>
              </a:prstGeom>
              <a:solidFill>
                <a:srgbClr val="008000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</a:endParaRPr>
              </a:p>
            </p:txBody>
          </p:sp>
          <p:sp>
            <p:nvSpPr>
              <p:cNvPr id="203" name="TextBox 202"/>
              <p:cNvSpPr txBox="1"/>
              <p:nvPr/>
            </p:nvSpPr>
            <p:spPr>
              <a:xfrm flipV="1">
                <a:off x="5831554" y="2278840"/>
                <a:ext cx="186836" cy="45719"/>
              </a:xfrm>
              <a:prstGeom prst="rect">
                <a:avLst/>
              </a:prstGeom>
              <a:solidFill>
                <a:srgbClr val="008000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</a:endParaRPr>
              </a:p>
            </p:txBody>
          </p:sp>
          <p:sp>
            <p:nvSpPr>
              <p:cNvPr id="204" name="TextBox 203"/>
              <p:cNvSpPr txBox="1"/>
              <p:nvPr/>
            </p:nvSpPr>
            <p:spPr>
              <a:xfrm flipV="1">
                <a:off x="6137275" y="1986787"/>
                <a:ext cx="186836" cy="45719"/>
              </a:xfrm>
              <a:prstGeom prst="rect">
                <a:avLst/>
              </a:prstGeom>
              <a:solidFill>
                <a:srgbClr val="008000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</a:endParaRPr>
              </a:p>
            </p:txBody>
          </p:sp>
          <p:sp>
            <p:nvSpPr>
              <p:cNvPr id="205" name="TextBox 204"/>
              <p:cNvSpPr txBox="1"/>
              <p:nvPr/>
            </p:nvSpPr>
            <p:spPr>
              <a:xfrm flipV="1">
                <a:off x="6170790" y="2172159"/>
                <a:ext cx="186836" cy="45719"/>
              </a:xfrm>
              <a:prstGeom prst="rect">
                <a:avLst/>
              </a:prstGeom>
              <a:solidFill>
                <a:srgbClr val="008000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</a:endParaRPr>
              </a:p>
            </p:txBody>
          </p:sp>
          <p:sp>
            <p:nvSpPr>
              <p:cNvPr id="206" name="TextBox 205"/>
              <p:cNvSpPr txBox="1"/>
              <p:nvPr/>
            </p:nvSpPr>
            <p:spPr>
              <a:xfrm flipV="1">
                <a:off x="6401386" y="2080721"/>
                <a:ext cx="186836" cy="45719"/>
              </a:xfrm>
              <a:prstGeom prst="rect">
                <a:avLst/>
              </a:prstGeom>
              <a:solidFill>
                <a:srgbClr val="008000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</a:endParaRPr>
              </a:p>
            </p:txBody>
          </p:sp>
          <p:sp>
            <p:nvSpPr>
              <p:cNvPr id="207" name="TextBox 206"/>
              <p:cNvSpPr txBox="1"/>
              <p:nvPr/>
            </p:nvSpPr>
            <p:spPr>
              <a:xfrm flipV="1">
                <a:off x="6382083" y="2275840"/>
                <a:ext cx="186836" cy="45719"/>
              </a:xfrm>
              <a:prstGeom prst="rect">
                <a:avLst/>
              </a:prstGeom>
              <a:solidFill>
                <a:srgbClr val="008000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</a:endParaRPr>
              </a:p>
            </p:txBody>
          </p:sp>
          <p:sp>
            <p:nvSpPr>
              <p:cNvPr id="208" name="TextBox 207"/>
              <p:cNvSpPr txBox="1"/>
              <p:nvPr/>
            </p:nvSpPr>
            <p:spPr>
              <a:xfrm flipV="1">
                <a:off x="6650184" y="1996899"/>
                <a:ext cx="186836" cy="45719"/>
              </a:xfrm>
              <a:prstGeom prst="rect">
                <a:avLst/>
              </a:prstGeom>
              <a:solidFill>
                <a:srgbClr val="008000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</a:endParaRPr>
              </a:p>
            </p:txBody>
          </p:sp>
          <p:sp>
            <p:nvSpPr>
              <p:cNvPr id="209" name="TextBox 208"/>
              <p:cNvSpPr txBox="1"/>
              <p:nvPr/>
            </p:nvSpPr>
            <p:spPr>
              <a:xfrm flipV="1">
                <a:off x="6837020" y="2172159"/>
                <a:ext cx="186836" cy="45719"/>
              </a:xfrm>
              <a:prstGeom prst="rect">
                <a:avLst/>
              </a:prstGeom>
              <a:solidFill>
                <a:srgbClr val="008000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</a:endParaRPr>
              </a:p>
            </p:txBody>
          </p:sp>
          <p:sp>
            <p:nvSpPr>
              <p:cNvPr id="210" name="TextBox 209"/>
              <p:cNvSpPr txBox="1"/>
              <p:nvPr/>
            </p:nvSpPr>
            <p:spPr>
              <a:xfrm flipV="1">
                <a:off x="6718135" y="2312593"/>
                <a:ext cx="186836" cy="45719"/>
              </a:xfrm>
              <a:prstGeom prst="rect">
                <a:avLst/>
              </a:prstGeom>
              <a:solidFill>
                <a:srgbClr val="008000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</a:endParaRPr>
              </a:p>
            </p:txBody>
          </p:sp>
          <p:sp>
            <p:nvSpPr>
              <p:cNvPr id="211" name="TextBox 210"/>
              <p:cNvSpPr txBox="1"/>
              <p:nvPr/>
            </p:nvSpPr>
            <p:spPr>
              <a:xfrm flipV="1">
                <a:off x="7106495" y="1996899"/>
                <a:ext cx="186836" cy="45719"/>
              </a:xfrm>
              <a:prstGeom prst="rect">
                <a:avLst/>
              </a:prstGeom>
              <a:solidFill>
                <a:srgbClr val="008000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</a:endParaRPr>
              </a:p>
            </p:txBody>
          </p:sp>
          <p:sp>
            <p:nvSpPr>
              <p:cNvPr id="212" name="TextBox 211"/>
              <p:cNvSpPr txBox="1"/>
              <p:nvPr/>
            </p:nvSpPr>
            <p:spPr>
              <a:xfrm flipV="1">
                <a:off x="7057371" y="2118928"/>
                <a:ext cx="186836" cy="45719"/>
              </a:xfrm>
              <a:prstGeom prst="rect">
                <a:avLst/>
              </a:prstGeom>
              <a:solidFill>
                <a:srgbClr val="008000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</a:endParaRPr>
              </a:p>
            </p:txBody>
          </p:sp>
          <p:sp>
            <p:nvSpPr>
              <p:cNvPr id="213" name="TextBox 212"/>
              <p:cNvSpPr txBox="1"/>
              <p:nvPr/>
            </p:nvSpPr>
            <p:spPr>
              <a:xfrm flipV="1">
                <a:off x="6556766" y="2172159"/>
                <a:ext cx="186836" cy="45719"/>
              </a:xfrm>
              <a:prstGeom prst="rect">
                <a:avLst/>
              </a:prstGeom>
              <a:solidFill>
                <a:srgbClr val="008000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</a:endParaRPr>
              </a:p>
            </p:txBody>
          </p:sp>
          <p:sp>
            <p:nvSpPr>
              <p:cNvPr id="214" name="TextBox 213"/>
              <p:cNvSpPr txBox="1"/>
              <p:nvPr/>
            </p:nvSpPr>
            <p:spPr>
              <a:xfrm flipV="1">
                <a:off x="7081828" y="2309593"/>
                <a:ext cx="186836" cy="45719"/>
              </a:xfrm>
              <a:prstGeom prst="rect">
                <a:avLst/>
              </a:prstGeom>
              <a:solidFill>
                <a:srgbClr val="008000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</a:endParaRPr>
              </a:p>
            </p:txBody>
          </p:sp>
        </p:grpSp>
        <p:sp>
          <p:nvSpPr>
            <p:cNvPr id="136" name="TextBox 135"/>
            <p:cNvSpPr txBox="1"/>
            <p:nvPr/>
          </p:nvSpPr>
          <p:spPr>
            <a:xfrm flipV="1">
              <a:off x="4372561" y="2744931"/>
              <a:ext cx="205547" cy="52228"/>
            </a:xfrm>
            <a:prstGeom prst="rect">
              <a:avLst/>
            </a:prstGeom>
            <a:solidFill>
              <a:srgbClr val="008000"/>
            </a:solidFill>
          </p:spPr>
          <p:txBody>
            <a:bodyPr wrap="square" rtlCol="0">
              <a:spAutoFit/>
            </a:bodyPr>
            <a:lstStyle/>
            <a:p>
              <a:pPr algn="r"/>
              <a:endParaRPr lang="en-US" sz="800" dirty="0">
                <a:solidFill>
                  <a:srgbClr val="008000"/>
                </a:solidFill>
              </a:endParaRPr>
            </a:p>
          </p:txBody>
        </p:sp>
        <p:sp>
          <p:nvSpPr>
            <p:cNvPr id="137" name="TextBox 136"/>
            <p:cNvSpPr txBox="1"/>
            <p:nvPr/>
          </p:nvSpPr>
          <p:spPr>
            <a:xfrm flipV="1">
              <a:off x="3884379" y="2596582"/>
              <a:ext cx="205547" cy="52228"/>
            </a:xfrm>
            <a:prstGeom prst="rect">
              <a:avLst/>
            </a:prstGeom>
            <a:solidFill>
              <a:srgbClr val="008000"/>
            </a:solidFill>
          </p:spPr>
          <p:txBody>
            <a:bodyPr wrap="square" rtlCol="0">
              <a:spAutoFit/>
            </a:bodyPr>
            <a:lstStyle/>
            <a:p>
              <a:pPr algn="r"/>
              <a:endParaRPr lang="en-US" sz="800" dirty="0">
                <a:solidFill>
                  <a:srgbClr val="008000"/>
                </a:solidFill>
              </a:endParaRPr>
            </a:p>
          </p:txBody>
        </p:sp>
        <p:sp>
          <p:nvSpPr>
            <p:cNvPr id="138" name="TextBox 137"/>
            <p:cNvSpPr txBox="1"/>
            <p:nvPr/>
          </p:nvSpPr>
          <p:spPr>
            <a:xfrm flipV="1">
              <a:off x="4867147" y="2866435"/>
              <a:ext cx="205547" cy="52228"/>
            </a:xfrm>
            <a:prstGeom prst="rect">
              <a:avLst/>
            </a:prstGeom>
            <a:solidFill>
              <a:srgbClr val="008000"/>
            </a:solidFill>
          </p:spPr>
          <p:txBody>
            <a:bodyPr wrap="square" rtlCol="0">
              <a:spAutoFit/>
            </a:bodyPr>
            <a:lstStyle/>
            <a:p>
              <a:pPr algn="r"/>
              <a:endParaRPr lang="en-US" sz="800" dirty="0">
                <a:solidFill>
                  <a:srgbClr val="008000"/>
                </a:solidFill>
              </a:endParaRPr>
            </a:p>
          </p:txBody>
        </p:sp>
        <p:sp>
          <p:nvSpPr>
            <p:cNvPr id="139" name="TextBox 138"/>
            <p:cNvSpPr txBox="1"/>
            <p:nvPr/>
          </p:nvSpPr>
          <p:spPr>
            <a:xfrm flipV="1">
              <a:off x="5641590" y="2605825"/>
              <a:ext cx="205547" cy="52228"/>
            </a:xfrm>
            <a:prstGeom prst="rect">
              <a:avLst/>
            </a:prstGeom>
            <a:solidFill>
              <a:srgbClr val="008000"/>
            </a:solidFill>
          </p:spPr>
          <p:txBody>
            <a:bodyPr wrap="square" rtlCol="0">
              <a:spAutoFit/>
            </a:bodyPr>
            <a:lstStyle/>
            <a:p>
              <a:pPr algn="r"/>
              <a:endParaRPr lang="en-US" sz="800" dirty="0">
                <a:solidFill>
                  <a:srgbClr val="008000"/>
                </a:solidFill>
              </a:endParaRPr>
            </a:p>
          </p:txBody>
        </p:sp>
        <p:sp>
          <p:nvSpPr>
            <p:cNvPr id="140" name="TextBox 17"/>
            <p:cNvSpPr txBox="1">
              <a:spLocks noChangeArrowheads="1"/>
            </p:cNvSpPr>
            <p:nvPr/>
          </p:nvSpPr>
          <p:spPr bwMode="auto">
            <a:xfrm>
              <a:off x="400733" y="2378203"/>
              <a:ext cx="2832100" cy="4514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8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eaLnBrk="0" hangingPunct="0">
                <a:defRPr sz="28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eaLnBrk="0" hangingPunct="0">
                <a:defRPr sz="28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eaLnBrk="0" hangingPunct="0">
                <a:defRPr sz="28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ct val="120000"/>
                </a:lnSpc>
                <a:spcBef>
                  <a:spcPct val="50000"/>
                </a:spcBef>
                <a:buClr>
                  <a:srgbClr val="063DE8"/>
                </a:buClr>
                <a:buFont typeface="Wingdings" charset="0"/>
                <a:buNone/>
              </a:pPr>
              <a:r>
                <a:rPr lang="en-US" sz="2000" i="1" dirty="0">
                  <a:latin typeface="cmr10"/>
                  <a:cs typeface="cmr10"/>
                </a:rPr>
                <a:t>k</a:t>
              </a:r>
              <a:r>
                <a:rPr lang="en-US" sz="2000" dirty="0" smtClean="0">
                  <a:latin typeface="cmr10"/>
                  <a:cs typeface="cmr10"/>
                </a:rPr>
                <a:t>-</a:t>
              </a:r>
              <a:r>
                <a:rPr lang="en-US" sz="2000" dirty="0" err="1" smtClean="0">
                  <a:latin typeface="cmr10"/>
                  <a:cs typeface="cmr10"/>
                </a:rPr>
                <a:t>mers</a:t>
              </a:r>
              <a:endParaRPr lang="en-US" sz="2000" dirty="0">
                <a:latin typeface="cmr10"/>
                <a:cs typeface="cmr10"/>
              </a:endParaRPr>
            </a:p>
          </p:txBody>
        </p:sp>
        <p:grpSp>
          <p:nvGrpSpPr>
            <p:cNvPr id="141" name="Group 140"/>
            <p:cNvGrpSpPr/>
            <p:nvPr/>
          </p:nvGrpSpPr>
          <p:grpSpPr>
            <a:xfrm>
              <a:off x="4323868" y="2015526"/>
              <a:ext cx="506412" cy="369332"/>
              <a:chOff x="4344026" y="1975206"/>
              <a:chExt cx="506412" cy="369332"/>
            </a:xfrm>
          </p:grpSpPr>
          <p:sp>
            <p:nvSpPr>
              <p:cNvPr id="199" name="Down Arrow 400"/>
              <p:cNvSpPr>
                <a:spLocks noChangeArrowheads="1"/>
              </p:cNvSpPr>
              <p:nvPr/>
            </p:nvSpPr>
            <p:spPr bwMode="auto">
              <a:xfrm>
                <a:off x="4344026" y="2008646"/>
                <a:ext cx="506412" cy="309563"/>
              </a:xfrm>
              <a:prstGeom prst="downArrow">
                <a:avLst>
                  <a:gd name="adj1" fmla="val 50000"/>
                  <a:gd name="adj2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marL="914400" indent="-457200" algn="ctr" eaLnBrk="0" hangingPunct="0">
                  <a:lnSpc>
                    <a:spcPct val="120000"/>
                  </a:lnSpc>
                  <a:spcBef>
                    <a:spcPct val="50000"/>
                  </a:spcBef>
                  <a:buClr>
                    <a:srgbClr val="063DE8"/>
                  </a:buClr>
                  <a:buFont typeface="Wingdings" charset="0"/>
                  <a:buAutoNum type="arabicPeriod"/>
                </a:pPr>
                <a:endParaRPr lang="en-US" dirty="0"/>
              </a:p>
            </p:txBody>
          </p:sp>
          <p:sp>
            <p:nvSpPr>
              <p:cNvPr id="200" name="TextBox 199"/>
              <p:cNvSpPr txBox="1"/>
              <p:nvPr/>
            </p:nvSpPr>
            <p:spPr>
              <a:xfrm>
                <a:off x="4474170" y="1975206"/>
                <a:ext cx="28785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>
                    <a:solidFill>
                      <a:srgbClr val="FFFFFF"/>
                    </a:solidFill>
                    <a:latin typeface="cmr10"/>
                    <a:cs typeface="cmr10"/>
                  </a:rPr>
                  <a:t>1</a:t>
                </a:r>
                <a:endParaRPr lang="en-US" dirty="0">
                  <a:solidFill>
                    <a:srgbClr val="FFFFFF"/>
                  </a:solidFill>
                  <a:latin typeface="cmr10"/>
                  <a:cs typeface="cmr10"/>
                </a:endParaRPr>
              </a:p>
            </p:txBody>
          </p:sp>
        </p:grpSp>
        <p:sp>
          <p:nvSpPr>
            <p:cNvPr id="142" name="TextBox 141"/>
            <p:cNvSpPr txBox="1"/>
            <p:nvPr/>
          </p:nvSpPr>
          <p:spPr>
            <a:xfrm>
              <a:off x="4456278" y="3048545"/>
              <a:ext cx="2878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FFFF"/>
                  </a:solidFill>
                  <a:latin typeface="cmr10"/>
                  <a:cs typeface="cmr10"/>
                </a:rPr>
                <a:t>2</a:t>
              </a:r>
            </a:p>
          </p:txBody>
        </p:sp>
        <p:grpSp>
          <p:nvGrpSpPr>
            <p:cNvPr id="143" name="Group 142"/>
            <p:cNvGrpSpPr/>
            <p:nvPr/>
          </p:nvGrpSpPr>
          <p:grpSpPr>
            <a:xfrm>
              <a:off x="4323532" y="3766454"/>
              <a:ext cx="506412" cy="369332"/>
              <a:chOff x="4323532" y="4057252"/>
              <a:chExt cx="506412" cy="369332"/>
            </a:xfrm>
          </p:grpSpPr>
          <p:sp>
            <p:nvSpPr>
              <p:cNvPr id="197" name="Down Arrow 399"/>
              <p:cNvSpPr>
                <a:spLocks noChangeArrowheads="1"/>
              </p:cNvSpPr>
              <p:nvPr/>
            </p:nvSpPr>
            <p:spPr bwMode="auto">
              <a:xfrm>
                <a:off x="4323532" y="4085469"/>
                <a:ext cx="506412" cy="309563"/>
              </a:xfrm>
              <a:prstGeom prst="downArrow">
                <a:avLst>
                  <a:gd name="adj1" fmla="val 50000"/>
                  <a:gd name="adj2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marL="914400" indent="-457200" algn="ctr" eaLnBrk="0" hangingPunct="0">
                  <a:lnSpc>
                    <a:spcPct val="120000"/>
                  </a:lnSpc>
                  <a:spcBef>
                    <a:spcPct val="50000"/>
                  </a:spcBef>
                  <a:buClr>
                    <a:srgbClr val="063DE8"/>
                  </a:buClr>
                  <a:buFont typeface="Wingdings" charset="0"/>
                  <a:buAutoNum type="arabicPeriod"/>
                </a:pPr>
                <a:endParaRPr lang="en-US"/>
              </a:p>
            </p:txBody>
          </p:sp>
          <p:sp>
            <p:nvSpPr>
              <p:cNvPr id="198" name="TextBox 197"/>
              <p:cNvSpPr txBox="1"/>
              <p:nvPr/>
            </p:nvSpPr>
            <p:spPr>
              <a:xfrm>
                <a:off x="4446631" y="4057252"/>
                <a:ext cx="28785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FFFFFF"/>
                    </a:solidFill>
                    <a:latin typeface="cmr10"/>
                    <a:cs typeface="cmr10"/>
                  </a:rPr>
                  <a:t>3</a:t>
                </a:r>
              </a:p>
            </p:txBody>
          </p:sp>
        </p:grpSp>
        <p:sp>
          <p:nvSpPr>
            <p:cNvPr id="144" name="TextBox 143"/>
            <p:cNvSpPr txBox="1"/>
            <p:nvPr/>
          </p:nvSpPr>
          <p:spPr>
            <a:xfrm flipV="1">
              <a:off x="2796817" y="1305714"/>
              <a:ext cx="551569" cy="522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txBody>
            <a:bodyPr wrap="square" rtlCol="0">
              <a:spAutoFit/>
            </a:bodyPr>
            <a:lstStyle/>
            <a:p>
              <a:pPr algn="r"/>
              <a:endParaRPr lang="en-US" sz="800" dirty="0">
                <a:solidFill>
                  <a:srgbClr val="008000"/>
                </a:solidFill>
              </a:endParaRPr>
            </a:p>
          </p:txBody>
        </p:sp>
        <p:sp>
          <p:nvSpPr>
            <p:cNvPr id="145" name="TextBox 144"/>
            <p:cNvSpPr txBox="1"/>
            <p:nvPr/>
          </p:nvSpPr>
          <p:spPr>
            <a:xfrm flipV="1">
              <a:off x="2942103" y="1541835"/>
              <a:ext cx="551569" cy="522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txBody>
            <a:bodyPr wrap="square" rtlCol="0">
              <a:spAutoFit/>
            </a:bodyPr>
            <a:lstStyle/>
            <a:p>
              <a:pPr algn="r"/>
              <a:endParaRPr lang="en-US" sz="800" dirty="0">
                <a:solidFill>
                  <a:srgbClr val="008000"/>
                </a:solidFill>
              </a:endParaRPr>
            </a:p>
          </p:txBody>
        </p:sp>
        <p:sp>
          <p:nvSpPr>
            <p:cNvPr id="146" name="TextBox 145"/>
            <p:cNvSpPr txBox="1"/>
            <p:nvPr/>
          </p:nvSpPr>
          <p:spPr>
            <a:xfrm flipV="1">
              <a:off x="3094503" y="1784955"/>
              <a:ext cx="551569" cy="522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txBody>
            <a:bodyPr wrap="square" rtlCol="0">
              <a:spAutoFit/>
            </a:bodyPr>
            <a:lstStyle/>
            <a:p>
              <a:pPr algn="r"/>
              <a:endParaRPr lang="en-US" sz="800" dirty="0">
                <a:solidFill>
                  <a:srgbClr val="008000"/>
                </a:solidFill>
              </a:endParaRPr>
            </a:p>
          </p:txBody>
        </p:sp>
        <p:sp>
          <p:nvSpPr>
            <p:cNvPr id="147" name="TextBox 146"/>
            <p:cNvSpPr txBox="1"/>
            <p:nvPr/>
          </p:nvSpPr>
          <p:spPr>
            <a:xfrm flipV="1">
              <a:off x="3469505" y="1308269"/>
              <a:ext cx="551569" cy="522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txBody>
            <a:bodyPr wrap="square" rtlCol="0">
              <a:spAutoFit/>
            </a:bodyPr>
            <a:lstStyle/>
            <a:p>
              <a:pPr algn="r"/>
              <a:endParaRPr lang="en-US" sz="800" dirty="0">
                <a:solidFill>
                  <a:srgbClr val="008000"/>
                </a:solidFill>
              </a:endParaRPr>
            </a:p>
          </p:txBody>
        </p:sp>
        <p:sp>
          <p:nvSpPr>
            <p:cNvPr id="148" name="TextBox 147"/>
            <p:cNvSpPr txBox="1"/>
            <p:nvPr/>
          </p:nvSpPr>
          <p:spPr>
            <a:xfrm flipV="1">
              <a:off x="3623977" y="1536795"/>
              <a:ext cx="551569" cy="522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txBody>
            <a:bodyPr wrap="square" rtlCol="0">
              <a:spAutoFit/>
            </a:bodyPr>
            <a:lstStyle/>
            <a:p>
              <a:pPr algn="r"/>
              <a:endParaRPr lang="en-US" sz="800" dirty="0">
                <a:solidFill>
                  <a:srgbClr val="008000"/>
                </a:solidFill>
              </a:endParaRPr>
            </a:p>
          </p:txBody>
        </p:sp>
        <p:sp>
          <p:nvSpPr>
            <p:cNvPr id="149" name="TextBox 148"/>
            <p:cNvSpPr txBox="1"/>
            <p:nvPr/>
          </p:nvSpPr>
          <p:spPr>
            <a:xfrm flipV="1">
              <a:off x="3774305" y="1784616"/>
              <a:ext cx="551569" cy="522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txBody>
            <a:bodyPr wrap="square" rtlCol="0">
              <a:spAutoFit/>
            </a:bodyPr>
            <a:lstStyle/>
            <a:p>
              <a:pPr algn="r"/>
              <a:endParaRPr lang="en-US" sz="800" dirty="0">
                <a:solidFill>
                  <a:srgbClr val="008000"/>
                </a:solidFill>
              </a:endParaRPr>
            </a:p>
          </p:txBody>
        </p:sp>
        <p:sp>
          <p:nvSpPr>
            <p:cNvPr id="150" name="TextBox 149"/>
            <p:cNvSpPr txBox="1"/>
            <p:nvPr/>
          </p:nvSpPr>
          <p:spPr>
            <a:xfrm flipV="1">
              <a:off x="4109837" y="1308269"/>
              <a:ext cx="551569" cy="522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txBody>
            <a:bodyPr wrap="square" rtlCol="0">
              <a:spAutoFit/>
            </a:bodyPr>
            <a:lstStyle/>
            <a:p>
              <a:pPr algn="r"/>
              <a:endParaRPr lang="en-US" sz="800" dirty="0">
                <a:solidFill>
                  <a:srgbClr val="008000"/>
                </a:solidFill>
              </a:endParaRPr>
            </a:p>
          </p:txBody>
        </p:sp>
        <p:sp>
          <p:nvSpPr>
            <p:cNvPr id="151" name="TextBox 150"/>
            <p:cNvSpPr txBox="1"/>
            <p:nvPr/>
          </p:nvSpPr>
          <p:spPr>
            <a:xfrm flipV="1">
              <a:off x="4280108" y="1544708"/>
              <a:ext cx="551569" cy="522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txBody>
            <a:bodyPr wrap="square" rtlCol="0">
              <a:spAutoFit/>
            </a:bodyPr>
            <a:lstStyle/>
            <a:p>
              <a:pPr algn="r"/>
              <a:endParaRPr lang="en-US" sz="800" dirty="0">
                <a:solidFill>
                  <a:srgbClr val="008000"/>
                </a:solidFill>
              </a:endParaRPr>
            </a:p>
          </p:txBody>
        </p:sp>
        <p:sp>
          <p:nvSpPr>
            <p:cNvPr id="152" name="TextBox 151"/>
            <p:cNvSpPr txBox="1"/>
            <p:nvPr/>
          </p:nvSpPr>
          <p:spPr>
            <a:xfrm flipV="1">
              <a:off x="4422387" y="1775789"/>
              <a:ext cx="551569" cy="522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txBody>
            <a:bodyPr wrap="square" rtlCol="0">
              <a:spAutoFit/>
            </a:bodyPr>
            <a:lstStyle/>
            <a:p>
              <a:pPr algn="r"/>
              <a:endParaRPr lang="en-US" sz="800" dirty="0">
                <a:solidFill>
                  <a:srgbClr val="008000"/>
                </a:solidFill>
              </a:endParaRPr>
            </a:p>
          </p:txBody>
        </p:sp>
        <p:sp>
          <p:nvSpPr>
            <p:cNvPr id="153" name="TextBox 152"/>
            <p:cNvSpPr txBox="1"/>
            <p:nvPr/>
          </p:nvSpPr>
          <p:spPr>
            <a:xfrm flipV="1">
              <a:off x="4791621" y="1307227"/>
              <a:ext cx="551569" cy="522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txBody>
            <a:bodyPr wrap="square" rtlCol="0">
              <a:spAutoFit/>
            </a:bodyPr>
            <a:lstStyle/>
            <a:p>
              <a:pPr algn="r"/>
              <a:endParaRPr lang="en-US" sz="800" dirty="0">
                <a:solidFill>
                  <a:srgbClr val="008000"/>
                </a:solidFill>
              </a:endParaRPr>
            </a:p>
          </p:txBody>
        </p:sp>
        <p:sp>
          <p:nvSpPr>
            <p:cNvPr id="154" name="TextBox 153"/>
            <p:cNvSpPr txBox="1"/>
            <p:nvPr/>
          </p:nvSpPr>
          <p:spPr>
            <a:xfrm flipV="1">
              <a:off x="4915006" y="1530841"/>
              <a:ext cx="551569" cy="522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txBody>
            <a:bodyPr wrap="square" rtlCol="0">
              <a:spAutoFit/>
            </a:bodyPr>
            <a:lstStyle/>
            <a:p>
              <a:pPr algn="r"/>
              <a:endParaRPr lang="en-US" sz="800" dirty="0">
                <a:solidFill>
                  <a:srgbClr val="008000"/>
                </a:solidFill>
              </a:endParaRPr>
            </a:p>
          </p:txBody>
        </p:sp>
        <p:sp>
          <p:nvSpPr>
            <p:cNvPr id="155" name="TextBox 154"/>
            <p:cNvSpPr txBox="1"/>
            <p:nvPr/>
          </p:nvSpPr>
          <p:spPr>
            <a:xfrm flipV="1">
              <a:off x="5067406" y="1773622"/>
              <a:ext cx="551569" cy="522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txBody>
            <a:bodyPr wrap="square" rtlCol="0">
              <a:spAutoFit/>
            </a:bodyPr>
            <a:lstStyle/>
            <a:p>
              <a:pPr algn="r"/>
              <a:endParaRPr lang="en-US" sz="800" dirty="0">
                <a:solidFill>
                  <a:srgbClr val="008000"/>
                </a:solidFill>
              </a:endParaRPr>
            </a:p>
          </p:txBody>
        </p:sp>
        <p:sp>
          <p:nvSpPr>
            <p:cNvPr id="156" name="TextBox 155"/>
            <p:cNvSpPr txBox="1"/>
            <p:nvPr/>
          </p:nvSpPr>
          <p:spPr>
            <a:xfrm flipV="1">
              <a:off x="5427921" y="1307227"/>
              <a:ext cx="551569" cy="522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txBody>
            <a:bodyPr wrap="square" rtlCol="0">
              <a:spAutoFit/>
            </a:bodyPr>
            <a:lstStyle/>
            <a:p>
              <a:pPr algn="r"/>
              <a:endParaRPr lang="en-US" sz="800" dirty="0">
                <a:solidFill>
                  <a:srgbClr val="008000"/>
                </a:solidFill>
              </a:endParaRPr>
            </a:p>
          </p:txBody>
        </p:sp>
        <p:sp>
          <p:nvSpPr>
            <p:cNvPr id="157" name="TextBox 156"/>
            <p:cNvSpPr txBox="1"/>
            <p:nvPr/>
          </p:nvSpPr>
          <p:spPr>
            <a:xfrm flipV="1">
              <a:off x="5561273" y="1518594"/>
              <a:ext cx="551569" cy="522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txBody>
            <a:bodyPr wrap="square" rtlCol="0">
              <a:spAutoFit/>
            </a:bodyPr>
            <a:lstStyle/>
            <a:p>
              <a:pPr algn="r"/>
              <a:endParaRPr lang="en-US" sz="800" dirty="0">
                <a:solidFill>
                  <a:srgbClr val="008000"/>
                </a:solidFill>
              </a:endParaRPr>
            </a:p>
          </p:txBody>
        </p:sp>
        <p:sp>
          <p:nvSpPr>
            <p:cNvPr id="158" name="TextBox 157"/>
            <p:cNvSpPr txBox="1"/>
            <p:nvPr/>
          </p:nvSpPr>
          <p:spPr>
            <a:xfrm flipV="1">
              <a:off x="5713673" y="1774875"/>
              <a:ext cx="551569" cy="522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txBody>
            <a:bodyPr wrap="square" rtlCol="0">
              <a:spAutoFit/>
            </a:bodyPr>
            <a:lstStyle/>
            <a:p>
              <a:pPr algn="r"/>
              <a:endParaRPr lang="en-US" sz="800" dirty="0">
                <a:solidFill>
                  <a:srgbClr val="008000"/>
                </a:solidFill>
              </a:endParaRPr>
            </a:p>
          </p:txBody>
        </p:sp>
        <p:sp>
          <p:nvSpPr>
            <p:cNvPr id="159" name="TextBox 158"/>
            <p:cNvSpPr txBox="1"/>
            <p:nvPr/>
          </p:nvSpPr>
          <p:spPr>
            <a:xfrm flipV="1">
              <a:off x="3201576" y="1427299"/>
              <a:ext cx="551569" cy="52228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r"/>
              <a:endParaRPr lang="en-US" sz="800" dirty="0">
                <a:solidFill>
                  <a:srgbClr val="008000"/>
                </a:solidFill>
              </a:endParaRPr>
            </a:p>
          </p:txBody>
        </p:sp>
        <p:sp>
          <p:nvSpPr>
            <p:cNvPr id="160" name="TextBox 159"/>
            <p:cNvSpPr txBox="1"/>
            <p:nvPr/>
          </p:nvSpPr>
          <p:spPr>
            <a:xfrm flipV="1">
              <a:off x="2938429" y="1672247"/>
              <a:ext cx="551569" cy="52228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r"/>
              <a:endParaRPr lang="en-US" sz="800" dirty="0">
                <a:solidFill>
                  <a:srgbClr val="008000"/>
                </a:solidFill>
              </a:endParaRPr>
            </a:p>
          </p:txBody>
        </p:sp>
        <p:sp>
          <p:nvSpPr>
            <p:cNvPr id="161" name="TextBox 160"/>
            <p:cNvSpPr txBox="1"/>
            <p:nvPr/>
          </p:nvSpPr>
          <p:spPr>
            <a:xfrm flipV="1">
              <a:off x="2746422" y="1886462"/>
              <a:ext cx="551569" cy="52228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r"/>
              <a:endParaRPr lang="en-US" sz="800" dirty="0">
                <a:solidFill>
                  <a:srgbClr val="008000"/>
                </a:solidFill>
              </a:endParaRPr>
            </a:p>
          </p:txBody>
        </p:sp>
        <p:sp>
          <p:nvSpPr>
            <p:cNvPr id="162" name="TextBox 161"/>
            <p:cNvSpPr txBox="1"/>
            <p:nvPr/>
          </p:nvSpPr>
          <p:spPr>
            <a:xfrm flipV="1">
              <a:off x="3918366" y="1427850"/>
              <a:ext cx="551569" cy="52228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r"/>
              <a:endParaRPr lang="en-US" sz="800" dirty="0">
                <a:solidFill>
                  <a:srgbClr val="008000"/>
                </a:solidFill>
              </a:endParaRPr>
            </a:p>
          </p:txBody>
        </p:sp>
        <p:sp>
          <p:nvSpPr>
            <p:cNvPr id="163" name="TextBox 162"/>
            <p:cNvSpPr txBox="1"/>
            <p:nvPr/>
          </p:nvSpPr>
          <p:spPr>
            <a:xfrm flipV="1">
              <a:off x="3655219" y="1672798"/>
              <a:ext cx="551569" cy="52228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r"/>
              <a:endParaRPr lang="en-US" sz="800" dirty="0">
                <a:solidFill>
                  <a:srgbClr val="008000"/>
                </a:solidFill>
              </a:endParaRPr>
            </a:p>
          </p:txBody>
        </p:sp>
        <p:sp>
          <p:nvSpPr>
            <p:cNvPr id="164" name="TextBox 163"/>
            <p:cNvSpPr txBox="1"/>
            <p:nvPr/>
          </p:nvSpPr>
          <p:spPr>
            <a:xfrm flipV="1">
              <a:off x="3463212" y="1887013"/>
              <a:ext cx="551569" cy="52228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r"/>
              <a:endParaRPr lang="en-US" sz="800" dirty="0">
                <a:solidFill>
                  <a:srgbClr val="008000"/>
                </a:solidFill>
              </a:endParaRPr>
            </a:p>
          </p:txBody>
        </p:sp>
        <p:sp>
          <p:nvSpPr>
            <p:cNvPr id="165" name="TextBox 164"/>
            <p:cNvSpPr txBox="1"/>
            <p:nvPr/>
          </p:nvSpPr>
          <p:spPr>
            <a:xfrm flipV="1">
              <a:off x="4603431" y="1428764"/>
              <a:ext cx="551569" cy="52228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r"/>
              <a:endParaRPr lang="en-US" sz="800" dirty="0">
                <a:solidFill>
                  <a:srgbClr val="008000"/>
                </a:solidFill>
              </a:endParaRPr>
            </a:p>
          </p:txBody>
        </p:sp>
        <p:sp>
          <p:nvSpPr>
            <p:cNvPr id="166" name="TextBox 165"/>
            <p:cNvSpPr txBox="1"/>
            <p:nvPr/>
          </p:nvSpPr>
          <p:spPr>
            <a:xfrm flipV="1">
              <a:off x="4340284" y="1673712"/>
              <a:ext cx="551569" cy="52228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r"/>
              <a:endParaRPr lang="en-US" sz="800" dirty="0">
                <a:solidFill>
                  <a:srgbClr val="008000"/>
                </a:solidFill>
              </a:endParaRPr>
            </a:p>
          </p:txBody>
        </p:sp>
        <p:sp>
          <p:nvSpPr>
            <p:cNvPr id="167" name="TextBox 166"/>
            <p:cNvSpPr txBox="1"/>
            <p:nvPr/>
          </p:nvSpPr>
          <p:spPr>
            <a:xfrm flipV="1">
              <a:off x="4148277" y="1887927"/>
              <a:ext cx="551569" cy="52228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r"/>
              <a:endParaRPr lang="en-US" sz="800" dirty="0">
                <a:solidFill>
                  <a:srgbClr val="008000"/>
                </a:solidFill>
              </a:endParaRPr>
            </a:p>
          </p:txBody>
        </p:sp>
        <p:sp>
          <p:nvSpPr>
            <p:cNvPr id="168" name="TextBox 167"/>
            <p:cNvSpPr txBox="1"/>
            <p:nvPr/>
          </p:nvSpPr>
          <p:spPr>
            <a:xfrm flipV="1">
              <a:off x="5285488" y="1429315"/>
              <a:ext cx="551569" cy="52228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r"/>
              <a:endParaRPr lang="en-US" sz="800" dirty="0">
                <a:solidFill>
                  <a:srgbClr val="008000"/>
                </a:solidFill>
              </a:endParaRPr>
            </a:p>
          </p:txBody>
        </p:sp>
        <p:sp>
          <p:nvSpPr>
            <p:cNvPr id="169" name="TextBox 168"/>
            <p:cNvSpPr txBox="1"/>
            <p:nvPr/>
          </p:nvSpPr>
          <p:spPr>
            <a:xfrm flipV="1">
              <a:off x="5022341" y="1674263"/>
              <a:ext cx="551569" cy="52228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r"/>
              <a:endParaRPr lang="en-US" sz="800" dirty="0">
                <a:solidFill>
                  <a:srgbClr val="008000"/>
                </a:solidFill>
              </a:endParaRPr>
            </a:p>
          </p:txBody>
        </p:sp>
        <p:sp>
          <p:nvSpPr>
            <p:cNvPr id="170" name="TextBox 169"/>
            <p:cNvSpPr txBox="1"/>
            <p:nvPr/>
          </p:nvSpPr>
          <p:spPr>
            <a:xfrm flipV="1">
              <a:off x="4830334" y="1888478"/>
              <a:ext cx="551569" cy="52228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r"/>
              <a:endParaRPr lang="en-US" sz="800" dirty="0">
                <a:solidFill>
                  <a:srgbClr val="008000"/>
                </a:solidFill>
              </a:endParaRPr>
            </a:p>
          </p:txBody>
        </p:sp>
        <p:sp>
          <p:nvSpPr>
            <p:cNvPr id="171" name="TextBox 170"/>
            <p:cNvSpPr txBox="1"/>
            <p:nvPr/>
          </p:nvSpPr>
          <p:spPr>
            <a:xfrm flipV="1">
              <a:off x="5510799" y="1897188"/>
              <a:ext cx="551569" cy="52228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r"/>
              <a:endParaRPr lang="en-US" sz="800" dirty="0">
                <a:solidFill>
                  <a:srgbClr val="008000"/>
                </a:solidFill>
              </a:endParaRPr>
            </a:p>
          </p:txBody>
        </p:sp>
        <p:grpSp>
          <p:nvGrpSpPr>
            <p:cNvPr id="172" name="Group 171"/>
            <p:cNvGrpSpPr/>
            <p:nvPr/>
          </p:nvGrpSpPr>
          <p:grpSpPr>
            <a:xfrm>
              <a:off x="2796817" y="3538866"/>
              <a:ext cx="3308127" cy="82387"/>
              <a:chOff x="2796817" y="3538864"/>
              <a:chExt cx="3308127" cy="149838"/>
            </a:xfrm>
          </p:grpSpPr>
          <p:sp>
            <p:nvSpPr>
              <p:cNvPr id="193" name="TextBox 192"/>
              <p:cNvSpPr txBox="1"/>
              <p:nvPr/>
            </p:nvSpPr>
            <p:spPr>
              <a:xfrm flipV="1">
                <a:off x="2796817" y="3538864"/>
                <a:ext cx="696855" cy="142076"/>
              </a:xfrm>
              <a:prstGeom prst="rect">
                <a:avLst/>
              </a:prstGeom>
              <a:solidFill>
                <a:srgbClr val="008000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</a:endParaRPr>
              </a:p>
            </p:txBody>
          </p:sp>
          <p:sp>
            <p:nvSpPr>
              <p:cNvPr id="194" name="TextBox 193"/>
              <p:cNvSpPr txBox="1"/>
              <p:nvPr/>
            </p:nvSpPr>
            <p:spPr>
              <a:xfrm flipV="1">
                <a:off x="3695017" y="3538864"/>
                <a:ext cx="445092" cy="149838"/>
              </a:xfrm>
              <a:prstGeom prst="rect">
                <a:avLst/>
              </a:prstGeom>
              <a:solidFill>
                <a:srgbClr val="008000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</a:endParaRPr>
              </a:p>
            </p:txBody>
          </p:sp>
          <p:sp>
            <p:nvSpPr>
              <p:cNvPr id="195" name="TextBox 194"/>
              <p:cNvSpPr txBox="1"/>
              <p:nvPr/>
            </p:nvSpPr>
            <p:spPr>
              <a:xfrm flipV="1">
                <a:off x="4386279" y="3538864"/>
                <a:ext cx="899209" cy="142076"/>
              </a:xfrm>
              <a:prstGeom prst="rect">
                <a:avLst/>
              </a:prstGeom>
              <a:solidFill>
                <a:srgbClr val="008000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</a:endParaRPr>
              </a:p>
            </p:txBody>
          </p:sp>
          <p:sp>
            <p:nvSpPr>
              <p:cNvPr id="196" name="TextBox 195"/>
              <p:cNvSpPr txBox="1"/>
              <p:nvPr/>
            </p:nvSpPr>
            <p:spPr>
              <a:xfrm flipV="1">
                <a:off x="5581392" y="3538864"/>
                <a:ext cx="523552" cy="142076"/>
              </a:xfrm>
              <a:prstGeom prst="rect">
                <a:avLst/>
              </a:prstGeom>
              <a:solidFill>
                <a:srgbClr val="008000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</a:endParaRPr>
              </a:p>
            </p:txBody>
          </p:sp>
        </p:grpSp>
        <p:grpSp>
          <p:nvGrpSpPr>
            <p:cNvPr id="173" name="Group 172"/>
            <p:cNvGrpSpPr/>
            <p:nvPr/>
          </p:nvGrpSpPr>
          <p:grpSpPr>
            <a:xfrm>
              <a:off x="2796817" y="4160593"/>
              <a:ext cx="3308127" cy="542235"/>
              <a:chOff x="2796817" y="4432753"/>
              <a:chExt cx="3308127" cy="542235"/>
            </a:xfrm>
          </p:grpSpPr>
          <p:sp>
            <p:nvSpPr>
              <p:cNvPr id="174" name="TextBox 173"/>
              <p:cNvSpPr txBox="1"/>
              <p:nvPr/>
            </p:nvSpPr>
            <p:spPr>
              <a:xfrm flipV="1">
                <a:off x="3187427" y="4632230"/>
                <a:ext cx="551569" cy="52228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</a:endParaRPr>
              </a:p>
            </p:txBody>
          </p:sp>
          <p:sp>
            <p:nvSpPr>
              <p:cNvPr id="175" name="TextBox 174"/>
              <p:cNvSpPr txBox="1"/>
              <p:nvPr/>
            </p:nvSpPr>
            <p:spPr>
              <a:xfrm flipV="1">
                <a:off x="3451894" y="4432753"/>
                <a:ext cx="551569" cy="52228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</a:endParaRPr>
              </a:p>
            </p:txBody>
          </p:sp>
          <p:grpSp>
            <p:nvGrpSpPr>
              <p:cNvPr id="176" name="Group 175"/>
              <p:cNvGrpSpPr/>
              <p:nvPr/>
            </p:nvGrpSpPr>
            <p:grpSpPr>
              <a:xfrm>
                <a:off x="2796817" y="4759718"/>
                <a:ext cx="3308127" cy="82387"/>
                <a:chOff x="2796817" y="3538864"/>
                <a:chExt cx="3308127" cy="149838"/>
              </a:xfrm>
            </p:grpSpPr>
            <p:sp>
              <p:nvSpPr>
                <p:cNvPr id="189" name="TextBox 188"/>
                <p:cNvSpPr txBox="1"/>
                <p:nvPr/>
              </p:nvSpPr>
              <p:spPr>
                <a:xfrm flipV="1">
                  <a:off x="2796817" y="3538864"/>
                  <a:ext cx="696855" cy="142076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</a:endParaRPr>
                </a:p>
              </p:txBody>
            </p:sp>
            <p:sp>
              <p:nvSpPr>
                <p:cNvPr id="190" name="TextBox 189"/>
                <p:cNvSpPr txBox="1"/>
                <p:nvPr/>
              </p:nvSpPr>
              <p:spPr>
                <a:xfrm flipV="1">
                  <a:off x="3695017" y="3538864"/>
                  <a:ext cx="445092" cy="149838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</a:endParaRPr>
                </a:p>
              </p:txBody>
            </p:sp>
            <p:sp>
              <p:nvSpPr>
                <p:cNvPr id="191" name="TextBox 190"/>
                <p:cNvSpPr txBox="1"/>
                <p:nvPr/>
              </p:nvSpPr>
              <p:spPr>
                <a:xfrm flipV="1">
                  <a:off x="4386279" y="3538864"/>
                  <a:ext cx="899209" cy="142076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</a:endParaRPr>
                </a:p>
              </p:txBody>
            </p:sp>
            <p:sp>
              <p:nvSpPr>
                <p:cNvPr id="192" name="TextBox 191"/>
                <p:cNvSpPr txBox="1"/>
                <p:nvPr/>
              </p:nvSpPr>
              <p:spPr>
                <a:xfrm flipV="1">
                  <a:off x="5581392" y="3538864"/>
                  <a:ext cx="523552" cy="142076"/>
                </a:xfrm>
                <a:prstGeom prst="rect">
                  <a:avLst/>
                </a:prstGeom>
                <a:solidFill>
                  <a:srgbClr val="00800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sz="800" dirty="0">
                    <a:solidFill>
                      <a:srgbClr val="008000"/>
                    </a:solidFill>
                  </a:endParaRPr>
                </a:p>
              </p:txBody>
            </p:sp>
          </p:grpSp>
          <p:sp>
            <p:nvSpPr>
              <p:cNvPr id="177" name="TextBox 176"/>
              <p:cNvSpPr txBox="1"/>
              <p:nvPr/>
            </p:nvSpPr>
            <p:spPr>
              <a:xfrm flipV="1">
                <a:off x="3972446" y="4636254"/>
                <a:ext cx="551569" cy="52228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</a:endParaRPr>
              </a:p>
            </p:txBody>
          </p:sp>
          <p:sp>
            <p:nvSpPr>
              <p:cNvPr id="178" name="TextBox 177"/>
              <p:cNvSpPr txBox="1"/>
              <p:nvPr/>
            </p:nvSpPr>
            <p:spPr>
              <a:xfrm flipV="1">
                <a:off x="5114188" y="4632230"/>
                <a:ext cx="551569" cy="52228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</a:endParaRPr>
              </a:p>
            </p:txBody>
          </p:sp>
          <p:sp>
            <p:nvSpPr>
              <p:cNvPr id="179" name="TextBox 178"/>
              <p:cNvSpPr txBox="1"/>
              <p:nvPr/>
            </p:nvSpPr>
            <p:spPr>
              <a:xfrm flipV="1">
                <a:off x="5062657" y="4442331"/>
                <a:ext cx="551569" cy="52228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</a:endParaRPr>
              </a:p>
            </p:txBody>
          </p:sp>
          <p:sp>
            <p:nvSpPr>
              <p:cNvPr id="180" name="TextBox 179"/>
              <p:cNvSpPr txBox="1"/>
              <p:nvPr/>
            </p:nvSpPr>
            <p:spPr>
              <a:xfrm flipV="1">
                <a:off x="5235094" y="4526123"/>
                <a:ext cx="551569" cy="52228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</a:endParaRPr>
              </a:p>
            </p:txBody>
          </p:sp>
          <p:sp>
            <p:nvSpPr>
              <p:cNvPr id="181" name="TextBox 180"/>
              <p:cNvSpPr txBox="1"/>
              <p:nvPr/>
            </p:nvSpPr>
            <p:spPr>
              <a:xfrm flipV="1">
                <a:off x="4047747" y="4526123"/>
                <a:ext cx="551569" cy="52228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</a:endParaRPr>
              </a:p>
            </p:txBody>
          </p:sp>
          <p:sp>
            <p:nvSpPr>
              <p:cNvPr id="182" name="TextBox 181"/>
              <p:cNvSpPr txBox="1"/>
              <p:nvPr/>
            </p:nvSpPr>
            <p:spPr>
              <a:xfrm flipV="1">
                <a:off x="3336981" y="4526123"/>
                <a:ext cx="551569" cy="52228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</a:endParaRPr>
              </a:p>
            </p:txBody>
          </p:sp>
          <p:pic>
            <p:nvPicPr>
              <p:cNvPr id="183" name="Picture 182" descr="curve.pdf"/>
              <p:cNvPicPr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429361" y="4821956"/>
                <a:ext cx="319312" cy="153032"/>
              </a:xfrm>
              <a:prstGeom prst="rect">
                <a:avLst/>
              </a:prstGeom>
            </p:spPr>
          </p:pic>
          <p:pic>
            <p:nvPicPr>
              <p:cNvPr id="184" name="Picture 183" descr="curve.pdf"/>
              <p:cNvPicPr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071378" y="4821945"/>
                <a:ext cx="365760" cy="147364"/>
              </a:xfrm>
              <a:prstGeom prst="rect">
                <a:avLst/>
              </a:prstGeom>
            </p:spPr>
          </p:pic>
          <p:pic>
            <p:nvPicPr>
              <p:cNvPr id="185" name="Picture 184" descr="curve.pdf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213065" y="4823149"/>
                <a:ext cx="457200" cy="147364"/>
              </a:xfrm>
              <a:prstGeom prst="rect">
                <a:avLst/>
              </a:prstGeom>
            </p:spPr>
          </p:pic>
          <p:sp>
            <p:nvSpPr>
              <p:cNvPr id="186" name="TextBox 185"/>
              <p:cNvSpPr txBox="1"/>
              <p:nvPr/>
            </p:nvSpPr>
            <p:spPr>
              <a:xfrm flipV="1">
                <a:off x="3491461" y="4759716"/>
                <a:ext cx="200682" cy="82388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</a:endParaRPr>
              </a:p>
            </p:txBody>
          </p:sp>
          <p:sp>
            <p:nvSpPr>
              <p:cNvPr id="187" name="TextBox 186"/>
              <p:cNvSpPr txBox="1"/>
              <p:nvPr/>
            </p:nvSpPr>
            <p:spPr>
              <a:xfrm flipV="1">
                <a:off x="4125192" y="4759718"/>
                <a:ext cx="261088" cy="82388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</a:endParaRPr>
              </a:p>
            </p:txBody>
          </p:sp>
          <p:sp>
            <p:nvSpPr>
              <p:cNvPr id="188" name="TextBox 187"/>
              <p:cNvSpPr txBox="1"/>
              <p:nvPr/>
            </p:nvSpPr>
            <p:spPr>
              <a:xfrm flipV="1">
                <a:off x="5277729" y="4759717"/>
                <a:ext cx="303664" cy="82388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endParaRPr lang="en-US" sz="800" dirty="0">
                  <a:solidFill>
                    <a:srgbClr val="008000"/>
                  </a:solidFill>
                </a:endParaRPr>
              </a:p>
            </p:txBody>
          </p:sp>
        </p:grpSp>
      </p:grpSp>
      <p:sp>
        <p:nvSpPr>
          <p:cNvPr id="3" name="Frame 2"/>
          <p:cNvSpPr/>
          <p:nvPr/>
        </p:nvSpPr>
        <p:spPr>
          <a:xfrm>
            <a:off x="2508326" y="4970500"/>
            <a:ext cx="6432474" cy="1540011"/>
          </a:xfrm>
          <a:prstGeom prst="frame">
            <a:avLst>
              <a:gd name="adj1" fmla="val 5785"/>
            </a:avLst>
          </a:prstGeom>
          <a:solidFill>
            <a:srgbClr val="FF0000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73045" y="5260204"/>
            <a:ext cx="284454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PARALLELIZING </a:t>
            </a:r>
          </a:p>
          <a:p>
            <a:r>
              <a:rPr lang="en-US" sz="2800" b="1" dirty="0" smtClean="0">
                <a:solidFill>
                  <a:srgbClr val="FF0000"/>
                </a:solidFill>
              </a:rPr>
              <a:t>SCAFFOLDING</a:t>
            </a:r>
            <a:endParaRPr lang="en-US" sz="2800" b="1" dirty="0">
              <a:solidFill>
                <a:srgbClr val="FF0000"/>
              </a:solidFill>
            </a:endParaRPr>
          </a:p>
        </p:txBody>
      </p:sp>
      <p:grpSp>
        <p:nvGrpSpPr>
          <p:cNvPr id="104" name="Group 124"/>
          <p:cNvGrpSpPr/>
          <p:nvPr/>
        </p:nvGrpSpPr>
        <p:grpSpPr>
          <a:xfrm>
            <a:off x="0" y="-16486"/>
            <a:ext cx="9144000" cy="1311292"/>
            <a:chOff x="0" y="-23450"/>
            <a:chExt cx="13004800" cy="1864950"/>
          </a:xfrm>
        </p:grpSpPr>
        <p:pic>
          <p:nvPicPr>
            <p:cNvPr id="105" name="Picture 3"/>
            <p:cNvPicPr>
              <a:picLocks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0"/>
              <a:ext cx="13004800" cy="1841500"/>
            </a:xfrm>
            <a:prstGeom prst="rect">
              <a:avLst/>
            </a:prstGeom>
            <a:noFill/>
            <a:ln w="9525" cap="flat">
              <a:noFill/>
              <a:miter lim="800000"/>
              <a:headEnd/>
              <a:tailEnd/>
            </a:ln>
          </p:spPr>
        </p:pic>
        <p:sp>
          <p:nvSpPr>
            <p:cNvPr id="107" name="Rectangle 5"/>
            <p:cNvSpPr txBox="1">
              <a:spLocks noChangeArrowheads="1"/>
            </p:cNvSpPr>
            <p:nvPr/>
          </p:nvSpPr>
          <p:spPr bwMode="auto">
            <a:xfrm>
              <a:off x="200216" y="-23450"/>
              <a:ext cx="12031663" cy="140969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vert="horz" wrap="square" lIns="50777" tIns="50777" rIns="166318" bIns="50777" numCol="1" anchor="ctr" anchorCtr="0" compatLnSpc="1">
              <a:prstTxWarp prst="textNoShape">
                <a:avLst/>
              </a:prstTxWarp>
            </a:bodyPr>
            <a:lstStyle/>
            <a:p>
              <a:r>
                <a:rPr lang="en-US" sz="3200" dirty="0" smtClean="0">
                  <a:solidFill>
                    <a:srgbClr val="FFFF00"/>
                  </a:solidFill>
                </a:rPr>
                <a:t>Alignment for </a:t>
              </a:r>
            </a:p>
            <a:p>
              <a:r>
                <a:rPr lang="en-US" sz="3200" dirty="0" smtClean="0">
                  <a:solidFill>
                    <a:srgbClr val="FFFF00"/>
                  </a:solidFill>
                </a:rPr>
                <a:t>De </a:t>
              </a:r>
              <a:r>
                <a:rPr lang="en-US" sz="3200" dirty="0" err="1">
                  <a:solidFill>
                    <a:srgbClr val="FFFF00"/>
                  </a:solidFill>
                </a:rPr>
                <a:t>novο</a:t>
              </a:r>
              <a:r>
                <a:rPr lang="en-US" sz="3200" dirty="0">
                  <a:solidFill>
                    <a:srgbClr val="FFFF00"/>
                  </a:solidFill>
                </a:rPr>
                <a:t> Genome Assembly</a:t>
              </a:r>
              <a:endParaRPr lang="en-US" sz="3200" i="1" dirty="0">
                <a:solidFill>
                  <a:srgbClr val="FFFF00"/>
                </a:solidFill>
              </a:endParaRPr>
            </a:p>
          </p:txBody>
        </p:sp>
      </p:grpSp>
      <p:cxnSp>
        <p:nvCxnSpPr>
          <p:cNvPr id="4" name="Straight Connector 3"/>
          <p:cNvCxnSpPr/>
          <p:nvPr/>
        </p:nvCxnSpPr>
        <p:spPr>
          <a:xfrm flipH="1">
            <a:off x="2474447" y="1767986"/>
            <a:ext cx="16934" cy="3142039"/>
          </a:xfrm>
          <a:prstGeom prst="line">
            <a:avLst/>
          </a:prstGeom>
          <a:ln w="57150" cmpd="sng">
            <a:solidFill>
              <a:srgbClr val="0000FF"/>
            </a:solidFill>
            <a:headEnd type="stealth" w="lg" len="med"/>
            <a:tailEnd type="stealth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23845" y="2483193"/>
            <a:ext cx="224682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0000FF"/>
                </a:solidFill>
              </a:rPr>
              <a:t>To be reused for metagenomics w/ modifications </a:t>
            </a:r>
            <a:endParaRPr lang="en-US" sz="22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99481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TextBox 173"/>
          <p:cNvSpPr txBox="1"/>
          <p:nvPr/>
        </p:nvSpPr>
        <p:spPr>
          <a:xfrm flipV="1">
            <a:off x="1229929" y="2424537"/>
            <a:ext cx="672328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</a:endParaRPr>
          </a:p>
        </p:txBody>
      </p:sp>
      <p:sp>
        <p:nvSpPr>
          <p:cNvPr id="175" name="TextBox 174"/>
          <p:cNvSpPr txBox="1"/>
          <p:nvPr/>
        </p:nvSpPr>
        <p:spPr>
          <a:xfrm flipV="1">
            <a:off x="5634449" y="2348000"/>
            <a:ext cx="672328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</a:endParaRPr>
          </a:p>
        </p:txBody>
      </p:sp>
      <p:sp>
        <p:nvSpPr>
          <p:cNvPr id="189" name="TextBox 188"/>
          <p:cNvSpPr txBox="1"/>
          <p:nvPr/>
        </p:nvSpPr>
        <p:spPr>
          <a:xfrm flipV="1">
            <a:off x="1166180" y="4354914"/>
            <a:ext cx="1552593" cy="75707"/>
          </a:xfrm>
          <a:prstGeom prst="rect">
            <a:avLst/>
          </a:prstGeom>
          <a:solidFill>
            <a:srgbClr val="008000"/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</a:endParaRPr>
          </a:p>
        </p:txBody>
      </p:sp>
      <p:sp>
        <p:nvSpPr>
          <p:cNvPr id="190" name="TextBox 189"/>
          <p:cNvSpPr txBox="1"/>
          <p:nvPr/>
        </p:nvSpPr>
        <p:spPr>
          <a:xfrm flipV="1">
            <a:off x="3123575" y="4354914"/>
            <a:ext cx="991665" cy="79843"/>
          </a:xfrm>
          <a:prstGeom prst="rect">
            <a:avLst/>
          </a:prstGeom>
          <a:solidFill>
            <a:srgbClr val="008000"/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</a:endParaRPr>
          </a:p>
        </p:txBody>
      </p:sp>
      <p:sp>
        <p:nvSpPr>
          <p:cNvPr id="191" name="TextBox 190"/>
          <p:cNvSpPr txBox="1"/>
          <p:nvPr/>
        </p:nvSpPr>
        <p:spPr>
          <a:xfrm flipV="1">
            <a:off x="4357142" y="4354914"/>
            <a:ext cx="2003438" cy="75707"/>
          </a:xfrm>
          <a:prstGeom prst="rect">
            <a:avLst/>
          </a:prstGeom>
          <a:solidFill>
            <a:srgbClr val="008000"/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</a:endParaRPr>
          </a:p>
        </p:txBody>
      </p:sp>
      <p:sp>
        <p:nvSpPr>
          <p:cNvPr id="192" name="TextBox 191"/>
          <p:cNvSpPr txBox="1"/>
          <p:nvPr/>
        </p:nvSpPr>
        <p:spPr>
          <a:xfrm flipV="1">
            <a:off x="7127980" y="4354913"/>
            <a:ext cx="1420434" cy="75707"/>
          </a:xfrm>
          <a:prstGeom prst="rect">
            <a:avLst/>
          </a:prstGeom>
          <a:solidFill>
            <a:srgbClr val="008000"/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</a:endParaRPr>
          </a:p>
        </p:txBody>
      </p:sp>
      <p:sp>
        <p:nvSpPr>
          <p:cNvPr id="178" name="TextBox 177"/>
          <p:cNvSpPr txBox="1"/>
          <p:nvPr/>
        </p:nvSpPr>
        <p:spPr>
          <a:xfrm flipV="1">
            <a:off x="4001484" y="3416460"/>
            <a:ext cx="672328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</a:endParaRPr>
          </a:p>
        </p:txBody>
      </p:sp>
      <p:sp>
        <p:nvSpPr>
          <p:cNvPr id="179" name="TextBox 178"/>
          <p:cNvSpPr txBox="1"/>
          <p:nvPr/>
        </p:nvSpPr>
        <p:spPr>
          <a:xfrm flipV="1">
            <a:off x="7653027" y="2733447"/>
            <a:ext cx="672328" cy="723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</a:endParaRPr>
          </a:p>
        </p:txBody>
      </p:sp>
      <p:sp>
        <p:nvSpPr>
          <p:cNvPr id="180" name="TextBox 179"/>
          <p:cNvSpPr txBox="1"/>
          <p:nvPr/>
        </p:nvSpPr>
        <p:spPr>
          <a:xfrm flipV="1">
            <a:off x="4756632" y="2920369"/>
            <a:ext cx="672328" cy="7230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</a:endParaRPr>
          </a:p>
        </p:txBody>
      </p:sp>
      <p:sp>
        <p:nvSpPr>
          <p:cNvPr id="181" name="TextBox 180"/>
          <p:cNvSpPr txBox="1"/>
          <p:nvPr/>
        </p:nvSpPr>
        <p:spPr>
          <a:xfrm flipV="1">
            <a:off x="6791816" y="3410770"/>
            <a:ext cx="672328" cy="7230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</a:endParaRPr>
          </a:p>
        </p:txBody>
      </p:sp>
      <p:sp>
        <p:nvSpPr>
          <p:cNvPr id="182" name="TextBox 181"/>
          <p:cNvSpPr txBox="1"/>
          <p:nvPr/>
        </p:nvSpPr>
        <p:spPr>
          <a:xfrm flipV="1">
            <a:off x="2582976" y="3423512"/>
            <a:ext cx="672328" cy="7230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en-US" sz="800" dirty="0">
              <a:solidFill>
                <a:srgbClr val="008000"/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1251169" y="2469446"/>
            <a:ext cx="0" cy="1894227"/>
          </a:xfrm>
          <a:prstGeom prst="line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1884739" y="2464578"/>
            <a:ext cx="0" cy="1894227"/>
          </a:xfrm>
          <a:prstGeom prst="line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H="1">
            <a:off x="2582976" y="3483071"/>
            <a:ext cx="17518" cy="880602"/>
          </a:xfrm>
          <a:prstGeom prst="line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H="1">
            <a:off x="4001484" y="3487207"/>
            <a:ext cx="8760" cy="876466"/>
          </a:xfrm>
          <a:prstGeom prst="line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4774150" y="2992670"/>
            <a:ext cx="0" cy="1371003"/>
          </a:xfrm>
          <a:prstGeom prst="line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5424407" y="2993313"/>
            <a:ext cx="0" cy="1371003"/>
          </a:xfrm>
          <a:prstGeom prst="line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5651967" y="2420301"/>
            <a:ext cx="22218" cy="1934613"/>
          </a:xfrm>
          <a:prstGeom prst="line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6295421" y="2417186"/>
            <a:ext cx="22218" cy="1934613"/>
          </a:xfrm>
          <a:prstGeom prst="line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 flipH="1">
            <a:off x="7136924" y="3460592"/>
            <a:ext cx="17520" cy="923230"/>
          </a:xfrm>
          <a:prstGeom prst="line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7437682" y="3465067"/>
            <a:ext cx="0" cy="904620"/>
          </a:xfrm>
          <a:prstGeom prst="line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7685626" y="2796804"/>
            <a:ext cx="8073" cy="1567054"/>
          </a:xfrm>
          <a:prstGeom prst="line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8303899" y="2793504"/>
            <a:ext cx="8073" cy="1567054"/>
          </a:xfrm>
          <a:prstGeom prst="line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 flipH="1">
            <a:off x="2692496" y="3487207"/>
            <a:ext cx="17518" cy="880602"/>
          </a:xfrm>
          <a:prstGeom prst="line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 flipH="1">
            <a:off x="3132334" y="3483071"/>
            <a:ext cx="17518" cy="880602"/>
          </a:xfrm>
          <a:prstGeom prst="line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 flipH="1">
            <a:off x="3220268" y="3487850"/>
            <a:ext cx="17518" cy="880602"/>
          </a:xfrm>
          <a:prstGeom prst="line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 flipH="1">
            <a:off x="4110860" y="3484092"/>
            <a:ext cx="8760" cy="876466"/>
          </a:xfrm>
          <a:prstGeom prst="line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 flipH="1">
            <a:off x="4357142" y="3478448"/>
            <a:ext cx="8760" cy="876466"/>
          </a:xfrm>
          <a:prstGeom prst="line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 flipH="1">
            <a:off x="4647164" y="3487850"/>
            <a:ext cx="8760" cy="876466"/>
          </a:xfrm>
          <a:prstGeom prst="line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972770" y="3128893"/>
            <a:ext cx="11716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cmr10"/>
                <a:cs typeface="cmr10"/>
              </a:rPr>
              <a:t>Read 42</a:t>
            </a:r>
            <a:endParaRPr lang="en-US" sz="1200" dirty="0">
              <a:latin typeface="cmr10"/>
              <a:cs typeface="cmr1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220268" y="4434757"/>
            <a:ext cx="11716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>
                <a:latin typeface="cmr10"/>
                <a:cs typeface="cmr10"/>
              </a:rPr>
              <a:t>Contig</a:t>
            </a:r>
            <a:r>
              <a:rPr lang="en-US" sz="1200" dirty="0" smtClean="0">
                <a:latin typeface="cmr10"/>
                <a:cs typeface="cmr10"/>
              </a:rPr>
              <a:t> 101</a:t>
            </a:r>
            <a:endParaRPr lang="en-US" sz="1200" dirty="0">
              <a:latin typeface="cmr10"/>
              <a:cs typeface="cmr1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048625" y="4434757"/>
            <a:ext cx="11716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>
                <a:latin typeface="cmr10"/>
                <a:cs typeface="cmr10"/>
              </a:rPr>
              <a:t>Contig</a:t>
            </a:r>
            <a:r>
              <a:rPr lang="en-US" sz="1200" dirty="0" smtClean="0">
                <a:latin typeface="cmr10"/>
                <a:cs typeface="cmr10"/>
              </a:rPr>
              <a:t> 61</a:t>
            </a:r>
            <a:endParaRPr lang="en-US" sz="1200" dirty="0">
              <a:latin typeface="cmr10"/>
              <a:cs typeface="cmr1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09828" y="5050885"/>
            <a:ext cx="769219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mr10"/>
                <a:cs typeface="cmr10"/>
              </a:rPr>
              <a:t>Read ID    start-</a:t>
            </a:r>
            <a:r>
              <a:rPr lang="en-US" dirty="0" err="1" smtClean="0">
                <a:latin typeface="cmr10"/>
                <a:cs typeface="cmr10"/>
              </a:rPr>
              <a:t>pos</a:t>
            </a:r>
            <a:r>
              <a:rPr lang="en-US" dirty="0" smtClean="0">
                <a:latin typeface="cmr10"/>
                <a:cs typeface="cmr10"/>
              </a:rPr>
              <a:t>      end-</a:t>
            </a:r>
            <a:r>
              <a:rPr lang="en-US" dirty="0" err="1" smtClean="0">
                <a:latin typeface="cmr10"/>
                <a:cs typeface="cmr10"/>
              </a:rPr>
              <a:t>pos</a:t>
            </a:r>
            <a:r>
              <a:rPr lang="en-US" dirty="0" smtClean="0">
                <a:latin typeface="cmr10"/>
                <a:cs typeface="cmr10"/>
              </a:rPr>
              <a:t>      </a:t>
            </a:r>
            <a:r>
              <a:rPr lang="en-US" dirty="0" err="1" smtClean="0">
                <a:latin typeface="cmr10"/>
                <a:cs typeface="cmr10"/>
              </a:rPr>
              <a:t>Contig</a:t>
            </a:r>
            <a:r>
              <a:rPr lang="en-US" dirty="0" smtClean="0">
                <a:latin typeface="cmr10"/>
                <a:cs typeface="cmr10"/>
              </a:rPr>
              <a:t> ID     start-</a:t>
            </a:r>
            <a:r>
              <a:rPr lang="en-US" dirty="0" err="1" smtClean="0">
                <a:latin typeface="cmr10"/>
                <a:cs typeface="cmr10"/>
              </a:rPr>
              <a:t>pos</a:t>
            </a:r>
            <a:r>
              <a:rPr lang="en-US" dirty="0" smtClean="0">
                <a:latin typeface="cmr10"/>
                <a:cs typeface="cmr10"/>
              </a:rPr>
              <a:t>      end-</a:t>
            </a:r>
            <a:r>
              <a:rPr lang="en-US" dirty="0" err="1" smtClean="0">
                <a:latin typeface="cmr10"/>
                <a:cs typeface="cmr10"/>
              </a:rPr>
              <a:t>pos</a:t>
            </a:r>
            <a:r>
              <a:rPr lang="en-US" dirty="0" smtClean="0">
                <a:latin typeface="cmr10"/>
                <a:cs typeface="cmr10"/>
              </a:rPr>
              <a:t> </a:t>
            </a:r>
          </a:p>
          <a:p>
            <a:r>
              <a:rPr lang="en-US" dirty="0" smtClean="0">
                <a:latin typeface="cmr10"/>
                <a:cs typeface="cmr10"/>
              </a:rPr>
              <a:t>--------------------------------------------------------------------------------------------------</a:t>
            </a:r>
          </a:p>
          <a:p>
            <a:r>
              <a:rPr lang="en-US" dirty="0" smtClean="0">
                <a:latin typeface="cmr10"/>
                <a:cs typeface="cmr10"/>
              </a:rPr>
              <a:t>Read 42</a:t>
            </a:r>
            <a:r>
              <a:rPr lang="en-US" dirty="0">
                <a:latin typeface="cmr10"/>
                <a:cs typeface="cmr10"/>
              </a:rPr>
              <a:t> </a:t>
            </a:r>
            <a:r>
              <a:rPr lang="en-US" dirty="0" smtClean="0">
                <a:latin typeface="cmr10"/>
                <a:cs typeface="cmr10"/>
              </a:rPr>
              <a:t>        1               4           </a:t>
            </a:r>
            <a:r>
              <a:rPr lang="en-US" dirty="0" err="1" smtClean="0">
                <a:latin typeface="cmr10"/>
                <a:cs typeface="cmr10"/>
              </a:rPr>
              <a:t>Contig</a:t>
            </a:r>
            <a:r>
              <a:rPr lang="en-US" dirty="0" smtClean="0">
                <a:latin typeface="cmr10"/>
                <a:cs typeface="cmr10"/>
              </a:rPr>
              <a:t> 101         152            155</a:t>
            </a:r>
          </a:p>
          <a:p>
            <a:r>
              <a:rPr lang="en-US" dirty="0" smtClean="0">
                <a:latin typeface="cmr10"/>
                <a:cs typeface="cmr10"/>
              </a:rPr>
              <a:t>Read 42        130            150         </a:t>
            </a:r>
            <a:r>
              <a:rPr lang="en-US" dirty="0" err="1" smtClean="0">
                <a:latin typeface="cmr10"/>
                <a:cs typeface="cmr10"/>
              </a:rPr>
              <a:t>Contig</a:t>
            </a:r>
            <a:r>
              <a:rPr lang="en-US" dirty="0" smtClean="0">
                <a:latin typeface="cmr10"/>
                <a:cs typeface="cmr10"/>
              </a:rPr>
              <a:t> 61            1              21</a:t>
            </a:r>
          </a:p>
          <a:p>
            <a:r>
              <a:rPr lang="en-US" dirty="0" smtClean="0">
                <a:latin typeface="cmr10"/>
                <a:cs typeface="cmr10"/>
              </a:rPr>
              <a:t>Read 90         1              150         </a:t>
            </a:r>
            <a:r>
              <a:rPr lang="en-US" dirty="0" err="1" smtClean="0">
                <a:latin typeface="cmr10"/>
                <a:cs typeface="cmr10"/>
              </a:rPr>
              <a:t>Contig</a:t>
            </a:r>
            <a:r>
              <a:rPr lang="en-US" dirty="0" smtClean="0">
                <a:latin typeface="cmr10"/>
                <a:cs typeface="cmr10"/>
              </a:rPr>
              <a:t> 500         101            250</a:t>
            </a:r>
            <a:endParaRPr lang="en-US" dirty="0">
              <a:latin typeface="cmr10"/>
              <a:cs typeface="cmr1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619560" y="2472872"/>
            <a:ext cx="11716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cmr10"/>
                <a:cs typeface="cmr10"/>
              </a:rPr>
              <a:t>Read 90</a:t>
            </a:r>
            <a:endParaRPr lang="en-US" sz="1200" dirty="0">
              <a:latin typeface="cmr10"/>
              <a:cs typeface="cmr1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437682" y="4401079"/>
            <a:ext cx="11716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>
                <a:latin typeface="cmr10"/>
                <a:cs typeface="cmr10"/>
              </a:rPr>
              <a:t>Contig</a:t>
            </a:r>
            <a:r>
              <a:rPr lang="en-US" sz="1200" dirty="0" smtClean="0">
                <a:latin typeface="cmr10"/>
                <a:cs typeface="cmr10"/>
              </a:rPr>
              <a:t> 500</a:t>
            </a:r>
            <a:endParaRPr lang="en-US" sz="1200" dirty="0">
              <a:latin typeface="cmr10"/>
              <a:cs typeface="cmr1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0" y="2669504"/>
            <a:ext cx="13130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Queries</a:t>
            </a:r>
          </a:p>
          <a:p>
            <a:r>
              <a:rPr lang="en-US" dirty="0" smtClean="0"/>
              <a:t>(Reads)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0" y="4170247"/>
            <a:ext cx="12012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Targets</a:t>
            </a:r>
          </a:p>
          <a:p>
            <a:r>
              <a:rPr lang="en-US" dirty="0" smtClean="0"/>
              <a:t>(</a:t>
            </a:r>
            <a:r>
              <a:rPr lang="en-US" dirty="0" err="1" smtClean="0"/>
              <a:t>Contigs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457200" y="1248377"/>
            <a:ext cx="85186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 smtClean="0"/>
              <a:t>A query and a target should match in at least </a:t>
            </a:r>
            <a:r>
              <a:rPr lang="en-US" b="1" dirty="0" smtClean="0"/>
              <a:t>k </a:t>
            </a:r>
            <a:r>
              <a:rPr lang="en-US" dirty="0" smtClean="0"/>
              <a:t>bases in order to be aligned</a:t>
            </a:r>
          </a:p>
          <a:p>
            <a:pPr marL="285750" indent="-285750">
              <a:buFont typeface="Arial"/>
              <a:buChar char="•"/>
            </a:pPr>
            <a:r>
              <a:rPr lang="en-US" dirty="0" smtClean="0"/>
              <a:t>We call </a:t>
            </a:r>
            <a:r>
              <a:rPr lang="en-US" b="1" dirty="0" smtClean="0"/>
              <a:t>seed</a:t>
            </a:r>
            <a:r>
              <a:rPr lang="en-US" dirty="0" smtClean="0"/>
              <a:t> a substring of a sequence (query or target) with length equal to </a:t>
            </a:r>
            <a:r>
              <a:rPr lang="en-US" b="1" dirty="0" smtClean="0"/>
              <a:t>k</a:t>
            </a:r>
            <a:endParaRPr lang="en-US" dirty="0"/>
          </a:p>
        </p:txBody>
      </p:sp>
      <p:grpSp>
        <p:nvGrpSpPr>
          <p:cNvPr id="42" name="Group 124"/>
          <p:cNvGrpSpPr/>
          <p:nvPr/>
        </p:nvGrpSpPr>
        <p:grpSpPr>
          <a:xfrm>
            <a:off x="0" y="-16486"/>
            <a:ext cx="9144000" cy="1311292"/>
            <a:chOff x="0" y="-23450"/>
            <a:chExt cx="13004800" cy="1864950"/>
          </a:xfrm>
        </p:grpSpPr>
        <p:pic>
          <p:nvPicPr>
            <p:cNvPr id="50" name="Picture 3"/>
            <p:cNvPicPr>
              <a:picLocks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0" y="0"/>
              <a:ext cx="13004800" cy="1841500"/>
            </a:xfrm>
            <a:prstGeom prst="rect">
              <a:avLst/>
            </a:prstGeom>
            <a:noFill/>
            <a:ln w="9525" cap="flat">
              <a:noFill/>
              <a:miter lim="800000"/>
              <a:headEnd/>
              <a:tailEnd/>
            </a:ln>
          </p:spPr>
        </p:pic>
        <p:sp>
          <p:nvSpPr>
            <p:cNvPr id="51" name="Rectangle 5"/>
            <p:cNvSpPr txBox="1">
              <a:spLocks noChangeArrowheads="1"/>
            </p:cNvSpPr>
            <p:nvPr/>
          </p:nvSpPr>
          <p:spPr bwMode="auto">
            <a:xfrm>
              <a:off x="200216" y="-23450"/>
              <a:ext cx="12031663" cy="140969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vert="horz" wrap="square" lIns="50777" tIns="50777" rIns="166318" bIns="50777" numCol="1" anchor="ctr" anchorCtr="0" compatLnSpc="1">
              <a:prstTxWarp prst="textNoShape">
                <a:avLst/>
              </a:prstTxWarp>
            </a:bodyPr>
            <a:lstStyle/>
            <a:p>
              <a:r>
                <a:rPr lang="en-US" sz="3200" dirty="0">
                  <a:solidFill>
                    <a:srgbClr val="FFFF00"/>
                  </a:solidFill>
                </a:rPr>
                <a:t>Aligning queries to target </a:t>
              </a:r>
              <a:r>
                <a:rPr lang="en-US" sz="3200" dirty="0" smtClean="0">
                  <a:solidFill>
                    <a:srgbClr val="FFFF00"/>
                  </a:solidFill>
                </a:rPr>
                <a:t>sequences</a:t>
              </a:r>
              <a:endParaRPr lang="en-US" sz="3200" i="1" dirty="0">
                <a:solidFill>
                  <a:srgbClr val="FFFF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5578798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/>
        </p:nvSpPr>
        <p:spPr>
          <a:xfrm>
            <a:off x="1060870" y="2420827"/>
            <a:ext cx="1150119" cy="92769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  <a:latin typeface="Cmr"/>
              <a:cs typeface="Cmr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2210989" y="2420827"/>
            <a:ext cx="1150119" cy="92769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  <a:latin typeface="Cmr"/>
              <a:cs typeface="Cmr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3361109" y="2418309"/>
            <a:ext cx="1150119" cy="92769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  <a:latin typeface="Cmr"/>
              <a:cs typeface="Cmr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511228" y="2420827"/>
            <a:ext cx="1150119" cy="92769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 smtClean="0">
              <a:solidFill>
                <a:schemeClr val="tx1"/>
              </a:solidFill>
              <a:latin typeface="Cmr"/>
              <a:cs typeface="Cmr"/>
            </a:endParaRPr>
          </a:p>
          <a:p>
            <a:pPr algn="ctr"/>
            <a:endParaRPr lang="en-US" sz="1600" dirty="0">
              <a:solidFill>
                <a:schemeClr val="tx1"/>
              </a:solidFill>
              <a:latin typeface="Cmr"/>
              <a:cs typeface="Cmr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661347" y="2418309"/>
            <a:ext cx="1150119" cy="92769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  <a:latin typeface="Cmr"/>
              <a:cs typeface="Cmr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811467" y="2418309"/>
            <a:ext cx="1150119" cy="92769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  <a:latin typeface="Cmr"/>
              <a:cs typeface="Cmr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203049" y="4076369"/>
            <a:ext cx="1493439" cy="455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Cmr"/>
                <a:cs typeface="Cmr"/>
              </a:rPr>
              <a:t>A  C  T  G  G    </a:t>
            </a:r>
            <a:endParaRPr lang="en-US" sz="1200" dirty="0">
              <a:latin typeface="Cmr"/>
              <a:cs typeface="Cmr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974437" y="4081377"/>
            <a:ext cx="1172410" cy="455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Cmr"/>
                <a:cs typeface="Cmr"/>
              </a:rPr>
              <a:t>G  G  C  A </a:t>
            </a:r>
            <a:endParaRPr lang="en-US" sz="1200" dirty="0">
              <a:latin typeface="Cmr"/>
              <a:cs typeface="Cmr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281303" y="3860945"/>
            <a:ext cx="516235" cy="607044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ysDash"/>
          </a:ln>
        </p:spPr>
        <p:txBody>
          <a:bodyPr wrap="square" rtlCol="0">
            <a:spAutoFit/>
          </a:bodyPr>
          <a:lstStyle/>
          <a:p>
            <a:endParaRPr lang="en-US" dirty="0" smtClean="0"/>
          </a:p>
        </p:txBody>
      </p:sp>
      <p:sp>
        <p:nvSpPr>
          <p:cNvPr id="46" name="TextBox 45"/>
          <p:cNvSpPr txBox="1"/>
          <p:nvPr/>
        </p:nvSpPr>
        <p:spPr>
          <a:xfrm>
            <a:off x="1221909" y="4103837"/>
            <a:ext cx="982487" cy="42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 smtClean="0">
                <a:latin typeface="Cmr"/>
                <a:cs typeface="Cmr"/>
              </a:rPr>
              <a:t>Target 0:</a:t>
            </a:r>
            <a:endParaRPr lang="en-US" sz="1100" i="1" dirty="0">
              <a:latin typeface="Cmr"/>
              <a:cs typeface="Cmr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991950" y="4101662"/>
            <a:ext cx="982487" cy="42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 smtClean="0">
                <a:latin typeface="Cmr"/>
                <a:cs typeface="Cmr"/>
              </a:rPr>
              <a:t>Target 1:</a:t>
            </a:r>
            <a:endParaRPr lang="en-US" sz="1100" i="1" dirty="0">
              <a:latin typeface="Cmr"/>
              <a:cs typeface="Cmr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890744" y="1685226"/>
            <a:ext cx="1240967" cy="42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 smtClean="0">
                <a:latin typeface="Cmr"/>
                <a:cs typeface="Cmr"/>
              </a:rPr>
              <a:t>Seed Index</a:t>
            </a:r>
            <a:endParaRPr lang="en-US" sz="1100" i="1" dirty="0">
              <a:latin typeface="Cmr"/>
              <a:cs typeface="Cmr"/>
            </a:endParaRPr>
          </a:p>
        </p:txBody>
      </p:sp>
      <p:grpSp>
        <p:nvGrpSpPr>
          <p:cNvPr id="15" name="Group 124"/>
          <p:cNvGrpSpPr/>
          <p:nvPr/>
        </p:nvGrpSpPr>
        <p:grpSpPr>
          <a:xfrm>
            <a:off x="0" y="-16486"/>
            <a:ext cx="9144000" cy="1311292"/>
            <a:chOff x="0" y="-23450"/>
            <a:chExt cx="13004800" cy="1864950"/>
          </a:xfrm>
        </p:grpSpPr>
        <p:pic>
          <p:nvPicPr>
            <p:cNvPr id="16" name="Picture 3"/>
            <p:cNvPicPr>
              <a:picLocks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0" y="0"/>
              <a:ext cx="13004800" cy="1841500"/>
            </a:xfrm>
            <a:prstGeom prst="rect">
              <a:avLst/>
            </a:prstGeom>
            <a:noFill/>
            <a:ln w="9525" cap="flat">
              <a:noFill/>
              <a:miter lim="800000"/>
              <a:headEnd/>
              <a:tailEnd/>
            </a:ln>
          </p:spPr>
        </p:pic>
        <p:sp>
          <p:nvSpPr>
            <p:cNvPr id="17" name="Rectangle 5"/>
            <p:cNvSpPr txBox="1">
              <a:spLocks noChangeArrowheads="1"/>
            </p:cNvSpPr>
            <p:nvPr/>
          </p:nvSpPr>
          <p:spPr bwMode="auto">
            <a:xfrm>
              <a:off x="200216" y="-23450"/>
              <a:ext cx="12031663" cy="140969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vert="horz" wrap="square" lIns="50777" tIns="50777" rIns="166318" bIns="50777" numCol="1" anchor="ctr" anchorCtr="0" compatLnSpc="1">
              <a:prstTxWarp prst="textNoShape">
                <a:avLst/>
              </a:prstTxWarp>
            </a:bodyPr>
            <a:lstStyle/>
            <a:p>
              <a:r>
                <a:rPr lang="en-US" sz="3200" dirty="0">
                  <a:solidFill>
                    <a:srgbClr val="FFFF00"/>
                  </a:solidFill>
                </a:rPr>
                <a:t>Building seed index</a:t>
              </a:r>
              <a:endParaRPr lang="en-US" sz="3200" i="1" dirty="0">
                <a:solidFill>
                  <a:srgbClr val="FFFF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1566741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/>
        </p:nvSpPr>
        <p:spPr>
          <a:xfrm>
            <a:off x="1060870" y="2420827"/>
            <a:ext cx="1150119" cy="92769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  <a:latin typeface="Cmr"/>
                <a:cs typeface="Cmr"/>
              </a:rPr>
              <a:t>Seed: ACT</a:t>
            </a:r>
          </a:p>
          <a:p>
            <a:pPr algn="ctr"/>
            <a:r>
              <a:rPr lang="en-US" sz="1600" dirty="0" smtClean="0">
                <a:solidFill>
                  <a:schemeClr val="tx1"/>
                </a:solidFill>
                <a:latin typeface="Cmr"/>
                <a:ea typeface="Wingdings"/>
                <a:cs typeface="Cmr"/>
                <a:sym typeface="Wingdings"/>
              </a:rPr>
              <a:t></a:t>
            </a:r>
            <a:endParaRPr lang="en-US" sz="1600" dirty="0">
              <a:solidFill>
                <a:schemeClr val="tx1"/>
              </a:solidFill>
              <a:latin typeface="Cmr"/>
              <a:cs typeface="Cmr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2210989" y="2420827"/>
            <a:ext cx="1150119" cy="92769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  <a:latin typeface="Cmr"/>
              <a:cs typeface="Cmr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3361109" y="2418309"/>
            <a:ext cx="1150119" cy="92769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  <a:latin typeface="Cmr"/>
              <a:cs typeface="Cmr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511228" y="2420827"/>
            <a:ext cx="1150119" cy="92769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 smtClean="0">
              <a:solidFill>
                <a:schemeClr val="tx1"/>
              </a:solidFill>
              <a:latin typeface="Cmr"/>
              <a:cs typeface="Cmr"/>
            </a:endParaRPr>
          </a:p>
          <a:p>
            <a:pPr algn="ctr"/>
            <a:endParaRPr lang="en-US" sz="1600" dirty="0">
              <a:solidFill>
                <a:schemeClr val="tx1"/>
              </a:solidFill>
              <a:latin typeface="Cmr"/>
              <a:cs typeface="Cmr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661347" y="2418309"/>
            <a:ext cx="1150119" cy="92769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  <a:latin typeface="Cmr"/>
              <a:cs typeface="Cmr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811467" y="2418309"/>
            <a:ext cx="1150119" cy="92769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  <a:latin typeface="Cmr"/>
              <a:cs typeface="Cmr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203049" y="4076369"/>
            <a:ext cx="1493439" cy="455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Cmr"/>
                <a:cs typeface="Cmr"/>
              </a:rPr>
              <a:t>A  C  T  G  G    </a:t>
            </a:r>
            <a:endParaRPr lang="en-US" sz="1200" dirty="0">
              <a:latin typeface="Cmr"/>
              <a:cs typeface="Cmr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974437" y="4081377"/>
            <a:ext cx="1172410" cy="455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Cmr"/>
                <a:cs typeface="Cmr"/>
              </a:rPr>
              <a:t>G  G  C  A </a:t>
            </a:r>
            <a:endParaRPr lang="en-US" sz="1200" dirty="0">
              <a:latin typeface="Cmr"/>
              <a:cs typeface="Cmr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281303" y="3860945"/>
            <a:ext cx="516235" cy="607044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ysDash"/>
          </a:ln>
        </p:spPr>
        <p:txBody>
          <a:bodyPr wrap="square" rtlCol="0">
            <a:spAutoFit/>
          </a:bodyPr>
          <a:lstStyle/>
          <a:p>
            <a:endParaRPr lang="en-US" dirty="0" smtClean="0"/>
          </a:p>
        </p:txBody>
      </p:sp>
      <p:cxnSp>
        <p:nvCxnSpPr>
          <p:cNvPr id="36" name="Straight Arrow Connector 35"/>
          <p:cNvCxnSpPr/>
          <p:nvPr/>
        </p:nvCxnSpPr>
        <p:spPr>
          <a:xfrm>
            <a:off x="1668359" y="2969172"/>
            <a:ext cx="737876" cy="891771"/>
          </a:xfrm>
          <a:prstGeom prst="straightConnector1">
            <a:avLst/>
          </a:prstGeom>
          <a:ln w="19050" cmpd="sng">
            <a:solidFill>
              <a:srgbClr val="FF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221909" y="4103837"/>
            <a:ext cx="982487" cy="42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 smtClean="0">
                <a:latin typeface="Cmr"/>
                <a:cs typeface="Cmr"/>
              </a:rPr>
              <a:t>Target 0:</a:t>
            </a:r>
            <a:endParaRPr lang="en-US" sz="1100" i="1" dirty="0">
              <a:latin typeface="Cmr"/>
              <a:cs typeface="Cmr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991950" y="4101662"/>
            <a:ext cx="982487" cy="42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 smtClean="0">
                <a:latin typeface="Cmr"/>
                <a:cs typeface="Cmr"/>
              </a:rPr>
              <a:t>Target 1:</a:t>
            </a:r>
            <a:endParaRPr lang="en-US" sz="1100" i="1" dirty="0">
              <a:latin typeface="Cmr"/>
              <a:cs typeface="Cmr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890744" y="1685226"/>
            <a:ext cx="1240967" cy="42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 smtClean="0">
                <a:latin typeface="Cmr"/>
                <a:cs typeface="Cmr"/>
              </a:rPr>
              <a:t>Seed Index</a:t>
            </a:r>
            <a:endParaRPr lang="en-US" sz="1100" i="1" dirty="0">
              <a:latin typeface="Cmr"/>
              <a:cs typeface="Cmr"/>
            </a:endParaRPr>
          </a:p>
        </p:txBody>
      </p:sp>
      <p:grpSp>
        <p:nvGrpSpPr>
          <p:cNvPr id="17" name="Group 124"/>
          <p:cNvGrpSpPr/>
          <p:nvPr/>
        </p:nvGrpSpPr>
        <p:grpSpPr>
          <a:xfrm>
            <a:off x="0" y="-16486"/>
            <a:ext cx="9144000" cy="1311292"/>
            <a:chOff x="0" y="-23450"/>
            <a:chExt cx="13004800" cy="1864950"/>
          </a:xfrm>
        </p:grpSpPr>
        <p:pic>
          <p:nvPicPr>
            <p:cNvPr id="18" name="Picture 3"/>
            <p:cNvPicPr>
              <a:picLocks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0" y="0"/>
              <a:ext cx="13004800" cy="1841500"/>
            </a:xfrm>
            <a:prstGeom prst="rect">
              <a:avLst/>
            </a:prstGeom>
            <a:noFill/>
            <a:ln w="9525" cap="flat">
              <a:noFill/>
              <a:miter lim="800000"/>
              <a:headEnd/>
              <a:tailEnd/>
            </a:ln>
          </p:spPr>
        </p:pic>
        <p:sp>
          <p:nvSpPr>
            <p:cNvPr id="19" name="Rectangle 5"/>
            <p:cNvSpPr txBox="1">
              <a:spLocks noChangeArrowheads="1"/>
            </p:cNvSpPr>
            <p:nvPr/>
          </p:nvSpPr>
          <p:spPr bwMode="auto">
            <a:xfrm>
              <a:off x="200216" y="-23450"/>
              <a:ext cx="12031663" cy="140969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vert="horz" wrap="square" lIns="50777" tIns="50777" rIns="166318" bIns="50777" numCol="1" anchor="ctr" anchorCtr="0" compatLnSpc="1">
              <a:prstTxWarp prst="textNoShape">
                <a:avLst/>
              </a:prstTxWarp>
            </a:bodyPr>
            <a:lstStyle/>
            <a:p>
              <a:r>
                <a:rPr lang="en-US" sz="3200" dirty="0">
                  <a:solidFill>
                    <a:srgbClr val="FFFF00"/>
                  </a:solidFill>
                </a:rPr>
                <a:t>Building seed index</a:t>
              </a:r>
              <a:endParaRPr lang="en-US" sz="3200" i="1" dirty="0">
                <a:solidFill>
                  <a:srgbClr val="FFFF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3213295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60870" y="2420827"/>
            <a:ext cx="1150119" cy="92769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  <a:latin typeface="Cmr"/>
                <a:cs typeface="Cmr"/>
              </a:rPr>
              <a:t>Seed: ACT</a:t>
            </a:r>
          </a:p>
          <a:p>
            <a:pPr algn="ctr"/>
            <a:r>
              <a:rPr lang="en-US" sz="1600" dirty="0" smtClean="0">
                <a:solidFill>
                  <a:schemeClr val="tx1"/>
                </a:solidFill>
                <a:latin typeface="Cmr"/>
                <a:ea typeface="Wingdings"/>
                <a:cs typeface="Cmr"/>
                <a:sym typeface="Wingdings"/>
              </a:rPr>
              <a:t></a:t>
            </a:r>
            <a:endParaRPr lang="en-US" sz="1600" dirty="0">
              <a:solidFill>
                <a:schemeClr val="tx1"/>
              </a:solidFill>
              <a:latin typeface="Cmr"/>
              <a:cs typeface="Cmr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210989" y="2420827"/>
            <a:ext cx="1150119" cy="92769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  <a:latin typeface="Cmr"/>
              <a:cs typeface="Cmr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361109" y="2418309"/>
            <a:ext cx="1150119" cy="92769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  <a:latin typeface="Cmr"/>
                <a:cs typeface="Cmr"/>
              </a:rPr>
              <a:t>Seed: CTG</a:t>
            </a:r>
          </a:p>
          <a:p>
            <a:pPr algn="ctr"/>
            <a:r>
              <a:rPr lang="en-US" sz="1600" dirty="0" smtClean="0">
                <a:solidFill>
                  <a:schemeClr val="tx1"/>
                </a:solidFill>
                <a:latin typeface="Cmr"/>
                <a:ea typeface="Wingdings"/>
                <a:cs typeface="Cmr"/>
                <a:sym typeface="Wingdings"/>
              </a:rPr>
              <a:t></a:t>
            </a:r>
            <a:endParaRPr lang="en-US" sz="1600" dirty="0">
              <a:solidFill>
                <a:schemeClr val="tx1"/>
              </a:solidFill>
              <a:latin typeface="Cmr"/>
              <a:cs typeface="Cmr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11228" y="2420827"/>
            <a:ext cx="1150119" cy="92769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 smtClean="0">
              <a:solidFill>
                <a:schemeClr val="tx1"/>
              </a:solidFill>
              <a:latin typeface="Cmr"/>
              <a:cs typeface="Cmr"/>
            </a:endParaRPr>
          </a:p>
          <a:p>
            <a:pPr algn="ctr"/>
            <a:endParaRPr lang="en-US" sz="1600" dirty="0">
              <a:solidFill>
                <a:schemeClr val="tx1"/>
              </a:solidFill>
              <a:latin typeface="Cmr"/>
              <a:cs typeface="Cmr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661347" y="2418309"/>
            <a:ext cx="1150119" cy="92769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  <a:latin typeface="Cmr"/>
              <a:cs typeface="Cmr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811467" y="2418309"/>
            <a:ext cx="1150119" cy="92769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  <a:latin typeface="Cmr"/>
              <a:cs typeface="Cm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203049" y="4076369"/>
            <a:ext cx="1493439" cy="455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Cmr"/>
                <a:cs typeface="Cmr"/>
              </a:rPr>
              <a:t>A  C  T  G  G    </a:t>
            </a:r>
            <a:endParaRPr lang="en-US" sz="1200" dirty="0">
              <a:latin typeface="Cmr"/>
              <a:cs typeface="Cm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974437" y="4081377"/>
            <a:ext cx="1172410" cy="455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Cmr"/>
                <a:cs typeface="Cmr"/>
              </a:rPr>
              <a:t>G  G  C  A </a:t>
            </a:r>
            <a:endParaRPr lang="en-US" sz="1200" dirty="0">
              <a:latin typeface="Cmr"/>
              <a:cs typeface="Cmr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281303" y="3860945"/>
            <a:ext cx="516235" cy="607044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ysDash"/>
          </a:ln>
        </p:spPr>
        <p:txBody>
          <a:bodyPr wrap="square" rtlCol="0">
            <a:spAutoFit/>
          </a:bodyPr>
          <a:lstStyle/>
          <a:p>
            <a:endParaRPr lang="en-US" dirty="0" smtClean="0"/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1668359" y="2969172"/>
            <a:ext cx="737876" cy="891771"/>
          </a:xfrm>
          <a:prstGeom prst="straightConnector1">
            <a:avLst/>
          </a:prstGeom>
          <a:ln w="19050" cmpd="sng">
            <a:solidFill>
              <a:srgbClr val="FF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434193" y="3972074"/>
            <a:ext cx="543738" cy="610795"/>
          </a:xfrm>
          <a:prstGeom prst="rect">
            <a:avLst/>
          </a:prstGeom>
          <a:noFill/>
          <a:ln w="19050" cmpd="sng">
            <a:solidFill>
              <a:srgbClr val="008000"/>
            </a:solidFill>
            <a:prstDash val="sysDash"/>
          </a:ln>
        </p:spPr>
        <p:txBody>
          <a:bodyPr wrap="square" rtlCol="0">
            <a:spAutoFit/>
          </a:bodyPr>
          <a:lstStyle/>
          <a:p>
            <a:endParaRPr lang="en-US" dirty="0" smtClean="0"/>
          </a:p>
        </p:txBody>
      </p:sp>
      <p:cxnSp>
        <p:nvCxnSpPr>
          <p:cNvPr id="17" name="Straight Arrow Connector 16"/>
          <p:cNvCxnSpPr/>
          <p:nvPr/>
        </p:nvCxnSpPr>
        <p:spPr>
          <a:xfrm flipH="1">
            <a:off x="2977931" y="2969172"/>
            <a:ext cx="989726" cy="1006654"/>
          </a:xfrm>
          <a:prstGeom prst="straightConnector1">
            <a:avLst/>
          </a:prstGeom>
          <a:ln w="19050" cmpd="sng">
            <a:solidFill>
              <a:srgbClr val="008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221909" y="4103837"/>
            <a:ext cx="982487" cy="42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 smtClean="0">
                <a:latin typeface="Cmr"/>
                <a:cs typeface="Cmr"/>
              </a:rPr>
              <a:t>Target 0:</a:t>
            </a:r>
            <a:endParaRPr lang="en-US" sz="1100" i="1" dirty="0">
              <a:latin typeface="Cmr"/>
              <a:cs typeface="Cmr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991950" y="4101662"/>
            <a:ext cx="982487" cy="42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 smtClean="0">
                <a:latin typeface="Cmr"/>
                <a:cs typeface="Cmr"/>
              </a:rPr>
              <a:t>Target 1:</a:t>
            </a:r>
            <a:endParaRPr lang="en-US" sz="1100" i="1" dirty="0">
              <a:latin typeface="Cmr"/>
              <a:cs typeface="Cmr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890744" y="1685226"/>
            <a:ext cx="1240967" cy="42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 smtClean="0">
                <a:latin typeface="Cmr"/>
                <a:cs typeface="Cmr"/>
              </a:rPr>
              <a:t>Seed Index</a:t>
            </a:r>
            <a:endParaRPr lang="en-US" sz="1100" i="1" dirty="0">
              <a:latin typeface="Cmr"/>
              <a:cs typeface="Cmr"/>
            </a:endParaRPr>
          </a:p>
        </p:txBody>
      </p:sp>
      <p:grpSp>
        <p:nvGrpSpPr>
          <p:cNvPr id="19" name="Group 124"/>
          <p:cNvGrpSpPr/>
          <p:nvPr/>
        </p:nvGrpSpPr>
        <p:grpSpPr>
          <a:xfrm>
            <a:off x="0" y="-16486"/>
            <a:ext cx="9144000" cy="1311292"/>
            <a:chOff x="0" y="-23450"/>
            <a:chExt cx="13004800" cy="1864950"/>
          </a:xfrm>
        </p:grpSpPr>
        <p:pic>
          <p:nvPicPr>
            <p:cNvPr id="20" name="Picture 3"/>
            <p:cNvPicPr>
              <a:picLocks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0" y="0"/>
              <a:ext cx="13004800" cy="1841500"/>
            </a:xfrm>
            <a:prstGeom prst="rect">
              <a:avLst/>
            </a:prstGeom>
            <a:noFill/>
            <a:ln w="9525" cap="flat">
              <a:noFill/>
              <a:miter lim="800000"/>
              <a:headEnd/>
              <a:tailEnd/>
            </a:ln>
          </p:spPr>
        </p:pic>
        <p:sp>
          <p:nvSpPr>
            <p:cNvPr id="21" name="Rectangle 5"/>
            <p:cNvSpPr txBox="1">
              <a:spLocks noChangeArrowheads="1"/>
            </p:cNvSpPr>
            <p:nvPr/>
          </p:nvSpPr>
          <p:spPr bwMode="auto">
            <a:xfrm>
              <a:off x="200216" y="-23450"/>
              <a:ext cx="12031663" cy="140969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vert="horz" wrap="square" lIns="50777" tIns="50777" rIns="166318" bIns="50777" numCol="1" anchor="ctr" anchorCtr="0" compatLnSpc="1">
              <a:prstTxWarp prst="textNoShape">
                <a:avLst/>
              </a:prstTxWarp>
            </a:bodyPr>
            <a:lstStyle/>
            <a:p>
              <a:r>
                <a:rPr lang="en-US" sz="3200" dirty="0">
                  <a:solidFill>
                    <a:srgbClr val="FFFF00"/>
                  </a:solidFill>
                </a:rPr>
                <a:t>Building seed index</a:t>
              </a:r>
              <a:endParaRPr lang="en-US" sz="3200" i="1" dirty="0">
                <a:solidFill>
                  <a:srgbClr val="FFFF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211047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60870" y="2420827"/>
            <a:ext cx="1150119" cy="92769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  <a:latin typeface="Cmr"/>
                <a:cs typeface="Cmr"/>
              </a:rPr>
              <a:t>Seed: ACT</a:t>
            </a:r>
          </a:p>
          <a:p>
            <a:pPr algn="ctr"/>
            <a:r>
              <a:rPr lang="en-US" sz="1600" dirty="0" smtClean="0">
                <a:solidFill>
                  <a:schemeClr val="tx1"/>
                </a:solidFill>
                <a:latin typeface="Cmr"/>
                <a:ea typeface="Wingdings"/>
                <a:cs typeface="Cmr"/>
                <a:sym typeface="Wingdings"/>
              </a:rPr>
              <a:t></a:t>
            </a:r>
            <a:endParaRPr lang="en-US" sz="1600" dirty="0">
              <a:solidFill>
                <a:schemeClr val="tx1"/>
              </a:solidFill>
              <a:latin typeface="Cmr"/>
              <a:cs typeface="Cmr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210989" y="2420827"/>
            <a:ext cx="1150119" cy="92769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  <a:latin typeface="Cmr"/>
              <a:cs typeface="Cmr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361109" y="2418309"/>
            <a:ext cx="1150119" cy="92769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  <a:latin typeface="Cmr"/>
                <a:cs typeface="Cmr"/>
              </a:rPr>
              <a:t>Seed: CTG</a:t>
            </a:r>
          </a:p>
          <a:p>
            <a:pPr algn="ctr"/>
            <a:r>
              <a:rPr lang="en-US" sz="1600" dirty="0" smtClean="0">
                <a:solidFill>
                  <a:schemeClr val="tx1"/>
                </a:solidFill>
                <a:latin typeface="Cmr"/>
                <a:ea typeface="Wingdings"/>
                <a:cs typeface="Cmr"/>
                <a:sym typeface="Wingdings"/>
              </a:rPr>
              <a:t></a:t>
            </a:r>
            <a:endParaRPr lang="en-US" sz="1600" dirty="0">
              <a:solidFill>
                <a:schemeClr val="tx1"/>
              </a:solidFill>
              <a:latin typeface="Cmr"/>
              <a:cs typeface="Cmr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11228" y="2420827"/>
            <a:ext cx="1150119" cy="92769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 smtClean="0">
              <a:solidFill>
                <a:schemeClr val="tx1"/>
              </a:solidFill>
              <a:latin typeface="Cmr"/>
              <a:cs typeface="Cmr"/>
            </a:endParaRPr>
          </a:p>
          <a:p>
            <a:pPr algn="ctr"/>
            <a:endParaRPr lang="en-US" sz="1600" dirty="0">
              <a:solidFill>
                <a:schemeClr val="tx1"/>
              </a:solidFill>
              <a:latin typeface="Cmr"/>
              <a:cs typeface="Cmr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661347" y="2418309"/>
            <a:ext cx="1150119" cy="92769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  <a:latin typeface="Cmr"/>
                <a:cs typeface="Cmr"/>
              </a:rPr>
              <a:t>Seed: TGG</a:t>
            </a:r>
          </a:p>
          <a:p>
            <a:pPr algn="ctr"/>
            <a:r>
              <a:rPr lang="en-US" sz="1600" dirty="0" smtClean="0">
                <a:solidFill>
                  <a:schemeClr val="tx1"/>
                </a:solidFill>
                <a:latin typeface="Cmr"/>
                <a:ea typeface="Wingdings"/>
                <a:cs typeface="Cmr"/>
                <a:sym typeface="Wingdings"/>
              </a:rPr>
              <a:t></a:t>
            </a:r>
            <a:endParaRPr lang="en-US" sz="1600" dirty="0">
              <a:solidFill>
                <a:schemeClr val="tx1"/>
              </a:solidFill>
              <a:latin typeface="Cmr"/>
              <a:cs typeface="Cmr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811467" y="2418309"/>
            <a:ext cx="1150119" cy="92769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  <a:latin typeface="Cmr"/>
              <a:cs typeface="Cm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203049" y="4076369"/>
            <a:ext cx="1493439" cy="455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Cmr"/>
                <a:cs typeface="Cmr"/>
              </a:rPr>
              <a:t>A  C  T  G  G    </a:t>
            </a:r>
            <a:endParaRPr lang="en-US" sz="1200" dirty="0">
              <a:latin typeface="Cmr"/>
              <a:cs typeface="Cm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974437" y="4081377"/>
            <a:ext cx="1172410" cy="455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Cmr"/>
                <a:cs typeface="Cmr"/>
              </a:rPr>
              <a:t>G  G  C  A </a:t>
            </a:r>
            <a:endParaRPr lang="en-US" sz="1200" dirty="0">
              <a:latin typeface="Cmr"/>
              <a:cs typeface="Cmr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281303" y="3860945"/>
            <a:ext cx="516235" cy="607044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ysDash"/>
          </a:ln>
        </p:spPr>
        <p:txBody>
          <a:bodyPr wrap="square" rtlCol="0">
            <a:spAutoFit/>
          </a:bodyPr>
          <a:lstStyle/>
          <a:p>
            <a:endParaRPr lang="en-US" dirty="0" smtClean="0"/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1668359" y="2969172"/>
            <a:ext cx="737876" cy="891771"/>
          </a:xfrm>
          <a:prstGeom prst="straightConnector1">
            <a:avLst/>
          </a:prstGeom>
          <a:ln w="19050" cmpd="sng">
            <a:solidFill>
              <a:srgbClr val="FF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434193" y="3972074"/>
            <a:ext cx="543738" cy="610795"/>
          </a:xfrm>
          <a:prstGeom prst="rect">
            <a:avLst/>
          </a:prstGeom>
          <a:noFill/>
          <a:ln w="19050" cmpd="sng">
            <a:solidFill>
              <a:srgbClr val="008000"/>
            </a:solidFill>
            <a:prstDash val="sysDash"/>
          </a:ln>
        </p:spPr>
        <p:txBody>
          <a:bodyPr wrap="square" rtlCol="0">
            <a:spAutoFit/>
          </a:bodyPr>
          <a:lstStyle/>
          <a:p>
            <a:endParaRPr lang="en-US" dirty="0" smtClean="0"/>
          </a:p>
        </p:txBody>
      </p:sp>
      <p:sp>
        <p:nvSpPr>
          <p:cNvPr id="16" name="TextBox 15"/>
          <p:cNvSpPr txBox="1"/>
          <p:nvPr/>
        </p:nvSpPr>
        <p:spPr>
          <a:xfrm>
            <a:off x="2634419" y="4081377"/>
            <a:ext cx="579995" cy="607044"/>
          </a:xfrm>
          <a:prstGeom prst="rect">
            <a:avLst/>
          </a:prstGeom>
          <a:noFill/>
          <a:ln w="19050" cmpd="sng">
            <a:solidFill>
              <a:srgbClr val="000090"/>
            </a:solidFill>
            <a:prstDash val="sysDash"/>
          </a:ln>
        </p:spPr>
        <p:txBody>
          <a:bodyPr wrap="square" rtlCol="0">
            <a:spAutoFit/>
          </a:bodyPr>
          <a:lstStyle/>
          <a:p>
            <a:endParaRPr lang="en-US" dirty="0" smtClean="0"/>
          </a:p>
        </p:txBody>
      </p:sp>
      <p:cxnSp>
        <p:nvCxnSpPr>
          <p:cNvPr id="17" name="Straight Arrow Connector 16"/>
          <p:cNvCxnSpPr/>
          <p:nvPr/>
        </p:nvCxnSpPr>
        <p:spPr>
          <a:xfrm flipH="1">
            <a:off x="2977931" y="2969172"/>
            <a:ext cx="989726" cy="1006654"/>
          </a:xfrm>
          <a:prstGeom prst="straightConnector1">
            <a:avLst/>
          </a:prstGeom>
          <a:ln w="19050" cmpd="sng">
            <a:solidFill>
              <a:srgbClr val="008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>
            <a:off x="3214414" y="2969172"/>
            <a:ext cx="3004176" cy="1131920"/>
          </a:xfrm>
          <a:prstGeom prst="straightConnector1">
            <a:avLst/>
          </a:prstGeom>
          <a:ln w="19050" cmpd="sng">
            <a:solidFill>
              <a:srgbClr val="00009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221909" y="4103837"/>
            <a:ext cx="982487" cy="42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 smtClean="0">
                <a:latin typeface="Cmr"/>
                <a:cs typeface="Cmr"/>
              </a:rPr>
              <a:t>Target 0:</a:t>
            </a:r>
            <a:endParaRPr lang="en-US" sz="1100" i="1" dirty="0">
              <a:latin typeface="Cmr"/>
              <a:cs typeface="Cmr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991950" y="4101662"/>
            <a:ext cx="982487" cy="42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 smtClean="0">
                <a:latin typeface="Cmr"/>
                <a:cs typeface="Cmr"/>
              </a:rPr>
              <a:t>Target 1:</a:t>
            </a:r>
            <a:endParaRPr lang="en-US" sz="1100" i="1" dirty="0">
              <a:latin typeface="Cmr"/>
              <a:cs typeface="Cmr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890744" y="1685226"/>
            <a:ext cx="1240967" cy="42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 smtClean="0">
                <a:latin typeface="Cmr"/>
                <a:cs typeface="Cmr"/>
              </a:rPr>
              <a:t>Seed Index</a:t>
            </a:r>
            <a:endParaRPr lang="en-US" sz="1100" i="1" dirty="0">
              <a:latin typeface="Cmr"/>
              <a:cs typeface="Cmr"/>
            </a:endParaRPr>
          </a:p>
        </p:txBody>
      </p:sp>
      <p:grpSp>
        <p:nvGrpSpPr>
          <p:cNvPr id="21" name="Group 124"/>
          <p:cNvGrpSpPr/>
          <p:nvPr/>
        </p:nvGrpSpPr>
        <p:grpSpPr>
          <a:xfrm>
            <a:off x="0" y="-16486"/>
            <a:ext cx="9144000" cy="1311292"/>
            <a:chOff x="0" y="-23450"/>
            <a:chExt cx="13004800" cy="1864950"/>
          </a:xfrm>
        </p:grpSpPr>
        <p:pic>
          <p:nvPicPr>
            <p:cNvPr id="22" name="Picture 3"/>
            <p:cNvPicPr>
              <a:picLocks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0" y="0"/>
              <a:ext cx="13004800" cy="1841500"/>
            </a:xfrm>
            <a:prstGeom prst="rect">
              <a:avLst/>
            </a:prstGeom>
            <a:noFill/>
            <a:ln w="9525" cap="flat">
              <a:noFill/>
              <a:miter lim="800000"/>
              <a:headEnd/>
              <a:tailEnd/>
            </a:ln>
          </p:spPr>
        </p:pic>
        <p:sp>
          <p:nvSpPr>
            <p:cNvPr id="26" name="Rectangle 5"/>
            <p:cNvSpPr txBox="1">
              <a:spLocks noChangeArrowheads="1"/>
            </p:cNvSpPr>
            <p:nvPr/>
          </p:nvSpPr>
          <p:spPr bwMode="auto">
            <a:xfrm>
              <a:off x="200216" y="-23450"/>
              <a:ext cx="12031663" cy="140969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vert="horz" wrap="square" lIns="50777" tIns="50777" rIns="166318" bIns="50777" numCol="1" anchor="ctr" anchorCtr="0" compatLnSpc="1">
              <a:prstTxWarp prst="textNoShape">
                <a:avLst/>
              </a:prstTxWarp>
            </a:bodyPr>
            <a:lstStyle/>
            <a:p>
              <a:r>
                <a:rPr lang="en-US" sz="3200" dirty="0">
                  <a:solidFill>
                    <a:srgbClr val="FFFF00"/>
                  </a:solidFill>
                </a:rPr>
                <a:t>Building seed index</a:t>
              </a:r>
              <a:endParaRPr lang="en-US" sz="3200" i="1" dirty="0">
                <a:solidFill>
                  <a:srgbClr val="FFFF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666643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60870" y="2420827"/>
            <a:ext cx="1150119" cy="92769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  <a:latin typeface="Cmr"/>
                <a:cs typeface="Cmr"/>
              </a:rPr>
              <a:t>Seed: ACT</a:t>
            </a:r>
          </a:p>
          <a:p>
            <a:pPr algn="ctr"/>
            <a:r>
              <a:rPr lang="en-US" sz="1600" dirty="0" smtClean="0">
                <a:solidFill>
                  <a:schemeClr val="tx1"/>
                </a:solidFill>
                <a:latin typeface="Cmr"/>
                <a:ea typeface="Wingdings"/>
                <a:cs typeface="Cmr"/>
                <a:sym typeface="Wingdings"/>
              </a:rPr>
              <a:t></a:t>
            </a:r>
            <a:endParaRPr lang="en-US" sz="1600" dirty="0">
              <a:solidFill>
                <a:schemeClr val="tx1"/>
              </a:solidFill>
              <a:latin typeface="Cmr"/>
              <a:cs typeface="Cmr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210989" y="2420827"/>
            <a:ext cx="1150119" cy="92769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  <a:latin typeface="Cmr"/>
                <a:cs typeface="Cmr"/>
              </a:rPr>
              <a:t>Seed: GGC</a:t>
            </a:r>
          </a:p>
          <a:p>
            <a:pPr algn="ctr"/>
            <a:r>
              <a:rPr lang="en-US" sz="1600" dirty="0" smtClean="0">
                <a:solidFill>
                  <a:schemeClr val="tx1"/>
                </a:solidFill>
                <a:latin typeface="Cmr"/>
                <a:ea typeface="Wingdings"/>
                <a:cs typeface="Cmr"/>
                <a:sym typeface="Wingdings"/>
              </a:rPr>
              <a:t></a:t>
            </a:r>
            <a:endParaRPr lang="en-US" sz="1600" dirty="0">
              <a:solidFill>
                <a:schemeClr val="tx1"/>
              </a:solidFill>
              <a:latin typeface="Cmr"/>
              <a:cs typeface="Cmr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361109" y="2418309"/>
            <a:ext cx="1150119" cy="92769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  <a:latin typeface="Cmr"/>
                <a:cs typeface="Cmr"/>
              </a:rPr>
              <a:t>Seed: CTG</a:t>
            </a:r>
          </a:p>
          <a:p>
            <a:pPr algn="ctr"/>
            <a:r>
              <a:rPr lang="en-US" sz="1600" dirty="0" smtClean="0">
                <a:solidFill>
                  <a:schemeClr val="tx1"/>
                </a:solidFill>
                <a:latin typeface="Cmr"/>
                <a:ea typeface="Wingdings"/>
                <a:cs typeface="Cmr"/>
                <a:sym typeface="Wingdings"/>
              </a:rPr>
              <a:t></a:t>
            </a:r>
            <a:endParaRPr lang="en-US" sz="1600" dirty="0">
              <a:solidFill>
                <a:schemeClr val="tx1"/>
              </a:solidFill>
              <a:latin typeface="Cmr"/>
              <a:cs typeface="Cmr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11228" y="2420827"/>
            <a:ext cx="1150119" cy="92769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 smtClean="0">
              <a:solidFill>
                <a:schemeClr val="tx1"/>
              </a:solidFill>
              <a:latin typeface="Cmr"/>
              <a:cs typeface="Cmr"/>
            </a:endParaRPr>
          </a:p>
          <a:p>
            <a:pPr algn="ctr"/>
            <a:endParaRPr lang="en-US" sz="1600" dirty="0">
              <a:solidFill>
                <a:schemeClr val="tx1"/>
              </a:solidFill>
              <a:latin typeface="Cmr"/>
              <a:cs typeface="Cmr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661347" y="2418309"/>
            <a:ext cx="1150119" cy="92769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  <a:latin typeface="Cmr"/>
                <a:cs typeface="Cmr"/>
              </a:rPr>
              <a:t>Seed: TGG</a:t>
            </a:r>
          </a:p>
          <a:p>
            <a:pPr algn="ctr"/>
            <a:r>
              <a:rPr lang="en-US" sz="1600" dirty="0" smtClean="0">
                <a:solidFill>
                  <a:schemeClr val="tx1"/>
                </a:solidFill>
                <a:latin typeface="Cmr"/>
                <a:ea typeface="Wingdings"/>
                <a:cs typeface="Cmr"/>
                <a:sym typeface="Wingdings"/>
              </a:rPr>
              <a:t></a:t>
            </a:r>
            <a:endParaRPr lang="en-US" sz="1600" dirty="0">
              <a:solidFill>
                <a:schemeClr val="tx1"/>
              </a:solidFill>
              <a:latin typeface="Cmr"/>
              <a:cs typeface="Cmr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811467" y="2418309"/>
            <a:ext cx="1150119" cy="92769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  <a:latin typeface="Cmr"/>
              <a:cs typeface="Cm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203049" y="4076369"/>
            <a:ext cx="1493439" cy="455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Cmr"/>
                <a:cs typeface="Cmr"/>
              </a:rPr>
              <a:t>A  C  T  G  G    </a:t>
            </a:r>
            <a:endParaRPr lang="en-US" sz="1200" dirty="0">
              <a:latin typeface="Cmr"/>
              <a:cs typeface="Cm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974437" y="4081377"/>
            <a:ext cx="1172410" cy="455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Cmr"/>
                <a:cs typeface="Cmr"/>
              </a:rPr>
              <a:t>G  G  C  A </a:t>
            </a:r>
            <a:endParaRPr lang="en-US" sz="1200" dirty="0">
              <a:latin typeface="Cmr"/>
              <a:cs typeface="Cmr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281303" y="3860945"/>
            <a:ext cx="516235" cy="607044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ysDash"/>
          </a:ln>
        </p:spPr>
        <p:txBody>
          <a:bodyPr wrap="square" rtlCol="0">
            <a:spAutoFit/>
          </a:bodyPr>
          <a:lstStyle/>
          <a:p>
            <a:endParaRPr lang="en-US" dirty="0" smtClean="0"/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1668359" y="2969172"/>
            <a:ext cx="737876" cy="891771"/>
          </a:xfrm>
          <a:prstGeom prst="straightConnector1">
            <a:avLst/>
          </a:prstGeom>
          <a:ln w="19050" cmpd="sng">
            <a:solidFill>
              <a:srgbClr val="FF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434193" y="3972074"/>
            <a:ext cx="543738" cy="610795"/>
          </a:xfrm>
          <a:prstGeom prst="rect">
            <a:avLst/>
          </a:prstGeom>
          <a:noFill/>
          <a:ln w="19050" cmpd="sng">
            <a:solidFill>
              <a:srgbClr val="008000"/>
            </a:solidFill>
            <a:prstDash val="sysDash"/>
          </a:ln>
        </p:spPr>
        <p:txBody>
          <a:bodyPr wrap="square" rtlCol="0">
            <a:spAutoFit/>
          </a:bodyPr>
          <a:lstStyle/>
          <a:p>
            <a:endParaRPr lang="en-US" dirty="0" smtClean="0"/>
          </a:p>
        </p:txBody>
      </p:sp>
      <p:sp>
        <p:nvSpPr>
          <p:cNvPr id="16" name="TextBox 15"/>
          <p:cNvSpPr txBox="1"/>
          <p:nvPr/>
        </p:nvSpPr>
        <p:spPr>
          <a:xfrm>
            <a:off x="2634419" y="4081377"/>
            <a:ext cx="579995" cy="607044"/>
          </a:xfrm>
          <a:prstGeom prst="rect">
            <a:avLst/>
          </a:prstGeom>
          <a:noFill/>
          <a:ln w="19050" cmpd="sng">
            <a:solidFill>
              <a:srgbClr val="000090"/>
            </a:solidFill>
            <a:prstDash val="sysDash"/>
          </a:ln>
        </p:spPr>
        <p:txBody>
          <a:bodyPr wrap="square" rtlCol="0">
            <a:spAutoFit/>
          </a:bodyPr>
          <a:lstStyle/>
          <a:p>
            <a:endParaRPr lang="en-US" dirty="0" smtClean="0"/>
          </a:p>
        </p:txBody>
      </p:sp>
      <p:cxnSp>
        <p:nvCxnSpPr>
          <p:cNvPr id="17" name="Straight Arrow Connector 16"/>
          <p:cNvCxnSpPr/>
          <p:nvPr/>
        </p:nvCxnSpPr>
        <p:spPr>
          <a:xfrm flipH="1">
            <a:off x="2977931" y="2969172"/>
            <a:ext cx="989726" cy="1006654"/>
          </a:xfrm>
          <a:prstGeom prst="straightConnector1">
            <a:avLst/>
          </a:prstGeom>
          <a:ln w="19050" cmpd="sng">
            <a:solidFill>
              <a:srgbClr val="008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>
            <a:off x="3214414" y="2969172"/>
            <a:ext cx="3004176" cy="1131920"/>
          </a:xfrm>
          <a:prstGeom prst="straightConnector1">
            <a:avLst/>
          </a:prstGeom>
          <a:ln w="19050" cmpd="sng">
            <a:solidFill>
              <a:srgbClr val="00009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019155" y="3975826"/>
            <a:ext cx="593604" cy="607044"/>
          </a:xfrm>
          <a:prstGeom prst="rect">
            <a:avLst/>
          </a:prstGeom>
          <a:noFill/>
          <a:ln w="19050" cmpd="sng">
            <a:solidFill>
              <a:srgbClr val="31859C"/>
            </a:solidFill>
            <a:prstDash val="sysDash"/>
          </a:ln>
        </p:spPr>
        <p:txBody>
          <a:bodyPr wrap="square" rtlCol="0">
            <a:spAutoFit/>
          </a:bodyPr>
          <a:lstStyle/>
          <a:p>
            <a:endParaRPr lang="en-US" dirty="0" smtClean="0"/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2797538" y="2969172"/>
            <a:ext cx="3221617" cy="1006654"/>
          </a:xfrm>
          <a:prstGeom prst="straightConnector1">
            <a:avLst/>
          </a:prstGeom>
          <a:ln w="19050" cmpd="sng">
            <a:solidFill>
              <a:schemeClr val="accent5">
                <a:lumMod val="7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221909" y="4103837"/>
            <a:ext cx="982487" cy="42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 smtClean="0">
                <a:latin typeface="Cmr"/>
                <a:cs typeface="Cmr"/>
              </a:rPr>
              <a:t>Target 0:</a:t>
            </a:r>
            <a:endParaRPr lang="en-US" sz="1100" i="1" dirty="0">
              <a:latin typeface="Cmr"/>
              <a:cs typeface="Cmr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991950" y="4101662"/>
            <a:ext cx="982487" cy="42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 smtClean="0">
                <a:latin typeface="Cmr"/>
                <a:cs typeface="Cmr"/>
              </a:rPr>
              <a:t>Target 1:</a:t>
            </a:r>
            <a:endParaRPr lang="en-US" sz="1100" i="1" dirty="0">
              <a:latin typeface="Cmr"/>
              <a:cs typeface="Cmr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890744" y="1685226"/>
            <a:ext cx="1240967" cy="42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 smtClean="0">
                <a:latin typeface="Cmr"/>
                <a:cs typeface="Cmr"/>
              </a:rPr>
              <a:t>Seed Index</a:t>
            </a:r>
            <a:endParaRPr lang="en-US" sz="1100" i="1" dirty="0">
              <a:latin typeface="Cmr"/>
              <a:cs typeface="Cmr"/>
            </a:endParaRPr>
          </a:p>
        </p:txBody>
      </p:sp>
      <p:grpSp>
        <p:nvGrpSpPr>
          <p:cNvPr id="26" name="Group 124"/>
          <p:cNvGrpSpPr/>
          <p:nvPr/>
        </p:nvGrpSpPr>
        <p:grpSpPr>
          <a:xfrm>
            <a:off x="0" y="-16486"/>
            <a:ext cx="9144000" cy="1311292"/>
            <a:chOff x="0" y="-23450"/>
            <a:chExt cx="13004800" cy="1864950"/>
          </a:xfrm>
        </p:grpSpPr>
        <p:pic>
          <p:nvPicPr>
            <p:cNvPr id="27" name="Picture 3"/>
            <p:cNvPicPr>
              <a:picLocks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0" y="0"/>
              <a:ext cx="13004800" cy="1841500"/>
            </a:xfrm>
            <a:prstGeom prst="rect">
              <a:avLst/>
            </a:prstGeom>
            <a:noFill/>
            <a:ln w="9525" cap="flat">
              <a:noFill/>
              <a:miter lim="800000"/>
              <a:headEnd/>
              <a:tailEnd/>
            </a:ln>
          </p:spPr>
        </p:pic>
        <p:sp>
          <p:nvSpPr>
            <p:cNvPr id="28" name="Rectangle 5"/>
            <p:cNvSpPr txBox="1">
              <a:spLocks noChangeArrowheads="1"/>
            </p:cNvSpPr>
            <p:nvPr/>
          </p:nvSpPr>
          <p:spPr bwMode="auto">
            <a:xfrm>
              <a:off x="200216" y="-23450"/>
              <a:ext cx="12031663" cy="140969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vert="horz" wrap="square" lIns="50777" tIns="50777" rIns="166318" bIns="50777" numCol="1" anchor="ctr" anchorCtr="0" compatLnSpc="1">
              <a:prstTxWarp prst="textNoShape">
                <a:avLst/>
              </a:prstTxWarp>
            </a:bodyPr>
            <a:lstStyle/>
            <a:p>
              <a:r>
                <a:rPr lang="en-US" sz="3200" dirty="0">
                  <a:solidFill>
                    <a:srgbClr val="FFFF00"/>
                  </a:solidFill>
                </a:rPr>
                <a:t>Building seed index</a:t>
              </a:r>
              <a:endParaRPr lang="en-US" sz="3200" i="1" dirty="0">
                <a:solidFill>
                  <a:srgbClr val="FFFF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2750211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1060870" y="1685226"/>
            <a:ext cx="6900716" cy="3003195"/>
            <a:chOff x="531930" y="1298098"/>
            <a:chExt cx="5157330" cy="1827175"/>
          </a:xfrm>
        </p:grpSpPr>
        <p:sp>
          <p:nvSpPr>
            <p:cNvPr id="5" name="Rectangle 4"/>
            <p:cNvSpPr/>
            <p:nvPr/>
          </p:nvSpPr>
          <p:spPr>
            <a:xfrm>
              <a:off x="531930" y="1745645"/>
              <a:ext cx="859555" cy="56441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 smtClean="0">
                  <a:solidFill>
                    <a:schemeClr val="tx1"/>
                  </a:solidFill>
                  <a:latin typeface="Cmr"/>
                  <a:cs typeface="Cmr"/>
                </a:rPr>
                <a:t>Seed: ACT</a:t>
              </a:r>
            </a:p>
            <a:p>
              <a:pPr algn="ctr"/>
              <a:r>
                <a:rPr lang="en-US" sz="1600" dirty="0" smtClean="0">
                  <a:solidFill>
                    <a:schemeClr val="tx1"/>
                  </a:solidFill>
                  <a:latin typeface="Cmr"/>
                  <a:ea typeface="Wingdings"/>
                  <a:cs typeface="Cmr"/>
                  <a:sym typeface="Wingdings"/>
                </a:rPr>
                <a:t></a:t>
              </a:r>
              <a:endParaRPr lang="en-US" sz="1600" dirty="0">
                <a:solidFill>
                  <a:schemeClr val="tx1"/>
                </a:solidFill>
                <a:latin typeface="Cmr"/>
                <a:cs typeface="Cmr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391485" y="1745645"/>
              <a:ext cx="859555" cy="56441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 smtClean="0">
                  <a:solidFill>
                    <a:schemeClr val="tx1"/>
                  </a:solidFill>
                  <a:latin typeface="Cmr"/>
                  <a:cs typeface="Cmr"/>
                </a:rPr>
                <a:t>Seed: GGC</a:t>
              </a:r>
            </a:p>
            <a:p>
              <a:pPr algn="ctr"/>
              <a:r>
                <a:rPr lang="en-US" sz="1600" dirty="0" smtClean="0">
                  <a:solidFill>
                    <a:schemeClr val="tx1"/>
                  </a:solidFill>
                  <a:latin typeface="Cmr"/>
                  <a:ea typeface="Wingdings"/>
                  <a:cs typeface="Cmr"/>
                  <a:sym typeface="Wingdings"/>
                </a:rPr>
                <a:t></a:t>
              </a:r>
              <a:endParaRPr lang="en-US" sz="1600" dirty="0">
                <a:solidFill>
                  <a:schemeClr val="tx1"/>
                </a:solidFill>
                <a:latin typeface="Cmr"/>
                <a:cs typeface="Cmr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2251040" y="1744113"/>
              <a:ext cx="859555" cy="56441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 smtClean="0">
                  <a:solidFill>
                    <a:schemeClr val="tx1"/>
                  </a:solidFill>
                  <a:latin typeface="Cmr"/>
                  <a:cs typeface="Cmr"/>
                </a:rPr>
                <a:t>Seed: CTG</a:t>
              </a:r>
            </a:p>
            <a:p>
              <a:pPr algn="ctr"/>
              <a:r>
                <a:rPr lang="en-US" sz="1600" dirty="0" smtClean="0">
                  <a:solidFill>
                    <a:schemeClr val="tx1"/>
                  </a:solidFill>
                  <a:latin typeface="Cmr"/>
                  <a:ea typeface="Wingdings"/>
                  <a:cs typeface="Cmr"/>
                  <a:sym typeface="Wingdings"/>
                </a:rPr>
                <a:t></a:t>
              </a:r>
              <a:endParaRPr lang="en-US" sz="1600" dirty="0">
                <a:solidFill>
                  <a:schemeClr val="tx1"/>
                </a:solidFill>
                <a:latin typeface="Cmr"/>
                <a:cs typeface="Cmr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3110595" y="1745645"/>
              <a:ext cx="859555" cy="56441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 smtClean="0">
                <a:solidFill>
                  <a:schemeClr val="tx1"/>
                </a:solidFill>
                <a:latin typeface="Cmr"/>
                <a:cs typeface="Cmr"/>
              </a:endParaRPr>
            </a:p>
            <a:p>
              <a:pPr algn="ctr"/>
              <a:endParaRPr lang="en-US" sz="1600" dirty="0">
                <a:solidFill>
                  <a:schemeClr val="tx1"/>
                </a:solidFill>
                <a:latin typeface="Cmr"/>
                <a:cs typeface="Cmr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3970150" y="1744113"/>
              <a:ext cx="859555" cy="56441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 smtClean="0">
                  <a:solidFill>
                    <a:schemeClr val="tx1"/>
                  </a:solidFill>
                  <a:latin typeface="Cmr"/>
                  <a:cs typeface="Cmr"/>
                </a:rPr>
                <a:t>Seed: TGG</a:t>
              </a:r>
            </a:p>
            <a:p>
              <a:pPr algn="ctr"/>
              <a:r>
                <a:rPr lang="en-US" sz="1600" dirty="0" smtClean="0">
                  <a:solidFill>
                    <a:schemeClr val="tx1"/>
                  </a:solidFill>
                  <a:latin typeface="Cmr"/>
                  <a:ea typeface="Wingdings"/>
                  <a:cs typeface="Cmr"/>
                  <a:sym typeface="Wingdings"/>
                </a:rPr>
                <a:t></a:t>
              </a:r>
              <a:endParaRPr lang="en-US" sz="1600" dirty="0">
                <a:solidFill>
                  <a:schemeClr val="tx1"/>
                </a:solidFill>
                <a:latin typeface="Cmr"/>
                <a:cs typeface="Cmr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829705" y="1744113"/>
              <a:ext cx="859555" cy="56441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 smtClean="0">
                  <a:solidFill>
                    <a:schemeClr val="tx1"/>
                  </a:solidFill>
                  <a:latin typeface="Cmr"/>
                  <a:cs typeface="Cmr"/>
                </a:rPr>
                <a:t>Seed: GCA</a:t>
              </a:r>
            </a:p>
            <a:p>
              <a:pPr algn="ctr"/>
              <a:r>
                <a:rPr lang="en-US" sz="1600" dirty="0" smtClean="0">
                  <a:solidFill>
                    <a:schemeClr val="tx1"/>
                  </a:solidFill>
                  <a:latin typeface="Cmr"/>
                  <a:ea typeface="Wingdings"/>
                  <a:cs typeface="Cmr"/>
                  <a:sym typeface="Wingdings"/>
                </a:rPr>
                <a:t></a:t>
              </a:r>
              <a:endParaRPr lang="en-US" sz="1600" dirty="0">
                <a:solidFill>
                  <a:schemeClr val="tx1"/>
                </a:solidFill>
                <a:latin typeface="Cmr"/>
                <a:cs typeface="Cmr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385551" y="2752894"/>
              <a:ext cx="111613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>
                  <a:latin typeface="Cmr"/>
                  <a:cs typeface="Cmr"/>
                </a:rPr>
                <a:t>A  C  T  G  G    </a:t>
              </a:r>
              <a:endParaRPr lang="en-US" sz="1200" dirty="0">
                <a:latin typeface="Cmr"/>
                <a:cs typeface="Cmr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204141" y="2755941"/>
              <a:ext cx="87621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>
                  <a:latin typeface="Cmr"/>
                  <a:cs typeface="Cmr"/>
                </a:rPr>
                <a:t>G  G  C  A </a:t>
              </a:r>
              <a:endParaRPr lang="en-US" sz="1200" dirty="0">
                <a:latin typeface="Cmr"/>
                <a:cs typeface="Cmr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444035" y="2621828"/>
              <a:ext cx="385814" cy="369332"/>
            </a:xfrm>
            <a:prstGeom prst="rect">
              <a:avLst/>
            </a:prstGeom>
            <a:noFill/>
            <a:ln w="19050" cmpd="sng">
              <a:solidFill>
                <a:srgbClr val="FF0000"/>
              </a:solidFill>
              <a:prstDash val="sysDash"/>
            </a:ln>
          </p:spPr>
          <p:txBody>
            <a:bodyPr wrap="square" rtlCol="0">
              <a:spAutoFit/>
            </a:bodyPr>
            <a:lstStyle/>
            <a:p>
              <a:endParaRPr lang="en-US" dirty="0" smtClean="0"/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>
              <a:off x="985944" y="2079264"/>
              <a:ext cx="551460" cy="542563"/>
            </a:xfrm>
            <a:prstGeom prst="straightConnector1">
              <a:avLst/>
            </a:prstGeom>
            <a:ln w="19050" cmpd="sng">
              <a:solidFill>
                <a:srgbClr val="FF0000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1558299" y="2689440"/>
              <a:ext cx="406369" cy="371614"/>
            </a:xfrm>
            <a:prstGeom prst="rect">
              <a:avLst/>
            </a:prstGeom>
            <a:noFill/>
            <a:ln w="19050" cmpd="sng">
              <a:solidFill>
                <a:srgbClr val="008000"/>
              </a:solidFill>
              <a:prstDash val="sysDash"/>
            </a:ln>
          </p:spPr>
          <p:txBody>
            <a:bodyPr wrap="square" rtlCol="0">
              <a:spAutoFit/>
            </a:bodyPr>
            <a:lstStyle/>
            <a:p>
              <a:endParaRPr lang="en-US" dirty="0" smtClean="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707940" y="2755941"/>
              <a:ext cx="433466" cy="369332"/>
            </a:xfrm>
            <a:prstGeom prst="rect">
              <a:avLst/>
            </a:prstGeom>
            <a:noFill/>
            <a:ln w="19050" cmpd="sng">
              <a:solidFill>
                <a:srgbClr val="000090"/>
              </a:solidFill>
              <a:prstDash val="sysDash"/>
            </a:ln>
          </p:spPr>
          <p:txBody>
            <a:bodyPr wrap="square" rtlCol="0">
              <a:spAutoFit/>
            </a:bodyPr>
            <a:lstStyle/>
            <a:p>
              <a:endParaRPr lang="en-US" dirty="0" smtClean="0"/>
            </a:p>
          </p:txBody>
        </p:sp>
        <p:cxnSp>
          <p:nvCxnSpPr>
            <p:cNvPr id="17" name="Straight Arrow Connector 16"/>
            <p:cNvCxnSpPr/>
            <p:nvPr/>
          </p:nvCxnSpPr>
          <p:spPr>
            <a:xfrm flipH="1">
              <a:off x="1964668" y="2079264"/>
              <a:ext cx="739683" cy="612459"/>
            </a:xfrm>
            <a:prstGeom prst="straightConnector1">
              <a:avLst/>
            </a:prstGeom>
            <a:ln w="19050" cmpd="sng">
              <a:solidFill>
                <a:srgbClr val="008000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 flipH="1">
              <a:off x="2141406" y="2079264"/>
              <a:ext cx="2245206" cy="688672"/>
            </a:xfrm>
            <a:prstGeom prst="straightConnector1">
              <a:avLst/>
            </a:prstGeom>
            <a:ln w="19050" cmpd="sng">
              <a:solidFill>
                <a:srgbClr val="000090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4237562" y="2691723"/>
              <a:ext cx="443637" cy="369332"/>
            </a:xfrm>
            <a:prstGeom prst="rect">
              <a:avLst/>
            </a:prstGeom>
            <a:noFill/>
            <a:ln w="19050" cmpd="sng">
              <a:solidFill>
                <a:srgbClr val="31859C"/>
              </a:solidFill>
              <a:prstDash val="sysDash"/>
            </a:ln>
          </p:spPr>
          <p:txBody>
            <a:bodyPr wrap="square" rtlCol="0">
              <a:spAutoFit/>
            </a:bodyPr>
            <a:lstStyle/>
            <a:p>
              <a:endParaRPr lang="en-US" dirty="0" smtClean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384229" y="2752894"/>
              <a:ext cx="445476" cy="369332"/>
            </a:xfrm>
            <a:prstGeom prst="rect">
              <a:avLst/>
            </a:prstGeom>
            <a:noFill/>
            <a:ln w="19050" cmpd="sng">
              <a:solidFill>
                <a:schemeClr val="accent2">
                  <a:lumMod val="50000"/>
                </a:schemeClr>
              </a:solidFill>
              <a:prstDash val="sysDash"/>
            </a:ln>
          </p:spPr>
          <p:txBody>
            <a:bodyPr wrap="square" rtlCol="0">
              <a:spAutoFit/>
            </a:bodyPr>
            <a:lstStyle/>
            <a:p>
              <a:endParaRPr lang="en-US" dirty="0" smtClean="0"/>
            </a:p>
          </p:txBody>
        </p:sp>
        <p:cxnSp>
          <p:nvCxnSpPr>
            <p:cNvPr id="21" name="Straight Arrow Connector 20"/>
            <p:cNvCxnSpPr/>
            <p:nvPr/>
          </p:nvCxnSpPr>
          <p:spPr>
            <a:xfrm>
              <a:off x="1829849" y="2079264"/>
              <a:ext cx="2407713" cy="612459"/>
            </a:xfrm>
            <a:prstGeom prst="straightConnector1">
              <a:avLst/>
            </a:prstGeom>
            <a:ln w="19050" cmpd="sng">
              <a:solidFill>
                <a:schemeClr val="accent5">
                  <a:lumMod val="7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flipH="1">
              <a:off x="4829705" y="2079264"/>
              <a:ext cx="425877" cy="688672"/>
            </a:xfrm>
            <a:prstGeom prst="straightConnector1">
              <a:avLst/>
            </a:prstGeom>
            <a:ln w="19050" cmpd="sng">
              <a:solidFill>
                <a:schemeClr val="accent2">
                  <a:lumMod val="50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652284" y="2769606"/>
              <a:ext cx="73427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i="1" dirty="0" smtClean="0">
                  <a:latin typeface="Cmr"/>
                  <a:cs typeface="Cmr"/>
                </a:rPr>
                <a:t>Target 0:</a:t>
              </a:r>
              <a:endParaRPr lang="en-US" sz="1100" i="1" dirty="0">
                <a:latin typeface="Cmr"/>
                <a:cs typeface="Cmr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469868" y="2768283"/>
              <a:ext cx="73427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i="1" dirty="0" smtClean="0">
                  <a:latin typeface="Cmr"/>
                  <a:cs typeface="Cmr"/>
                </a:rPr>
                <a:t>Target 1:</a:t>
              </a:r>
              <a:endParaRPr lang="en-US" sz="1100" i="1" dirty="0">
                <a:latin typeface="Cmr"/>
                <a:cs typeface="Cmr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646869" y="1298098"/>
              <a:ext cx="92745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i="1" dirty="0" smtClean="0">
                  <a:latin typeface="Cmr"/>
                  <a:cs typeface="Cmr"/>
                </a:rPr>
                <a:t>Seed Index</a:t>
              </a:r>
              <a:endParaRPr lang="en-US" sz="1100" i="1" dirty="0">
                <a:latin typeface="Cmr"/>
                <a:cs typeface="Cmr"/>
              </a:endParaRPr>
            </a:p>
          </p:txBody>
        </p:sp>
      </p:grpSp>
      <p:grpSp>
        <p:nvGrpSpPr>
          <p:cNvPr id="26" name="Group 124"/>
          <p:cNvGrpSpPr/>
          <p:nvPr/>
        </p:nvGrpSpPr>
        <p:grpSpPr>
          <a:xfrm>
            <a:off x="0" y="-16486"/>
            <a:ext cx="9144000" cy="1311292"/>
            <a:chOff x="0" y="-23450"/>
            <a:chExt cx="13004800" cy="1864950"/>
          </a:xfrm>
        </p:grpSpPr>
        <p:pic>
          <p:nvPicPr>
            <p:cNvPr id="27" name="Picture 3"/>
            <p:cNvPicPr>
              <a:picLocks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0"/>
              <a:ext cx="13004800" cy="1841500"/>
            </a:xfrm>
            <a:prstGeom prst="rect">
              <a:avLst/>
            </a:prstGeom>
            <a:noFill/>
            <a:ln w="9525" cap="flat">
              <a:noFill/>
              <a:miter lim="800000"/>
              <a:headEnd/>
              <a:tailEnd/>
            </a:ln>
          </p:spPr>
        </p:pic>
        <p:sp>
          <p:nvSpPr>
            <p:cNvPr id="28" name="Rectangle 5"/>
            <p:cNvSpPr txBox="1">
              <a:spLocks noChangeArrowheads="1"/>
            </p:cNvSpPr>
            <p:nvPr/>
          </p:nvSpPr>
          <p:spPr bwMode="auto">
            <a:xfrm>
              <a:off x="200216" y="-23450"/>
              <a:ext cx="12031663" cy="140969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vert="horz" wrap="square" lIns="50777" tIns="50777" rIns="166318" bIns="50777" numCol="1" anchor="ctr" anchorCtr="0" compatLnSpc="1">
              <a:prstTxWarp prst="textNoShape">
                <a:avLst/>
              </a:prstTxWarp>
            </a:bodyPr>
            <a:lstStyle/>
            <a:p>
              <a:r>
                <a:rPr lang="en-US" sz="3200" dirty="0">
                  <a:solidFill>
                    <a:srgbClr val="FFFF00"/>
                  </a:solidFill>
                </a:rPr>
                <a:t>Building seed index</a:t>
              </a:r>
              <a:endParaRPr lang="en-US" sz="3200" i="1" dirty="0">
                <a:solidFill>
                  <a:srgbClr val="FFFF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4411610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1060870" y="2806329"/>
            <a:ext cx="6900716" cy="3003195"/>
            <a:chOff x="531930" y="1298098"/>
            <a:chExt cx="5157330" cy="1827175"/>
          </a:xfrm>
        </p:grpSpPr>
        <p:sp>
          <p:nvSpPr>
            <p:cNvPr id="5" name="Rectangle 4"/>
            <p:cNvSpPr/>
            <p:nvPr/>
          </p:nvSpPr>
          <p:spPr>
            <a:xfrm>
              <a:off x="531930" y="1745645"/>
              <a:ext cx="859555" cy="56441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 smtClean="0">
                  <a:solidFill>
                    <a:schemeClr val="tx1"/>
                  </a:solidFill>
                  <a:latin typeface="Cmr"/>
                  <a:cs typeface="Cmr"/>
                </a:rPr>
                <a:t>Seed: ACT</a:t>
              </a:r>
            </a:p>
            <a:p>
              <a:pPr algn="ctr"/>
              <a:r>
                <a:rPr lang="en-US" sz="1600" dirty="0" smtClean="0">
                  <a:solidFill>
                    <a:schemeClr val="tx1"/>
                  </a:solidFill>
                  <a:latin typeface="Cmr"/>
                  <a:ea typeface="Wingdings"/>
                  <a:cs typeface="Cmr"/>
                  <a:sym typeface="Wingdings"/>
                </a:rPr>
                <a:t></a:t>
              </a:r>
              <a:endParaRPr lang="en-US" sz="1600" dirty="0">
                <a:solidFill>
                  <a:schemeClr val="tx1"/>
                </a:solidFill>
                <a:latin typeface="Cmr"/>
                <a:cs typeface="Cmr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391485" y="1745645"/>
              <a:ext cx="859555" cy="56441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 smtClean="0">
                  <a:solidFill>
                    <a:schemeClr val="tx1"/>
                  </a:solidFill>
                  <a:latin typeface="Cmr"/>
                  <a:cs typeface="Cmr"/>
                </a:rPr>
                <a:t>Seed: GGC</a:t>
              </a:r>
            </a:p>
            <a:p>
              <a:pPr algn="ctr"/>
              <a:r>
                <a:rPr lang="en-US" sz="1600" dirty="0" smtClean="0">
                  <a:solidFill>
                    <a:schemeClr val="tx1"/>
                  </a:solidFill>
                  <a:latin typeface="Cmr"/>
                  <a:ea typeface="Wingdings"/>
                  <a:cs typeface="Cmr"/>
                  <a:sym typeface="Wingdings"/>
                </a:rPr>
                <a:t></a:t>
              </a:r>
              <a:endParaRPr lang="en-US" sz="1600" dirty="0">
                <a:solidFill>
                  <a:schemeClr val="tx1"/>
                </a:solidFill>
                <a:latin typeface="Cmr"/>
                <a:cs typeface="Cmr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2251040" y="1744113"/>
              <a:ext cx="859555" cy="56441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 smtClean="0">
                  <a:solidFill>
                    <a:schemeClr val="tx1"/>
                  </a:solidFill>
                  <a:latin typeface="Cmr"/>
                  <a:cs typeface="Cmr"/>
                </a:rPr>
                <a:t>Seed: CTG</a:t>
              </a:r>
            </a:p>
            <a:p>
              <a:pPr algn="ctr"/>
              <a:r>
                <a:rPr lang="en-US" sz="1600" dirty="0" smtClean="0">
                  <a:solidFill>
                    <a:schemeClr val="tx1"/>
                  </a:solidFill>
                  <a:latin typeface="Cmr"/>
                  <a:ea typeface="Wingdings"/>
                  <a:cs typeface="Cmr"/>
                  <a:sym typeface="Wingdings"/>
                </a:rPr>
                <a:t></a:t>
              </a:r>
              <a:endParaRPr lang="en-US" sz="1600" dirty="0">
                <a:solidFill>
                  <a:schemeClr val="tx1"/>
                </a:solidFill>
                <a:latin typeface="Cmr"/>
                <a:cs typeface="Cmr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3110595" y="1745645"/>
              <a:ext cx="859555" cy="56441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 smtClean="0">
                <a:solidFill>
                  <a:schemeClr val="tx1"/>
                </a:solidFill>
                <a:latin typeface="Cmr"/>
                <a:cs typeface="Cmr"/>
              </a:endParaRPr>
            </a:p>
            <a:p>
              <a:pPr algn="ctr"/>
              <a:endParaRPr lang="en-US" sz="1600" dirty="0">
                <a:solidFill>
                  <a:schemeClr val="tx1"/>
                </a:solidFill>
                <a:latin typeface="Cmr"/>
                <a:cs typeface="Cmr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3970150" y="1744113"/>
              <a:ext cx="859555" cy="56441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 smtClean="0">
                  <a:solidFill>
                    <a:schemeClr val="tx1"/>
                  </a:solidFill>
                  <a:latin typeface="Cmr"/>
                  <a:cs typeface="Cmr"/>
                </a:rPr>
                <a:t>Seed: TGG</a:t>
              </a:r>
            </a:p>
            <a:p>
              <a:pPr algn="ctr"/>
              <a:r>
                <a:rPr lang="en-US" sz="1600" dirty="0" smtClean="0">
                  <a:solidFill>
                    <a:schemeClr val="tx1"/>
                  </a:solidFill>
                  <a:latin typeface="Cmr"/>
                  <a:ea typeface="Wingdings"/>
                  <a:cs typeface="Cmr"/>
                  <a:sym typeface="Wingdings"/>
                </a:rPr>
                <a:t></a:t>
              </a:r>
              <a:endParaRPr lang="en-US" sz="1600" dirty="0">
                <a:solidFill>
                  <a:schemeClr val="tx1"/>
                </a:solidFill>
                <a:latin typeface="Cmr"/>
                <a:cs typeface="Cmr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829705" y="1744113"/>
              <a:ext cx="859555" cy="56441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 smtClean="0">
                  <a:solidFill>
                    <a:schemeClr val="tx1"/>
                  </a:solidFill>
                  <a:latin typeface="Cmr"/>
                  <a:cs typeface="Cmr"/>
                </a:rPr>
                <a:t>Seed: GCA</a:t>
              </a:r>
            </a:p>
            <a:p>
              <a:pPr algn="ctr"/>
              <a:r>
                <a:rPr lang="en-US" sz="1600" dirty="0" smtClean="0">
                  <a:solidFill>
                    <a:schemeClr val="tx1"/>
                  </a:solidFill>
                  <a:latin typeface="Cmr"/>
                  <a:ea typeface="Wingdings"/>
                  <a:cs typeface="Cmr"/>
                  <a:sym typeface="Wingdings"/>
                </a:rPr>
                <a:t></a:t>
              </a:r>
              <a:endParaRPr lang="en-US" sz="1600" dirty="0">
                <a:solidFill>
                  <a:schemeClr val="tx1"/>
                </a:solidFill>
                <a:latin typeface="Cmr"/>
                <a:cs typeface="Cmr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385551" y="2752894"/>
              <a:ext cx="111613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>
                  <a:latin typeface="Cmr"/>
                  <a:cs typeface="Cmr"/>
                </a:rPr>
                <a:t>A  C  T  G  G    </a:t>
              </a:r>
              <a:endParaRPr lang="en-US" sz="1200" dirty="0">
                <a:latin typeface="Cmr"/>
                <a:cs typeface="Cmr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204141" y="2755941"/>
              <a:ext cx="87621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>
                  <a:latin typeface="Cmr"/>
                  <a:cs typeface="Cmr"/>
                </a:rPr>
                <a:t>G  G  C  A </a:t>
              </a:r>
              <a:endParaRPr lang="en-US" sz="1200" dirty="0">
                <a:latin typeface="Cmr"/>
                <a:cs typeface="Cmr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444035" y="2621828"/>
              <a:ext cx="385814" cy="369332"/>
            </a:xfrm>
            <a:prstGeom prst="rect">
              <a:avLst/>
            </a:prstGeom>
            <a:noFill/>
            <a:ln w="19050" cmpd="sng">
              <a:solidFill>
                <a:srgbClr val="FF0000"/>
              </a:solidFill>
              <a:prstDash val="sysDash"/>
            </a:ln>
          </p:spPr>
          <p:txBody>
            <a:bodyPr wrap="square" rtlCol="0">
              <a:spAutoFit/>
            </a:bodyPr>
            <a:lstStyle/>
            <a:p>
              <a:endParaRPr lang="en-US" dirty="0" smtClean="0"/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>
              <a:off x="985944" y="2079264"/>
              <a:ext cx="551460" cy="542563"/>
            </a:xfrm>
            <a:prstGeom prst="straightConnector1">
              <a:avLst/>
            </a:prstGeom>
            <a:ln w="19050" cmpd="sng">
              <a:solidFill>
                <a:srgbClr val="FF0000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1558299" y="2689440"/>
              <a:ext cx="406369" cy="371614"/>
            </a:xfrm>
            <a:prstGeom prst="rect">
              <a:avLst/>
            </a:prstGeom>
            <a:noFill/>
            <a:ln w="19050" cmpd="sng">
              <a:solidFill>
                <a:srgbClr val="008000"/>
              </a:solidFill>
              <a:prstDash val="sysDash"/>
            </a:ln>
          </p:spPr>
          <p:txBody>
            <a:bodyPr wrap="square" rtlCol="0">
              <a:spAutoFit/>
            </a:bodyPr>
            <a:lstStyle/>
            <a:p>
              <a:endParaRPr lang="en-US" dirty="0" smtClean="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707940" y="2755941"/>
              <a:ext cx="433466" cy="369332"/>
            </a:xfrm>
            <a:prstGeom prst="rect">
              <a:avLst/>
            </a:prstGeom>
            <a:noFill/>
            <a:ln w="19050" cmpd="sng">
              <a:solidFill>
                <a:srgbClr val="000090"/>
              </a:solidFill>
              <a:prstDash val="sysDash"/>
            </a:ln>
          </p:spPr>
          <p:txBody>
            <a:bodyPr wrap="square" rtlCol="0">
              <a:spAutoFit/>
            </a:bodyPr>
            <a:lstStyle/>
            <a:p>
              <a:endParaRPr lang="en-US" dirty="0" smtClean="0"/>
            </a:p>
          </p:txBody>
        </p:sp>
        <p:cxnSp>
          <p:nvCxnSpPr>
            <p:cNvPr id="17" name="Straight Arrow Connector 16"/>
            <p:cNvCxnSpPr/>
            <p:nvPr/>
          </p:nvCxnSpPr>
          <p:spPr>
            <a:xfrm flipH="1">
              <a:off x="1964668" y="2079264"/>
              <a:ext cx="739683" cy="612459"/>
            </a:xfrm>
            <a:prstGeom prst="straightConnector1">
              <a:avLst/>
            </a:prstGeom>
            <a:ln w="19050" cmpd="sng">
              <a:solidFill>
                <a:srgbClr val="008000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 flipH="1">
              <a:off x="2141406" y="2079264"/>
              <a:ext cx="2245206" cy="688672"/>
            </a:xfrm>
            <a:prstGeom prst="straightConnector1">
              <a:avLst/>
            </a:prstGeom>
            <a:ln w="19050" cmpd="sng">
              <a:solidFill>
                <a:srgbClr val="000090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4237562" y="2691723"/>
              <a:ext cx="443637" cy="369332"/>
            </a:xfrm>
            <a:prstGeom prst="rect">
              <a:avLst/>
            </a:prstGeom>
            <a:noFill/>
            <a:ln w="19050" cmpd="sng">
              <a:solidFill>
                <a:srgbClr val="31859C"/>
              </a:solidFill>
              <a:prstDash val="sysDash"/>
            </a:ln>
          </p:spPr>
          <p:txBody>
            <a:bodyPr wrap="square" rtlCol="0">
              <a:spAutoFit/>
            </a:bodyPr>
            <a:lstStyle/>
            <a:p>
              <a:endParaRPr lang="en-US" dirty="0" smtClean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384229" y="2752894"/>
              <a:ext cx="445476" cy="369332"/>
            </a:xfrm>
            <a:prstGeom prst="rect">
              <a:avLst/>
            </a:prstGeom>
            <a:noFill/>
            <a:ln w="19050" cmpd="sng">
              <a:solidFill>
                <a:schemeClr val="accent2">
                  <a:lumMod val="50000"/>
                </a:schemeClr>
              </a:solidFill>
              <a:prstDash val="sysDash"/>
            </a:ln>
          </p:spPr>
          <p:txBody>
            <a:bodyPr wrap="square" rtlCol="0">
              <a:spAutoFit/>
            </a:bodyPr>
            <a:lstStyle/>
            <a:p>
              <a:endParaRPr lang="en-US" dirty="0" smtClean="0"/>
            </a:p>
          </p:txBody>
        </p:sp>
        <p:cxnSp>
          <p:nvCxnSpPr>
            <p:cNvPr id="21" name="Straight Arrow Connector 20"/>
            <p:cNvCxnSpPr/>
            <p:nvPr/>
          </p:nvCxnSpPr>
          <p:spPr>
            <a:xfrm>
              <a:off x="1829849" y="2079264"/>
              <a:ext cx="2407713" cy="612459"/>
            </a:xfrm>
            <a:prstGeom prst="straightConnector1">
              <a:avLst/>
            </a:prstGeom>
            <a:ln w="19050" cmpd="sng">
              <a:solidFill>
                <a:schemeClr val="accent5">
                  <a:lumMod val="7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flipH="1">
              <a:off x="4829705" y="2079264"/>
              <a:ext cx="425877" cy="688672"/>
            </a:xfrm>
            <a:prstGeom prst="straightConnector1">
              <a:avLst/>
            </a:prstGeom>
            <a:ln w="19050" cmpd="sng">
              <a:solidFill>
                <a:schemeClr val="accent2">
                  <a:lumMod val="50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652284" y="2769606"/>
              <a:ext cx="73427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i="1" dirty="0" smtClean="0">
                  <a:latin typeface="Cmr"/>
                  <a:cs typeface="Cmr"/>
                </a:rPr>
                <a:t>Target 0:</a:t>
              </a:r>
              <a:endParaRPr lang="en-US" sz="1100" i="1" dirty="0">
                <a:latin typeface="Cmr"/>
                <a:cs typeface="Cmr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469868" y="2768283"/>
              <a:ext cx="73427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i="1" dirty="0" smtClean="0">
                  <a:latin typeface="Cmr"/>
                  <a:cs typeface="Cmr"/>
                </a:rPr>
                <a:t>Target 1:</a:t>
              </a:r>
              <a:endParaRPr lang="en-US" sz="1100" i="1" dirty="0">
                <a:latin typeface="Cmr"/>
                <a:cs typeface="Cmr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646869" y="1298098"/>
              <a:ext cx="92745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i="1" dirty="0" smtClean="0">
                  <a:latin typeface="Cmr"/>
                  <a:cs typeface="Cmr"/>
                </a:rPr>
                <a:t>Seed Index</a:t>
              </a:r>
              <a:endParaRPr lang="en-US" sz="1100" i="1" dirty="0">
                <a:latin typeface="Cmr"/>
                <a:cs typeface="Cmr"/>
              </a:endParaRPr>
            </a:p>
          </p:txBody>
        </p:sp>
      </p:grpSp>
      <p:sp>
        <p:nvSpPr>
          <p:cNvPr id="26" name="Rectangle 25"/>
          <p:cNvSpPr/>
          <p:nvPr/>
        </p:nvSpPr>
        <p:spPr>
          <a:xfrm>
            <a:off x="1955174" y="1985321"/>
            <a:ext cx="2248967" cy="24172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1921754" y="1965437"/>
            <a:ext cx="30701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>
                <a:latin typeface="Cmr"/>
                <a:cs typeface="Cmr"/>
              </a:rPr>
              <a:t>q</a:t>
            </a:r>
            <a:r>
              <a:rPr lang="en-US" sz="1100" i="1" dirty="0" smtClean="0">
                <a:latin typeface="Cmr"/>
                <a:cs typeface="Cmr"/>
              </a:rPr>
              <a:t>uery sequence</a:t>
            </a:r>
            <a:r>
              <a:rPr lang="en-US" sz="1100" dirty="0">
                <a:latin typeface="Cmr"/>
                <a:cs typeface="Cmr"/>
              </a:rPr>
              <a:t> </a:t>
            </a:r>
            <a:r>
              <a:rPr lang="en-US" sz="1100" dirty="0" smtClean="0">
                <a:latin typeface="Cmr"/>
                <a:cs typeface="Cmr"/>
              </a:rPr>
              <a:t>:</a:t>
            </a:r>
            <a:r>
              <a:rPr lang="en-US" sz="1100" i="1" dirty="0" smtClean="0">
                <a:latin typeface="Cmr"/>
                <a:cs typeface="Cmr"/>
              </a:rPr>
              <a:t>        </a:t>
            </a:r>
            <a:r>
              <a:rPr lang="en-US" sz="1100" dirty="0" smtClean="0">
                <a:latin typeface="Cmr"/>
                <a:cs typeface="Cmr"/>
              </a:rPr>
              <a:t> </a:t>
            </a:r>
            <a:r>
              <a:rPr lang="en-US" sz="1100" b="1" dirty="0" smtClean="0">
                <a:latin typeface="Cmr"/>
                <a:cs typeface="Cmr"/>
              </a:rPr>
              <a:t>G</a:t>
            </a:r>
            <a:r>
              <a:rPr lang="en-US" sz="1100" dirty="0" smtClean="0">
                <a:latin typeface="Cmr"/>
                <a:cs typeface="Cmr"/>
              </a:rPr>
              <a:t>  </a:t>
            </a:r>
            <a:r>
              <a:rPr lang="en-US" sz="1100" b="1" dirty="0" smtClean="0">
                <a:latin typeface="Cmr"/>
                <a:cs typeface="Cmr"/>
              </a:rPr>
              <a:t>C  T  </a:t>
            </a:r>
            <a:r>
              <a:rPr lang="en-US" sz="1100" dirty="0" smtClean="0">
                <a:latin typeface="Cmr"/>
                <a:cs typeface="Cmr"/>
              </a:rPr>
              <a:t>G</a:t>
            </a:r>
            <a:r>
              <a:rPr lang="en-US" sz="1100" b="1" i="1" dirty="0" smtClean="0">
                <a:latin typeface="Cmr"/>
                <a:cs typeface="Cmr"/>
              </a:rPr>
              <a:t> </a:t>
            </a:r>
            <a:r>
              <a:rPr lang="en-US" sz="1100" b="1" dirty="0" smtClean="0">
                <a:latin typeface="Cmr"/>
                <a:cs typeface="Cmr"/>
              </a:rPr>
              <a:t> </a:t>
            </a:r>
            <a:endParaRPr lang="en-US" sz="1100" b="1" i="1" dirty="0">
              <a:latin typeface="Cmr"/>
              <a:cs typeface="Cmr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396948" y="1941342"/>
            <a:ext cx="543100" cy="267806"/>
          </a:xfrm>
          <a:prstGeom prst="rect">
            <a:avLst/>
          </a:prstGeom>
          <a:noFill/>
          <a:ln w="19050" cmpd="sng">
            <a:solidFill>
              <a:schemeClr val="tx1"/>
            </a:solidFill>
            <a:prstDash val="sysDash"/>
          </a:ln>
        </p:spPr>
        <p:txBody>
          <a:bodyPr wrap="square" rtlCol="0">
            <a:spAutoFit/>
          </a:bodyPr>
          <a:lstStyle/>
          <a:p>
            <a:endParaRPr lang="en-US" dirty="0" smtClean="0"/>
          </a:p>
        </p:txBody>
      </p:sp>
      <p:sp>
        <p:nvSpPr>
          <p:cNvPr id="30" name="TextBox 29"/>
          <p:cNvSpPr txBox="1"/>
          <p:nvPr/>
        </p:nvSpPr>
        <p:spPr>
          <a:xfrm>
            <a:off x="3379316" y="1558254"/>
            <a:ext cx="14019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>
                <a:latin typeface="Cmr"/>
                <a:cs typeface="Cmr"/>
              </a:rPr>
              <a:t>q</a:t>
            </a:r>
            <a:r>
              <a:rPr lang="en-US" sz="1100" i="1" dirty="0" smtClean="0">
                <a:latin typeface="Cmr"/>
                <a:cs typeface="Cmr"/>
              </a:rPr>
              <a:t>uery’s seed</a:t>
            </a:r>
            <a:endParaRPr lang="en-US" sz="1100" i="1" dirty="0">
              <a:latin typeface="Cmr"/>
              <a:cs typeface="Cmr"/>
            </a:endParaRPr>
          </a:p>
        </p:txBody>
      </p:sp>
      <p:grpSp>
        <p:nvGrpSpPr>
          <p:cNvPr id="29" name="Group 124"/>
          <p:cNvGrpSpPr/>
          <p:nvPr/>
        </p:nvGrpSpPr>
        <p:grpSpPr>
          <a:xfrm>
            <a:off x="0" y="-16486"/>
            <a:ext cx="9144000" cy="1311292"/>
            <a:chOff x="0" y="-23450"/>
            <a:chExt cx="13004800" cy="1864950"/>
          </a:xfrm>
        </p:grpSpPr>
        <p:pic>
          <p:nvPicPr>
            <p:cNvPr id="31" name="Picture 3"/>
            <p:cNvPicPr>
              <a:picLocks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0"/>
              <a:ext cx="13004800" cy="1841500"/>
            </a:xfrm>
            <a:prstGeom prst="rect">
              <a:avLst/>
            </a:prstGeom>
            <a:noFill/>
            <a:ln w="9525" cap="flat">
              <a:noFill/>
              <a:miter lim="800000"/>
              <a:headEnd/>
              <a:tailEnd/>
            </a:ln>
          </p:spPr>
        </p:pic>
        <p:sp>
          <p:nvSpPr>
            <p:cNvPr id="32" name="Rectangle 5"/>
            <p:cNvSpPr txBox="1">
              <a:spLocks noChangeArrowheads="1"/>
            </p:cNvSpPr>
            <p:nvPr/>
          </p:nvSpPr>
          <p:spPr bwMode="auto">
            <a:xfrm>
              <a:off x="200216" y="-23450"/>
              <a:ext cx="12031663" cy="140969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vert="horz" wrap="square" lIns="50777" tIns="50777" rIns="166318" bIns="50777" numCol="1" anchor="ctr" anchorCtr="0" compatLnSpc="1">
              <a:prstTxWarp prst="textNoShape">
                <a:avLst/>
              </a:prstTxWarp>
            </a:bodyPr>
            <a:lstStyle/>
            <a:p>
              <a:r>
                <a:rPr lang="en-US" sz="3200" dirty="0">
                  <a:solidFill>
                    <a:srgbClr val="FFFF00"/>
                  </a:solidFill>
                </a:rPr>
                <a:t>Lookup seed index</a:t>
              </a:r>
              <a:endParaRPr lang="en-US" sz="3200" i="1" dirty="0">
                <a:solidFill>
                  <a:srgbClr val="FFFF00"/>
                </a:solidFill>
              </a:endParaRPr>
            </a:p>
          </p:txBody>
        </p:sp>
      </p:grpSp>
      <p:sp>
        <p:nvSpPr>
          <p:cNvPr id="33" name="Explosion 1 32"/>
          <p:cNvSpPr/>
          <p:nvPr/>
        </p:nvSpPr>
        <p:spPr>
          <a:xfrm>
            <a:off x="3214414" y="2050112"/>
            <a:ext cx="3138251" cy="1512433"/>
          </a:xfrm>
          <a:prstGeom prst="irregularSeal1">
            <a:avLst/>
          </a:prstGeom>
          <a:solidFill>
            <a:srgbClr val="FFFF0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Seed </a:t>
            </a:r>
            <a:r>
              <a:rPr lang="en-US" sz="1200" b="1" dirty="0" smtClean="0"/>
              <a:t>G C T </a:t>
            </a:r>
            <a:r>
              <a:rPr lang="en-US" sz="1200" dirty="0" smtClean="0"/>
              <a:t>is not found in seed index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87610428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1060870" y="2806329"/>
            <a:ext cx="6900716" cy="3003195"/>
            <a:chOff x="531930" y="1298098"/>
            <a:chExt cx="5157330" cy="1827175"/>
          </a:xfrm>
        </p:grpSpPr>
        <p:sp>
          <p:nvSpPr>
            <p:cNvPr id="5" name="Rectangle 4"/>
            <p:cNvSpPr/>
            <p:nvPr/>
          </p:nvSpPr>
          <p:spPr>
            <a:xfrm>
              <a:off x="531930" y="1745645"/>
              <a:ext cx="859555" cy="56441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 smtClean="0">
                  <a:solidFill>
                    <a:schemeClr val="tx1"/>
                  </a:solidFill>
                  <a:latin typeface="Cmr"/>
                  <a:cs typeface="Cmr"/>
                </a:rPr>
                <a:t>Seed: ACT</a:t>
              </a:r>
            </a:p>
            <a:p>
              <a:pPr algn="ctr"/>
              <a:r>
                <a:rPr lang="en-US" sz="1600" dirty="0" smtClean="0">
                  <a:solidFill>
                    <a:schemeClr val="tx1"/>
                  </a:solidFill>
                  <a:latin typeface="Cmr"/>
                  <a:ea typeface="Wingdings"/>
                  <a:cs typeface="Cmr"/>
                  <a:sym typeface="Wingdings"/>
                </a:rPr>
                <a:t></a:t>
              </a:r>
              <a:endParaRPr lang="en-US" sz="1600" dirty="0">
                <a:solidFill>
                  <a:schemeClr val="tx1"/>
                </a:solidFill>
                <a:latin typeface="Cmr"/>
                <a:cs typeface="Cmr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391485" y="1745645"/>
              <a:ext cx="859555" cy="56441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 smtClean="0">
                  <a:solidFill>
                    <a:schemeClr val="tx1"/>
                  </a:solidFill>
                  <a:latin typeface="Cmr"/>
                  <a:cs typeface="Cmr"/>
                </a:rPr>
                <a:t>Seed: GGC</a:t>
              </a:r>
            </a:p>
            <a:p>
              <a:pPr algn="ctr"/>
              <a:r>
                <a:rPr lang="en-US" sz="1600" dirty="0" smtClean="0">
                  <a:solidFill>
                    <a:schemeClr val="tx1"/>
                  </a:solidFill>
                  <a:latin typeface="Cmr"/>
                  <a:ea typeface="Wingdings"/>
                  <a:cs typeface="Cmr"/>
                  <a:sym typeface="Wingdings"/>
                </a:rPr>
                <a:t></a:t>
              </a:r>
              <a:endParaRPr lang="en-US" sz="1600" dirty="0">
                <a:solidFill>
                  <a:schemeClr val="tx1"/>
                </a:solidFill>
                <a:latin typeface="Cmr"/>
                <a:cs typeface="Cmr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2251040" y="1744113"/>
              <a:ext cx="859555" cy="56441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 smtClean="0">
                  <a:solidFill>
                    <a:schemeClr val="tx1"/>
                  </a:solidFill>
                  <a:latin typeface="Cmr"/>
                  <a:cs typeface="Cmr"/>
                </a:rPr>
                <a:t>Seed: CTG</a:t>
              </a:r>
            </a:p>
            <a:p>
              <a:pPr algn="ctr"/>
              <a:r>
                <a:rPr lang="en-US" sz="1600" dirty="0" smtClean="0">
                  <a:solidFill>
                    <a:schemeClr val="tx1"/>
                  </a:solidFill>
                  <a:latin typeface="Cmr"/>
                  <a:ea typeface="Wingdings"/>
                  <a:cs typeface="Cmr"/>
                  <a:sym typeface="Wingdings"/>
                </a:rPr>
                <a:t></a:t>
              </a:r>
              <a:endParaRPr lang="en-US" sz="1600" dirty="0">
                <a:solidFill>
                  <a:schemeClr val="tx1"/>
                </a:solidFill>
                <a:latin typeface="Cmr"/>
                <a:cs typeface="Cmr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3110595" y="1745645"/>
              <a:ext cx="859555" cy="56441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 smtClean="0">
                <a:solidFill>
                  <a:schemeClr val="tx1"/>
                </a:solidFill>
                <a:latin typeface="Cmr"/>
                <a:cs typeface="Cmr"/>
              </a:endParaRPr>
            </a:p>
            <a:p>
              <a:pPr algn="ctr"/>
              <a:endParaRPr lang="en-US" sz="1600" dirty="0">
                <a:solidFill>
                  <a:schemeClr val="tx1"/>
                </a:solidFill>
                <a:latin typeface="Cmr"/>
                <a:cs typeface="Cmr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3970150" y="1744113"/>
              <a:ext cx="859555" cy="56441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 smtClean="0">
                  <a:solidFill>
                    <a:schemeClr val="tx1"/>
                  </a:solidFill>
                  <a:latin typeface="Cmr"/>
                  <a:cs typeface="Cmr"/>
                </a:rPr>
                <a:t>Seed: TGG</a:t>
              </a:r>
            </a:p>
            <a:p>
              <a:pPr algn="ctr"/>
              <a:r>
                <a:rPr lang="en-US" sz="1600" dirty="0" smtClean="0">
                  <a:solidFill>
                    <a:schemeClr val="tx1"/>
                  </a:solidFill>
                  <a:latin typeface="Cmr"/>
                  <a:ea typeface="Wingdings"/>
                  <a:cs typeface="Cmr"/>
                  <a:sym typeface="Wingdings"/>
                </a:rPr>
                <a:t></a:t>
              </a:r>
              <a:endParaRPr lang="en-US" sz="1600" dirty="0">
                <a:solidFill>
                  <a:schemeClr val="tx1"/>
                </a:solidFill>
                <a:latin typeface="Cmr"/>
                <a:cs typeface="Cmr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829705" y="1744113"/>
              <a:ext cx="859555" cy="56441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 smtClean="0">
                  <a:solidFill>
                    <a:schemeClr val="tx1"/>
                  </a:solidFill>
                  <a:latin typeface="Cmr"/>
                  <a:cs typeface="Cmr"/>
                </a:rPr>
                <a:t>Seed: GCA</a:t>
              </a:r>
            </a:p>
            <a:p>
              <a:pPr algn="ctr"/>
              <a:r>
                <a:rPr lang="en-US" sz="1600" dirty="0" smtClean="0">
                  <a:solidFill>
                    <a:schemeClr val="tx1"/>
                  </a:solidFill>
                  <a:latin typeface="Cmr"/>
                  <a:ea typeface="Wingdings"/>
                  <a:cs typeface="Cmr"/>
                  <a:sym typeface="Wingdings"/>
                </a:rPr>
                <a:t></a:t>
              </a:r>
              <a:endParaRPr lang="en-US" sz="1600" dirty="0">
                <a:solidFill>
                  <a:schemeClr val="tx1"/>
                </a:solidFill>
                <a:latin typeface="Cmr"/>
                <a:cs typeface="Cmr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385551" y="2752894"/>
              <a:ext cx="111613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>
                  <a:latin typeface="Cmr"/>
                  <a:cs typeface="Cmr"/>
                </a:rPr>
                <a:t>A  C  T  G  G    </a:t>
              </a:r>
              <a:endParaRPr lang="en-US" sz="1200" dirty="0">
                <a:latin typeface="Cmr"/>
                <a:cs typeface="Cmr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204141" y="2755941"/>
              <a:ext cx="87621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>
                  <a:latin typeface="Cmr"/>
                  <a:cs typeface="Cmr"/>
                </a:rPr>
                <a:t>G  G  C  A </a:t>
              </a:r>
              <a:endParaRPr lang="en-US" sz="1200" dirty="0">
                <a:latin typeface="Cmr"/>
                <a:cs typeface="Cmr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444035" y="2621828"/>
              <a:ext cx="385814" cy="369332"/>
            </a:xfrm>
            <a:prstGeom prst="rect">
              <a:avLst/>
            </a:prstGeom>
            <a:noFill/>
            <a:ln w="19050" cmpd="sng">
              <a:solidFill>
                <a:srgbClr val="FF0000"/>
              </a:solidFill>
              <a:prstDash val="sysDash"/>
            </a:ln>
          </p:spPr>
          <p:txBody>
            <a:bodyPr wrap="square" rtlCol="0">
              <a:spAutoFit/>
            </a:bodyPr>
            <a:lstStyle/>
            <a:p>
              <a:endParaRPr lang="en-US" dirty="0" smtClean="0"/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>
              <a:off x="985944" y="2079264"/>
              <a:ext cx="551460" cy="542563"/>
            </a:xfrm>
            <a:prstGeom prst="straightConnector1">
              <a:avLst/>
            </a:prstGeom>
            <a:ln w="19050" cmpd="sng">
              <a:solidFill>
                <a:srgbClr val="FF0000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1558299" y="2689440"/>
              <a:ext cx="406369" cy="371614"/>
            </a:xfrm>
            <a:prstGeom prst="rect">
              <a:avLst/>
            </a:prstGeom>
            <a:noFill/>
            <a:ln w="19050" cmpd="sng">
              <a:solidFill>
                <a:srgbClr val="008000"/>
              </a:solidFill>
              <a:prstDash val="sysDash"/>
            </a:ln>
          </p:spPr>
          <p:txBody>
            <a:bodyPr wrap="square" rtlCol="0">
              <a:spAutoFit/>
            </a:bodyPr>
            <a:lstStyle/>
            <a:p>
              <a:endParaRPr lang="en-US" dirty="0" smtClean="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707940" y="2755941"/>
              <a:ext cx="433466" cy="369332"/>
            </a:xfrm>
            <a:prstGeom prst="rect">
              <a:avLst/>
            </a:prstGeom>
            <a:noFill/>
            <a:ln w="19050" cmpd="sng">
              <a:solidFill>
                <a:srgbClr val="000090"/>
              </a:solidFill>
              <a:prstDash val="sysDash"/>
            </a:ln>
          </p:spPr>
          <p:txBody>
            <a:bodyPr wrap="square" rtlCol="0">
              <a:spAutoFit/>
            </a:bodyPr>
            <a:lstStyle/>
            <a:p>
              <a:endParaRPr lang="en-US" dirty="0" smtClean="0"/>
            </a:p>
          </p:txBody>
        </p:sp>
        <p:cxnSp>
          <p:nvCxnSpPr>
            <p:cNvPr id="17" name="Straight Arrow Connector 16"/>
            <p:cNvCxnSpPr/>
            <p:nvPr/>
          </p:nvCxnSpPr>
          <p:spPr>
            <a:xfrm flipH="1">
              <a:off x="1964668" y="2079264"/>
              <a:ext cx="739683" cy="612459"/>
            </a:xfrm>
            <a:prstGeom prst="straightConnector1">
              <a:avLst/>
            </a:prstGeom>
            <a:ln w="19050" cmpd="sng">
              <a:solidFill>
                <a:srgbClr val="008000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 flipH="1">
              <a:off x="2141406" y="2079264"/>
              <a:ext cx="2245206" cy="688672"/>
            </a:xfrm>
            <a:prstGeom prst="straightConnector1">
              <a:avLst/>
            </a:prstGeom>
            <a:ln w="19050" cmpd="sng">
              <a:solidFill>
                <a:srgbClr val="000090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4237562" y="2691723"/>
              <a:ext cx="443637" cy="369332"/>
            </a:xfrm>
            <a:prstGeom prst="rect">
              <a:avLst/>
            </a:prstGeom>
            <a:noFill/>
            <a:ln w="19050" cmpd="sng">
              <a:solidFill>
                <a:srgbClr val="31859C"/>
              </a:solidFill>
              <a:prstDash val="sysDash"/>
            </a:ln>
          </p:spPr>
          <p:txBody>
            <a:bodyPr wrap="square" rtlCol="0">
              <a:spAutoFit/>
            </a:bodyPr>
            <a:lstStyle/>
            <a:p>
              <a:endParaRPr lang="en-US" dirty="0" smtClean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384229" y="2752894"/>
              <a:ext cx="445476" cy="369332"/>
            </a:xfrm>
            <a:prstGeom prst="rect">
              <a:avLst/>
            </a:prstGeom>
            <a:noFill/>
            <a:ln w="19050" cmpd="sng">
              <a:solidFill>
                <a:schemeClr val="accent2">
                  <a:lumMod val="50000"/>
                </a:schemeClr>
              </a:solidFill>
              <a:prstDash val="sysDash"/>
            </a:ln>
          </p:spPr>
          <p:txBody>
            <a:bodyPr wrap="square" rtlCol="0">
              <a:spAutoFit/>
            </a:bodyPr>
            <a:lstStyle/>
            <a:p>
              <a:endParaRPr lang="en-US" dirty="0" smtClean="0"/>
            </a:p>
          </p:txBody>
        </p:sp>
        <p:cxnSp>
          <p:nvCxnSpPr>
            <p:cNvPr id="21" name="Straight Arrow Connector 20"/>
            <p:cNvCxnSpPr/>
            <p:nvPr/>
          </p:nvCxnSpPr>
          <p:spPr>
            <a:xfrm>
              <a:off x="1829849" y="2079264"/>
              <a:ext cx="2407713" cy="612459"/>
            </a:xfrm>
            <a:prstGeom prst="straightConnector1">
              <a:avLst/>
            </a:prstGeom>
            <a:ln w="19050" cmpd="sng">
              <a:solidFill>
                <a:schemeClr val="accent5">
                  <a:lumMod val="7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flipH="1">
              <a:off x="4829705" y="2079264"/>
              <a:ext cx="425877" cy="688672"/>
            </a:xfrm>
            <a:prstGeom prst="straightConnector1">
              <a:avLst/>
            </a:prstGeom>
            <a:ln w="19050" cmpd="sng">
              <a:solidFill>
                <a:schemeClr val="accent2">
                  <a:lumMod val="50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652284" y="2769606"/>
              <a:ext cx="73427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i="1" dirty="0" smtClean="0">
                  <a:latin typeface="Cmr"/>
                  <a:cs typeface="Cmr"/>
                </a:rPr>
                <a:t>Target 0:</a:t>
              </a:r>
              <a:endParaRPr lang="en-US" sz="1100" i="1" dirty="0">
                <a:latin typeface="Cmr"/>
                <a:cs typeface="Cmr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469868" y="2768283"/>
              <a:ext cx="73427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i="1" dirty="0" smtClean="0">
                  <a:latin typeface="Cmr"/>
                  <a:cs typeface="Cmr"/>
                </a:rPr>
                <a:t>Target 1:</a:t>
              </a:r>
              <a:endParaRPr lang="en-US" sz="1100" i="1" dirty="0">
                <a:latin typeface="Cmr"/>
                <a:cs typeface="Cmr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646869" y="1298098"/>
              <a:ext cx="92745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i="1" dirty="0" smtClean="0">
                  <a:latin typeface="Cmr"/>
                  <a:cs typeface="Cmr"/>
                </a:rPr>
                <a:t>Seed Index</a:t>
              </a:r>
              <a:endParaRPr lang="en-US" sz="1100" i="1" dirty="0">
                <a:latin typeface="Cmr"/>
                <a:cs typeface="Cmr"/>
              </a:endParaRPr>
            </a:p>
          </p:txBody>
        </p:sp>
      </p:grpSp>
      <p:sp>
        <p:nvSpPr>
          <p:cNvPr id="26" name="Rectangle 25"/>
          <p:cNvSpPr/>
          <p:nvPr/>
        </p:nvSpPr>
        <p:spPr>
          <a:xfrm>
            <a:off x="1955174" y="1985321"/>
            <a:ext cx="2248967" cy="24172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1921754" y="1965437"/>
            <a:ext cx="285948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>
                <a:latin typeface="Cmr"/>
                <a:cs typeface="Cmr"/>
              </a:rPr>
              <a:t>q</a:t>
            </a:r>
            <a:r>
              <a:rPr lang="en-US" sz="1100" i="1" dirty="0" smtClean="0">
                <a:latin typeface="Cmr"/>
                <a:cs typeface="Cmr"/>
              </a:rPr>
              <a:t>uery sequence</a:t>
            </a:r>
            <a:r>
              <a:rPr lang="en-US" sz="1100" dirty="0">
                <a:latin typeface="Cmr"/>
                <a:cs typeface="Cmr"/>
              </a:rPr>
              <a:t> </a:t>
            </a:r>
            <a:r>
              <a:rPr lang="en-US" sz="1100" dirty="0" smtClean="0">
                <a:latin typeface="Cmr"/>
                <a:cs typeface="Cmr"/>
              </a:rPr>
              <a:t>:</a:t>
            </a:r>
            <a:r>
              <a:rPr lang="en-US" sz="1100" i="1" dirty="0" smtClean="0">
                <a:latin typeface="Cmr"/>
                <a:cs typeface="Cmr"/>
              </a:rPr>
              <a:t>        </a:t>
            </a:r>
            <a:r>
              <a:rPr lang="en-US" sz="1100" dirty="0" smtClean="0">
                <a:latin typeface="Cmr"/>
                <a:cs typeface="Cmr"/>
              </a:rPr>
              <a:t> G  </a:t>
            </a:r>
            <a:r>
              <a:rPr lang="en-US" sz="1100" b="1" dirty="0" smtClean="0">
                <a:latin typeface="Cmr"/>
                <a:cs typeface="Cmr"/>
              </a:rPr>
              <a:t>C  T  G</a:t>
            </a:r>
            <a:r>
              <a:rPr lang="en-US" sz="1100" b="1" i="1" dirty="0" smtClean="0">
                <a:latin typeface="Cmr"/>
                <a:cs typeface="Cmr"/>
              </a:rPr>
              <a:t> </a:t>
            </a:r>
            <a:r>
              <a:rPr lang="en-US" sz="1100" b="1" dirty="0" smtClean="0">
                <a:latin typeface="Cmr"/>
                <a:cs typeface="Cmr"/>
              </a:rPr>
              <a:t> </a:t>
            </a:r>
            <a:endParaRPr lang="en-US" sz="1100" b="1" i="1" dirty="0">
              <a:latin typeface="Cmr"/>
              <a:cs typeface="Cmr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573732" y="1941342"/>
            <a:ext cx="543100" cy="267806"/>
          </a:xfrm>
          <a:prstGeom prst="rect">
            <a:avLst/>
          </a:prstGeom>
          <a:noFill/>
          <a:ln w="19050" cmpd="sng">
            <a:solidFill>
              <a:schemeClr val="tx1"/>
            </a:solidFill>
            <a:prstDash val="sysDash"/>
          </a:ln>
        </p:spPr>
        <p:txBody>
          <a:bodyPr wrap="square" rtlCol="0">
            <a:spAutoFit/>
          </a:bodyPr>
          <a:lstStyle/>
          <a:p>
            <a:endParaRPr lang="en-US" dirty="0" smtClean="0"/>
          </a:p>
        </p:txBody>
      </p:sp>
      <p:sp>
        <p:nvSpPr>
          <p:cNvPr id="30" name="TextBox 29"/>
          <p:cNvSpPr txBox="1"/>
          <p:nvPr/>
        </p:nvSpPr>
        <p:spPr>
          <a:xfrm>
            <a:off x="3379316" y="1558254"/>
            <a:ext cx="14019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>
                <a:latin typeface="Cmr"/>
                <a:cs typeface="Cmr"/>
              </a:rPr>
              <a:t>q</a:t>
            </a:r>
            <a:r>
              <a:rPr lang="en-US" sz="1100" i="1" dirty="0" smtClean="0">
                <a:latin typeface="Cmr"/>
                <a:cs typeface="Cmr"/>
              </a:rPr>
              <a:t>uery’s seed</a:t>
            </a:r>
            <a:endParaRPr lang="en-US" sz="1100" i="1" dirty="0">
              <a:latin typeface="Cmr"/>
              <a:cs typeface="Cmr"/>
            </a:endParaRPr>
          </a:p>
        </p:txBody>
      </p:sp>
      <p:grpSp>
        <p:nvGrpSpPr>
          <p:cNvPr id="31" name="Group 124"/>
          <p:cNvGrpSpPr/>
          <p:nvPr/>
        </p:nvGrpSpPr>
        <p:grpSpPr>
          <a:xfrm>
            <a:off x="0" y="-16486"/>
            <a:ext cx="9144000" cy="1311292"/>
            <a:chOff x="0" y="-23450"/>
            <a:chExt cx="13004800" cy="1864950"/>
          </a:xfrm>
        </p:grpSpPr>
        <p:pic>
          <p:nvPicPr>
            <p:cNvPr id="32" name="Picture 3"/>
            <p:cNvPicPr>
              <a:picLocks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0"/>
              <a:ext cx="13004800" cy="1841500"/>
            </a:xfrm>
            <a:prstGeom prst="rect">
              <a:avLst/>
            </a:prstGeom>
            <a:noFill/>
            <a:ln w="9525" cap="flat">
              <a:noFill/>
              <a:miter lim="800000"/>
              <a:headEnd/>
              <a:tailEnd/>
            </a:ln>
          </p:spPr>
        </p:pic>
        <p:sp>
          <p:nvSpPr>
            <p:cNvPr id="33" name="Rectangle 5"/>
            <p:cNvSpPr txBox="1">
              <a:spLocks noChangeArrowheads="1"/>
            </p:cNvSpPr>
            <p:nvPr/>
          </p:nvSpPr>
          <p:spPr bwMode="auto">
            <a:xfrm>
              <a:off x="200216" y="-23450"/>
              <a:ext cx="12031663" cy="140969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vert="horz" wrap="square" lIns="50777" tIns="50777" rIns="166318" bIns="50777" numCol="1" anchor="ctr" anchorCtr="0" compatLnSpc="1">
              <a:prstTxWarp prst="textNoShape">
                <a:avLst/>
              </a:prstTxWarp>
            </a:bodyPr>
            <a:lstStyle/>
            <a:p>
              <a:r>
                <a:rPr lang="en-US" sz="3200" dirty="0">
                  <a:solidFill>
                    <a:srgbClr val="FFFF00"/>
                  </a:solidFill>
                </a:rPr>
                <a:t>Lookup seed index</a:t>
              </a:r>
              <a:endParaRPr lang="en-US" sz="3200" i="1" dirty="0">
                <a:solidFill>
                  <a:srgbClr val="FFFF00"/>
                </a:solidFill>
              </a:endParaRPr>
            </a:p>
          </p:txBody>
        </p:sp>
      </p:grpSp>
      <p:cxnSp>
        <p:nvCxnSpPr>
          <p:cNvPr id="34" name="Curved Connector 33"/>
          <p:cNvCxnSpPr/>
          <p:nvPr/>
        </p:nvCxnSpPr>
        <p:spPr>
          <a:xfrm rot="16200000" flipH="1">
            <a:off x="3257274" y="2860516"/>
            <a:ext cx="1312365" cy="45425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urved Connector 34"/>
          <p:cNvCxnSpPr/>
          <p:nvPr/>
        </p:nvCxnSpPr>
        <p:spPr>
          <a:xfrm rot="10800000" flipV="1">
            <a:off x="2706063" y="4090275"/>
            <a:ext cx="1230107" cy="1002901"/>
          </a:xfrm>
          <a:prstGeom prst="curvedConnector2">
            <a:avLst/>
          </a:prstGeom>
          <a:ln>
            <a:solidFill>
              <a:schemeClr val="tx1"/>
            </a:solidFill>
            <a:prstDash val="sys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070727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265151" y="1299771"/>
            <a:ext cx="896587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200" dirty="0" smtClean="0">
                <a:solidFill>
                  <a:prstClr val="black"/>
                </a:solidFill>
                <a:latin typeface="Calibri"/>
              </a:rPr>
              <a:t>In de </a:t>
            </a:r>
            <a:r>
              <a:rPr lang="en-US" sz="2200" dirty="0">
                <a:solidFill>
                  <a:prstClr val="black"/>
                </a:solidFill>
                <a:latin typeface="Calibri"/>
              </a:rPr>
              <a:t>novo </a:t>
            </a:r>
            <a:r>
              <a:rPr lang="en-US" sz="2200" dirty="0" smtClean="0">
                <a:solidFill>
                  <a:prstClr val="black"/>
                </a:solidFill>
                <a:latin typeface="Calibri"/>
              </a:rPr>
              <a:t>assembly, </a:t>
            </a:r>
            <a:r>
              <a:rPr lang="en-US" sz="2200" dirty="0">
                <a:solidFill>
                  <a:prstClr val="black"/>
                </a:solidFill>
                <a:latin typeface="Calibri"/>
              </a:rPr>
              <a:t>b</a:t>
            </a:r>
            <a:r>
              <a:rPr lang="en-US" sz="2200" dirty="0" smtClean="0">
                <a:solidFill>
                  <a:prstClr val="black"/>
                </a:solidFill>
                <a:latin typeface="Calibri"/>
              </a:rPr>
              <a:t>illions </a:t>
            </a:r>
            <a:r>
              <a:rPr lang="en-US" sz="2200" dirty="0">
                <a:solidFill>
                  <a:prstClr val="black"/>
                </a:solidFill>
                <a:latin typeface="Calibri"/>
              </a:rPr>
              <a:t>of reads must be aligned to </a:t>
            </a:r>
            <a:r>
              <a:rPr lang="en-US" sz="2200" dirty="0" smtClean="0">
                <a:solidFill>
                  <a:prstClr val="black"/>
                </a:solidFill>
                <a:latin typeface="Calibri"/>
              </a:rPr>
              <a:t>contigs</a:t>
            </a:r>
          </a:p>
          <a:p>
            <a:pPr marL="342900" indent="-342900">
              <a:buFont typeface="Arial"/>
              <a:buChar char="•"/>
            </a:pPr>
            <a:r>
              <a:rPr lang="en-US" sz="2200" dirty="0" smtClean="0">
                <a:solidFill>
                  <a:prstClr val="black"/>
                </a:solidFill>
                <a:latin typeface="Calibri"/>
              </a:rPr>
              <a:t>First aligner to parallelize the seed index construction (“fully” parallel)</a:t>
            </a:r>
          </a:p>
          <a:p>
            <a:endParaRPr lang="en-US" sz="2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09529" y="6185883"/>
            <a:ext cx="801454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err="1" smtClean="0">
                <a:solidFill>
                  <a:prstClr val="black"/>
                </a:solidFill>
                <a:latin typeface="Calibri"/>
              </a:rPr>
              <a:t>Evangelos</a:t>
            </a:r>
            <a:r>
              <a:rPr lang="en-US" sz="1400" dirty="0" smtClean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1400" dirty="0" err="1" smtClean="0">
                <a:solidFill>
                  <a:prstClr val="black"/>
                </a:solidFill>
                <a:latin typeface="Calibri"/>
              </a:rPr>
              <a:t>Georganas</a:t>
            </a:r>
            <a:r>
              <a:rPr lang="en-US" sz="1400" dirty="0" smtClean="0">
                <a:solidFill>
                  <a:prstClr val="black"/>
                </a:solidFill>
                <a:latin typeface="Calibri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"/>
              </a:rPr>
              <a:t>Aydın</a:t>
            </a:r>
            <a:r>
              <a:rPr lang="en-US" sz="1400" dirty="0">
                <a:solidFill>
                  <a:prstClr val="black"/>
                </a:solidFill>
                <a:latin typeface="Calibri"/>
              </a:rPr>
              <a:t> </a:t>
            </a:r>
            <a:r>
              <a:rPr lang="tr-TR" sz="1400" dirty="0" err="1">
                <a:solidFill>
                  <a:prstClr val="black"/>
                </a:solidFill>
                <a:latin typeface="Calibri"/>
              </a:rPr>
              <a:t>Buluç</a:t>
            </a:r>
            <a:r>
              <a:rPr lang="en-US" sz="1400" dirty="0" smtClean="0">
                <a:solidFill>
                  <a:prstClr val="black"/>
                </a:solidFill>
                <a:latin typeface="Calibri"/>
              </a:rPr>
              <a:t>, Jarrod Chapman, Leonid </a:t>
            </a:r>
            <a:r>
              <a:rPr lang="en-US" sz="1400" dirty="0" err="1" smtClean="0">
                <a:solidFill>
                  <a:prstClr val="black"/>
                </a:solidFill>
                <a:latin typeface="Calibri"/>
              </a:rPr>
              <a:t>Oliker</a:t>
            </a:r>
            <a:r>
              <a:rPr lang="en-US" sz="1400" dirty="0" smtClean="0">
                <a:solidFill>
                  <a:prstClr val="black"/>
                </a:solidFill>
                <a:latin typeface="Calibri"/>
              </a:rPr>
              <a:t>, Daniel </a:t>
            </a:r>
            <a:r>
              <a:rPr lang="en-US" sz="1400" dirty="0" err="1" smtClean="0">
                <a:solidFill>
                  <a:prstClr val="black"/>
                </a:solidFill>
                <a:latin typeface="Calibri"/>
              </a:rPr>
              <a:t>Rokhsar</a:t>
            </a:r>
            <a:r>
              <a:rPr lang="en-US" sz="1400" dirty="0">
                <a:solidFill>
                  <a:prstClr val="black"/>
                </a:solidFill>
                <a:latin typeface="Calibri"/>
              </a:rPr>
              <a:t>, and Katherine </a:t>
            </a:r>
            <a:r>
              <a:rPr lang="en-US" sz="1400" dirty="0" err="1">
                <a:solidFill>
                  <a:prstClr val="black"/>
                </a:solidFill>
                <a:latin typeface="Calibri"/>
              </a:rPr>
              <a:t>Yelick</a:t>
            </a:r>
            <a:r>
              <a:rPr lang="en-US" sz="1400" dirty="0">
                <a:solidFill>
                  <a:prstClr val="black"/>
                </a:solidFill>
                <a:latin typeface="Calibri"/>
              </a:rPr>
              <a:t>. </a:t>
            </a:r>
            <a:r>
              <a:rPr lang="en-US" sz="1400" b="1" dirty="0" err="1">
                <a:solidFill>
                  <a:prstClr val="black"/>
                </a:solidFill>
                <a:latin typeface="Calibri"/>
              </a:rPr>
              <a:t>meraligner</a:t>
            </a:r>
            <a:r>
              <a:rPr lang="en-US" sz="1400" b="1" dirty="0">
                <a:solidFill>
                  <a:prstClr val="black"/>
                </a:solidFill>
                <a:latin typeface="Calibri"/>
              </a:rPr>
              <a:t>: A fully parallel sequence aligner</a:t>
            </a:r>
            <a:r>
              <a:rPr lang="en-US" sz="1400" dirty="0">
                <a:solidFill>
                  <a:prstClr val="black"/>
                </a:solidFill>
                <a:latin typeface="Calibri"/>
              </a:rPr>
              <a:t>. In Proceedings of the IPDPS, 2015.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3061" y="6152017"/>
            <a:ext cx="7868357" cy="628368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9" name="Picture 8" descr="strong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6174" y="2233395"/>
            <a:ext cx="4949369" cy="3656291"/>
          </a:xfrm>
          <a:prstGeom prst="rect">
            <a:avLst/>
          </a:prstGeom>
        </p:spPr>
      </p:pic>
      <p:pic>
        <p:nvPicPr>
          <p:cNvPr id="7" name="Picture 3"/>
          <p:cNvPicPr>
            <a:picLocks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2"/>
            <a:ext cx="9144000" cy="1294804"/>
          </a:xfrm>
          <a:prstGeom prst="rect">
            <a:avLst/>
          </a:prstGeom>
          <a:noFill/>
          <a:ln w="9525" cap="flat">
            <a:noFill/>
            <a:miter lim="800000"/>
            <a:headEnd/>
            <a:tailEnd/>
          </a:ln>
        </p:spPr>
      </p:pic>
      <p:sp>
        <p:nvSpPr>
          <p:cNvPr id="2" name="Rectangle 1"/>
          <p:cNvSpPr/>
          <p:nvPr/>
        </p:nvSpPr>
        <p:spPr>
          <a:xfrm>
            <a:off x="2252549" y="3463854"/>
            <a:ext cx="1846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0160" defTabSz="642552">
              <a:defRPr/>
            </a:pPr>
            <a:endParaRPr lang="en-US" kern="0" dirty="0">
              <a:solidFill>
                <a:prstClr val="black"/>
              </a:solidFill>
              <a:cs typeface="Calibri"/>
              <a:sym typeface="Arial Bold" charset="0"/>
            </a:endParaRPr>
          </a:p>
        </p:txBody>
      </p:sp>
      <p:sp>
        <p:nvSpPr>
          <p:cNvPr id="14" name="Rectangle 5"/>
          <p:cNvSpPr txBox="1">
            <a:spLocks noChangeArrowheads="1"/>
          </p:cNvSpPr>
          <p:nvPr/>
        </p:nvSpPr>
        <p:spPr bwMode="auto">
          <a:xfrm>
            <a:off x="140777" y="-16486"/>
            <a:ext cx="8459763" cy="99119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50777" tIns="50777" rIns="166318" bIns="50777" numCol="1" anchor="ctr" anchorCtr="0" compatLnSpc="1">
            <a:prstTxWarp prst="textNoShape">
              <a:avLst/>
            </a:prstTxWarp>
          </a:bodyPr>
          <a:lstStyle/>
          <a:p>
            <a:r>
              <a:rPr lang="en-US" sz="3200" dirty="0">
                <a:solidFill>
                  <a:srgbClr val="FFFF00"/>
                </a:solidFill>
              </a:rPr>
              <a:t>Parallel Genome Alignment for </a:t>
            </a:r>
            <a:endParaRPr lang="en-US" sz="3200" dirty="0" smtClean="0">
              <a:solidFill>
                <a:srgbClr val="FFFF00"/>
              </a:solidFill>
            </a:endParaRPr>
          </a:p>
          <a:p>
            <a:r>
              <a:rPr lang="en-US" sz="3200" dirty="0" smtClean="0">
                <a:solidFill>
                  <a:srgbClr val="FFFF00"/>
                </a:solidFill>
              </a:rPr>
              <a:t>De novo </a:t>
            </a:r>
            <a:r>
              <a:rPr lang="en-US" sz="3200" dirty="0">
                <a:solidFill>
                  <a:srgbClr val="FFFF00"/>
                </a:solidFill>
              </a:rPr>
              <a:t>Assembly </a:t>
            </a:r>
          </a:p>
        </p:txBody>
      </p:sp>
    </p:spTree>
    <p:extLst>
      <p:ext uri="{BB962C8B-B14F-4D97-AF65-F5344CB8AC3E}">
        <p14:creationId xmlns:p14="http://schemas.microsoft.com/office/powerpoint/2010/main" val="419812835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/>
          <p:cNvPicPr>
            <a:picLocks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"/>
            <a:ext cx="9144000" cy="1294804"/>
          </a:xfrm>
          <a:prstGeom prst="rect">
            <a:avLst/>
          </a:prstGeom>
          <a:noFill/>
          <a:ln w="9525" cap="flat">
            <a:noFill/>
            <a:miter lim="800000"/>
            <a:headEnd/>
            <a:tailEnd/>
          </a:ln>
        </p:spPr>
      </p:pic>
      <p:sp>
        <p:nvSpPr>
          <p:cNvPr id="14" name="Rectangle 5"/>
          <p:cNvSpPr txBox="1">
            <a:spLocks noChangeArrowheads="1"/>
          </p:cNvSpPr>
          <p:nvPr/>
        </p:nvSpPr>
        <p:spPr bwMode="auto">
          <a:xfrm>
            <a:off x="140777" y="-16486"/>
            <a:ext cx="8459763" cy="99119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50777" tIns="50777" rIns="166318" bIns="50777" numCol="1" anchor="ctr" anchorCtr="0" compatLnSpc="1">
            <a:prstTxWarp prst="textNoShape">
              <a:avLst/>
            </a:prstTxWarp>
          </a:bodyPr>
          <a:lstStyle/>
          <a:p>
            <a:r>
              <a:rPr lang="en-US" sz="3200" smtClean="0">
                <a:solidFill>
                  <a:srgbClr val="FFFF00"/>
                </a:solidFill>
                <a:latin typeface="Calibri"/>
              </a:rPr>
              <a:t>Scaffolding beyond alignment </a:t>
            </a:r>
            <a:endParaRPr lang="en-US" sz="3200" dirty="0">
              <a:solidFill>
                <a:srgbClr val="FFFF00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2027265"/>
            <a:ext cx="85186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defRPr/>
            </a:pPr>
            <a:endParaRPr lang="en-US" kern="0" dirty="0" smtClean="0">
              <a:solidFill>
                <a:sysClr val="windowText" lastClr="000000"/>
              </a:solidFill>
              <a:latin typeface="Calibri"/>
            </a:endParaRPr>
          </a:p>
          <a:p>
            <a:pPr marL="285750" indent="-285750" defTabSz="914400">
              <a:buFont typeface="Arial"/>
              <a:buChar char="•"/>
              <a:defRPr/>
            </a:pPr>
            <a:endParaRPr lang="en-US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74648" y="1188540"/>
            <a:ext cx="8698423" cy="16250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defTabSz="914400">
              <a:lnSpc>
                <a:spcPct val="120000"/>
              </a:lnSpc>
              <a:buFont typeface="Arial"/>
              <a:buChar char="•"/>
              <a:defRPr/>
            </a:pPr>
            <a:r>
              <a:rPr lang="en-US" sz="2400" b="1" kern="0" dirty="0" smtClean="0">
                <a:solidFill>
                  <a:sysClr val="windowText" lastClr="000000"/>
                </a:solidFill>
                <a:latin typeface="Arial"/>
                <a:cs typeface="Arial"/>
              </a:rPr>
              <a:t>High-level idea: </a:t>
            </a:r>
            <a:r>
              <a:rPr lang="en-US" sz="2400" kern="0" dirty="0" smtClean="0">
                <a:solidFill>
                  <a:sysClr val="windowText" lastClr="000000"/>
                </a:solidFill>
                <a:latin typeface="Arial"/>
                <a:cs typeface="Arial"/>
              </a:rPr>
              <a:t>Leverage read-to-</a:t>
            </a:r>
            <a:r>
              <a:rPr lang="en-US" sz="2400" kern="0" dirty="0" err="1" smtClean="0">
                <a:solidFill>
                  <a:sysClr val="windowText" lastClr="000000"/>
                </a:solidFill>
                <a:latin typeface="Arial"/>
                <a:cs typeface="Arial"/>
              </a:rPr>
              <a:t>contig</a:t>
            </a:r>
            <a:r>
              <a:rPr lang="en-US" sz="2400" kern="0" dirty="0" smtClean="0">
                <a:solidFill>
                  <a:sysClr val="windowText" lastClr="000000"/>
                </a:solidFill>
                <a:latin typeface="Arial"/>
                <a:cs typeface="Arial"/>
              </a:rPr>
              <a:t> information to generate </a:t>
            </a:r>
            <a:r>
              <a:rPr lang="en-US" sz="2400" i="1" kern="0" dirty="0" smtClean="0">
                <a:solidFill>
                  <a:sysClr val="windowText" lastClr="000000"/>
                </a:solidFill>
                <a:latin typeface="Arial"/>
                <a:cs typeface="Arial"/>
              </a:rPr>
              <a:t>links </a:t>
            </a:r>
            <a:r>
              <a:rPr lang="en-US" sz="2400" kern="0" dirty="0" smtClean="0">
                <a:solidFill>
                  <a:sysClr val="windowText" lastClr="000000"/>
                </a:solidFill>
                <a:latin typeface="Arial"/>
                <a:cs typeface="Arial"/>
              </a:rPr>
              <a:t>among </a:t>
            </a:r>
            <a:r>
              <a:rPr lang="en-US" sz="2400" kern="0" dirty="0" err="1" smtClean="0">
                <a:solidFill>
                  <a:sysClr val="windowText" lastClr="000000"/>
                </a:solidFill>
                <a:latin typeface="Arial"/>
                <a:cs typeface="Arial"/>
              </a:rPr>
              <a:t>contigs</a:t>
            </a:r>
            <a:r>
              <a:rPr lang="en-US" sz="2400" kern="0" dirty="0" smtClean="0">
                <a:solidFill>
                  <a:sysClr val="windowText" lastClr="000000"/>
                </a:solidFill>
                <a:latin typeface="Arial"/>
                <a:cs typeface="Arial"/>
              </a:rPr>
              <a:t>.</a:t>
            </a:r>
            <a:endParaRPr lang="en-US" sz="2400" b="1" kern="0" dirty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800100" lvl="1" indent="-342900" defTabSz="914400">
              <a:buFont typeface="Arial"/>
              <a:buChar char="•"/>
              <a:defRPr/>
            </a:pPr>
            <a:r>
              <a:rPr lang="en-US" sz="2200" kern="0" dirty="0" smtClean="0">
                <a:solidFill>
                  <a:sysClr val="windowText" lastClr="000000"/>
                </a:solidFill>
                <a:latin typeface="Arial"/>
                <a:cs typeface="Arial"/>
              </a:rPr>
              <a:t>Distributed hash tables to index the link information.</a:t>
            </a:r>
          </a:p>
          <a:p>
            <a:pPr defTabSz="914400">
              <a:defRPr/>
            </a:pPr>
            <a:endParaRPr lang="en-US" kern="0" dirty="0" smtClean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08514" y="4428621"/>
            <a:ext cx="86984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defTabSz="914400">
              <a:buFont typeface="Arial"/>
              <a:buChar char="•"/>
              <a:defRPr/>
            </a:pPr>
            <a:r>
              <a:rPr lang="en-US" sz="2400" kern="0" dirty="0" smtClean="0">
                <a:solidFill>
                  <a:sysClr val="windowText" lastClr="000000"/>
                </a:solidFill>
                <a:latin typeface="Calibri"/>
              </a:rPr>
              <a:t>Form a </a:t>
            </a:r>
            <a:r>
              <a:rPr lang="en-US" sz="2400" kern="0" dirty="0" err="1" smtClean="0">
                <a:solidFill>
                  <a:sysClr val="windowText" lastClr="000000"/>
                </a:solidFill>
                <a:latin typeface="Calibri"/>
              </a:rPr>
              <a:t>contig</a:t>
            </a:r>
            <a:r>
              <a:rPr lang="en-US" sz="2400" kern="0" dirty="0" smtClean="0">
                <a:solidFill>
                  <a:sysClr val="windowText" lastClr="000000"/>
                </a:solidFill>
                <a:latin typeface="Calibri"/>
              </a:rPr>
              <a:t> graph by using the links and traverse it to form scaffolds.</a:t>
            </a:r>
          </a:p>
        </p:txBody>
      </p:sp>
      <p:pic>
        <p:nvPicPr>
          <p:cNvPr id="17" name="Picture 16" descr="40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0419" y="2661203"/>
            <a:ext cx="7044901" cy="1555195"/>
          </a:xfrm>
          <a:prstGeom prst="rect">
            <a:avLst/>
          </a:prstGeom>
        </p:spPr>
      </p:pic>
      <p:pic>
        <p:nvPicPr>
          <p:cNvPr id="18" name="Picture 17" descr="42.pd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7857" y="5259617"/>
            <a:ext cx="5920976" cy="1412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08084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/>
          <p:cNvPicPr>
            <a:picLocks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"/>
            <a:ext cx="9144000" cy="1294804"/>
          </a:xfrm>
          <a:prstGeom prst="rect">
            <a:avLst/>
          </a:prstGeom>
          <a:noFill/>
          <a:ln w="9525" cap="flat">
            <a:noFill/>
            <a:miter lim="800000"/>
            <a:headEnd/>
            <a:tailEnd/>
          </a:ln>
        </p:spPr>
      </p:pic>
      <p:sp>
        <p:nvSpPr>
          <p:cNvPr id="14" name="Rectangle 5"/>
          <p:cNvSpPr txBox="1">
            <a:spLocks noChangeArrowheads="1"/>
          </p:cNvSpPr>
          <p:nvPr/>
        </p:nvSpPr>
        <p:spPr bwMode="auto">
          <a:xfrm>
            <a:off x="140777" y="-16486"/>
            <a:ext cx="8459763" cy="99119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50777" tIns="50777" rIns="166318" bIns="50777" numCol="1" anchor="ctr" anchorCtr="0" compatLnSpc="1">
            <a:prstTxWarp prst="textNoShape">
              <a:avLst/>
            </a:prstTxWarp>
          </a:bodyPr>
          <a:lstStyle/>
          <a:p>
            <a:r>
              <a:rPr lang="en-US" sz="3200" smtClean="0">
                <a:solidFill>
                  <a:srgbClr val="FFFF00"/>
                </a:solidFill>
                <a:latin typeface="Calibri"/>
              </a:rPr>
              <a:t>Scaffolding beyond alignment </a:t>
            </a:r>
            <a:endParaRPr lang="en-US" sz="3200" dirty="0">
              <a:solidFill>
                <a:srgbClr val="FFFF00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1576" y="1413337"/>
            <a:ext cx="8698423" cy="5379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 typeface="Arial"/>
              <a:buChar char="•"/>
            </a:pPr>
            <a:r>
              <a:rPr lang="en-US" sz="2200" dirty="0" smtClean="0">
                <a:solidFill>
                  <a:prstClr val="black"/>
                </a:solidFill>
                <a:latin typeface="Calibri"/>
              </a:rPr>
              <a:t>Computing </a:t>
            </a:r>
            <a:r>
              <a:rPr lang="en-US" sz="2200" dirty="0" err="1" smtClean="0">
                <a:solidFill>
                  <a:prstClr val="black"/>
                </a:solidFill>
                <a:latin typeface="Calibri"/>
              </a:rPr>
              <a:t>contig</a:t>
            </a:r>
            <a:r>
              <a:rPr lang="en-US" sz="2200" dirty="0" smtClean="0">
                <a:solidFill>
                  <a:prstClr val="black"/>
                </a:solidFill>
                <a:latin typeface="Calibri"/>
              </a:rPr>
              <a:t> depths and termination states</a:t>
            </a:r>
          </a:p>
          <a:p>
            <a:pPr marL="285750" indent="-285750">
              <a:lnSpc>
                <a:spcPct val="120000"/>
              </a:lnSpc>
              <a:buFont typeface="Arial"/>
              <a:buChar char="•"/>
            </a:pPr>
            <a:r>
              <a:rPr lang="en-US" sz="2200" dirty="0" err="1" smtClean="0">
                <a:solidFill>
                  <a:prstClr val="black"/>
                </a:solidFill>
                <a:latin typeface="Calibri"/>
              </a:rPr>
              <a:t>Contig</a:t>
            </a:r>
            <a:r>
              <a:rPr lang="en-US" sz="2200" dirty="0" smtClean="0">
                <a:solidFill>
                  <a:prstClr val="black"/>
                </a:solidFill>
                <a:latin typeface="Calibri"/>
              </a:rPr>
              <a:t> bubble identification (</a:t>
            </a:r>
            <a:r>
              <a:rPr lang="en-US" sz="2200" i="1" dirty="0" smtClean="0">
                <a:solidFill>
                  <a:prstClr val="black"/>
                </a:solidFill>
                <a:latin typeface="Calibri"/>
              </a:rPr>
              <a:t>for diploid genomes</a:t>
            </a:r>
            <a:r>
              <a:rPr lang="en-US" sz="2200" dirty="0" smtClean="0">
                <a:solidFill>
                  <a:prstClr val="black"/>
                </a:solidFill>
                <a:latin typeface="Calibri"/>
              </a:rPr>
              <a:t>)</a:t>
            </a:r>
          </a:p>
          <a:p>
            <a:pPr marL="285750" indent="-285750">
              <a:lnSpc>
                <a:spcPct val="120000"/>
              </a:lnSpc>
              <a:buFont typeface="Arial"/>
              <a:buChar char="•"/>
            </a:pPr>
            <a:r>
              <a:rPr lang="en-US" sz="2200" dirty="0">
                <a:solidFill>
                  <a:prstClr val="black"/>
                </a:solidFill>
                <a:latin typeface="Calibri"/>
              </a:rPr>
              <a:t>Ordering and orientation of contigs (</a:t>
            </a:r>
            <a:r>
              <a:rPr lang="en-US" sz="2200" i="1" dirty="0">
                <a:solidFill>
                  <a:prstClr val="black"/>
                </a:solidFill>
                <a:latin typeface="Calibri"/>
              </a:rPr>
              <a:t>inherently serial as implemented</a:t>
            </a:r>
            <a:r>
              <a:rPr lang="en-US" sz="2200" dirty="0" smtClean="0">
                <a:solidFill>
                  <a:prstClr val="black"/>
                </a:solidFill>
                <a:latin typeface="Calibri"/>
              </a:rPr>
              <a:t>)</a:t>
            </a:r>
          </a:p>
          <a:p>
            <a:pPr marL="285750" indent="-285750">
              <a:lnSpc>
                <a:spcPct val="120000"/>
              </a:lnSpc>
              <a:buFont typeface="Arial"/>
              <a:buChar char="•"/>
            </a:pPr>
            <a:r>
              <a:rPr lang="en-US" sz="2200" dirty="0" smtClean="0">
                <a:solidFill>
                  <a:prstClr val="black"/>
                </a:solidFill>
                <a:latin typeface="Calibri"/>
              </a:rPr>
              <a:t>Insert size estimation</a:t>
            </a:r>
          </a:p>
          <a:p>
            <a:pPr marL="285750" indent="-285750">
              <a:lnSpc>
                <a:spcPct val="120000"/>
              </a:lnSpc>
              <a:buFont typeface="Arial"/>
              <a:buChar char="•"/>
            </a:pPr>
            <a:r>
              <a:rPr lang="en-US" sz="2200" dirty="0">
                <a:solidFill>
                  <a:prstClr val="black"/>
                </a:solidFill>
                <a:latin typeface="Calibri"/>
              </a:rPr>
              <a:t>Locating </a:t>
            </a:r>
            <a:r>
              <a:rPr lang="en-US" sz="2200" b="1" i="1" dirty="0" smtClean="0">
                <a:solidFill>
                  <a:prstClr val="black"/>
                </a:solidFill>
                <a:latin typeface="Calibri"/>
              </a:rPr>
              <a:t>splints</a:t>
            </a:r>
            <a:r>
              <a:rPr lang="en-US" sz="2200" dirty="0" smtClean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200" dirty="0">
                <a:solidFill>
                  <a:prstClr val="black"/>
                </a:solidFill>
                <a:latin typeface="Calibri"/>
              </a:rPr>
              <a:t>and </a:t>
            </a:r>
            <a:r>
              <a:rPr lang="en-US" sz="2200" b="1" i="1" dirty="0" smtClean="0">
                <a:solidFill>
                  <a:prstClr val="black"/>
                </a:solidFill>
                <a:latin typeface="Calibri"/>
              </a:rPr>
              <a:t>spans </a:t>
            </a:r>
          </a:p>
          <a:p>
            <a:pPr marL="285750" indent="-285750">
              <a:lnSpc>
                <a:spcPct val="120000"/>
              </a:lnSpc>
              <a:buFont typeface="Arial"/>
              <a:buChar char="•"/>
            </a:pPr>
            <a:r>
              <a:rPr lang="en-US" sz="2200" dirty="0" err="1">
                <a:solidFill>
                  <a:prstClr val="black"/>
                </a:solidFill>
                <a:latin typeface="Calibri"/>
              </a:rPr>
              <a:t>Contig</a:t>
            </a:r>
            <a:r>
              <a:rPr lang="en-US" sz="22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2200" dirty="0" smtClean="0">
                <a:solidFill>
                  <a:prstClr val="black"/>
                </a:solidFill>
                <a:latin typeface="Calibri"/>
              </a:rPr>
              <a:t>link generation </a:t>
            </a:r>
          </a:p>
          <a:p>
            <a:pPr marL="285750" indent="-285750">
              <a:lnSpc>
                <a:spcPct val="120000"/>
              </a:lnSpc>
              <a:buFont typeface="Arial"/>
              <a:buChar char="•"/>
            </a:pPr>
            <a:r>
              <a:rPr lang="en-US" sz="2200" dirty="0">
                <a:solidFill>
                  <a:srgbClr val="FF0000"/>
                </a:solidFill>
                <a:latin typeface="Calibri"/>
              </a:rPr>
              <a:t>Gap closing </a:t>
            </a:r>
            <a:endParaRPr lang="en-US" sz="2200" dirty="0" smtClean="0">
              <a:solidFill>
                <a:srgbClr val="FF0000"/>
              </a:solidFill>
              <a:latin typeface="Calibri"/>
            </a:endParaRPr>
          </a:p>
          <a:p>
            <a:pPr>
              <a:lnSpc>
                <a:spcPct val="120000"/>
              </a:lnSpc>
            </a:pPr>
            <a:r>
              <a:rPr lang="en-US" sz="2200" dirty="0" smtClean="0">
                <a:solidFill>
                  <a:srgbClr val="FF0000"/>
                </a:solidFill>
                <a:latin typeface="Calibri"/>
              </a:rPr>
              <a:t>Conceptually: Mini/local assembly </a:t>
            </a:r>
          </a:p>
          <a:p>
            <a:pPr>
              <a:lnSpc>
                <a:spcPct val="120000"/>
              </a:lnSpc>
            </a:pPr>
            <a:r>
              <a:rPr lang="en-US" sz="2200" dirty="0" smtClean="0">
                <a:solidFill>
                  <a:srgbClr val="FF0000"/>
                </a:solidFill>
                <a:latin typeface="Calibri"/>
              </a:rPr>
              <a:t>– embarrassingly parallelizable -</a:t>
            </a:r>
          </a:p>
          <a:p>
            <a:endParaRPr lang="en-US" sz="2200" dirty="0" smtClean="0">
              <a:solidFill>
                <a:prstClr val="black"/>
              </a:solidFill>
              <a:latin typeface="Calibri"/>
            </a:endParaRPr>
          </a:p>
          <a:p>
            <a:r>
              <a:rPr lang="en-US" sz="2200" b="1" dirty="0" smtClean="0">
                <a:solidFill>
                  <a:prstClr val="black"/>
                </a:solidFill>
                <a:latin typeface="Calibri"/>
              </a:rPr>
              <a:t>Tools employed:</a:t>
            </a:r>
          </a:p>
          <a:p>
            <a:pPr marL="342900" indent="-342900">
              <a:buFontTx/>
              <a:buChar char="-"/>
            </a:pPr>
            <a:r>
              <a:rPr lang="en-US" sz="2200" b="1" dirty="0" smtClean="0">
                <a:solidFill>
                  <a:prstClr val="black"/>
                </a:solidFill>
                <a:latin typeface="Calibri"/>
              </a:rPr>
              <a:t>Distributed hash tables</a:t>
            </a:r>
          </a:p>
          <a:p>
            <a:pPr marL="342900" indent="-342900">
              <a:buFontTx/>
              <a:buChar char="-"/>
            </a:pPr>
            <a:r>
              <a:rPr lang="en-US" sz="2200" b="1" dirty="0" smtClean="0">
                <a:solidFill>
                  <a:prstClr val="black"/>
                </a:solidFill>
                <a:latin typeface="Calibri"/>
              </a:rPr>
              <a:t>Speculative execution</a:t>
            </a:r>
            <a:endParaRPr lang="en-US" sz="2200" b="1" i="1" dirty="0">
              <a:solidFill>
                <a:prstClr val="black"/>
              </a:solidFill>
              <a:latin typeface="Calibri"/>
            </a:endParaRPr>
          </a:p>
          <a:p>
            <a:endParaRPr lang="en-US" dirty="0" smtClean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4" name="Picture 3" descr="spsp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3743" y="2743202"/>
            <a:ext cx="5246392" cy="1446578"/>
          </a:xfrm>
          <a:prstGeom prst="rect">
            <a:avLst/>
          </a:prstGeom>
        </p:spPr>
      </p:pic>
      <p:pic>
        <p:nvPicPr>
          <p:cNvPr id="8" name="Picture 7" descr="90.pd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2719" y="4302319"/>
            <a:ext cx="4855826" cy="2386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54311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124"/>
          <p:cNvGrpSpPr/>
          <p:nvPr/>
        </p:nvGrpSpPr>
        <p:grpSpPr>
          <a:xfrm>
            <a:off x="0" y="-16486"/>
            <a:ext cx="9144000" cy="1311292"/>
            <a:chOff x="0" y="-23450"/>
            <a:chExt cx="13004800" cy="1864950"/>
          </a:xfrm>
        </p:grpSpPr>
        <p:pic>
          <p:nvPicPr>
            <p:cNvPr id="8" name="Picture 3"/>
            <p:cNvPicPr>
              <a:picLocks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0"/>
              <a:ext cx="13004800" cy="1841500"/>
            </a:xfrm>
            <a:prstGeom prst="rect">
              <a:avLst/>
            </a:prstGeom>
            <a:noFill/>
            <a:ln w="9525" cap="flat">
              <a:noFill/>
              <a:miter lim="800000"/>
              <a:headEnd/>
              <a:tailEnd/>
            </a:ln>
          </p:spPr>
        </p:pic>
        <p:sp>
          <p:nvSpPr>
            <p:cNvPr id="9" name="Rectangle 5"/>
            <p:cNvSpPr txBox="1">
              <a:spLocks noChangeArrowheads="1"/>
            </p:cNvSpPr>
            <p:nvPr/>
          </p:nvSpPr>
          <p:spPr bwMode="auto">
            <a:xfrm>
              <a:off x="200216" y="-23450"/>
              <a:ext cx="12031663" cy="140969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vert="horz" wrap="square" lIns="50777" tIns="50777" rIns="166318" bIns="50777" numCol="1" anchor="ctr" anchorCtr="0" compatLnSpc="1">
              <a:prstTxWarp prst="textNoShape">
                <a:avLst/>
              </a:prstTxWarp>
            </a:bodyPr>
            <a:lstStyle/>
            <a:p>
              <a:r>
                <a:rPr lang="en-US" sz="3200" dirty="0">
                  <a:solidFill>
                    <a:srgbClr val="FFFF00"/>
                  </a:solidFill>
                  <a:latin typeface="Calibri"/>
                </a:rPr>
                <a:t>Strong scaling (wheat genome) </a:t>
              </a:r>
              <a:endParaRPr lang="en-US" sz="3200" dirty="0" smtClean="0">
                <a:solidFill>
                  <a:srgbClr val="FFFF00"/>
                </a:solidFill>
                <a:latin typeface="Calibri"/>
              </a:endParaRPr>
            </a:p>
            <a:p>
              <a:r>
                <a:rPr lang="en-US" sz="3200" dirty="0" smtClean="0">
                  <a:solidFill>
                    <a:srgbClr val="FFFF00"/>
                  </a:solidFill>
                  <a:latin typeface="Calibri"/>
                </a:rPr>
                <a:t>on </a:t>
              </a:r>
              <a:r>
                <a:rPr lang="en-US" sz="3200" dirty="0">
                  <a:solidFill>
                    <a:srgbClr val="FFFF00"/>
                  </a:solidFill>
                  <a:latin typeface="Calibri"/>
                </a:rPr>
                <a:t>Cray XC30</a:t>
              </a:r>
            </a:p>
          </p:txBody>
        </p:sp>
      </p:grpSp>
      <p:pic>
        <p:nvPicPr>
          <p:cNvPr id="11" name="Picture 10" descr="strongWheat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0933" y="1225318"/>
            <a:ext cx="6045200" cy="421202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40777" y="5545757"/>
            <a:ext cx="8850823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400" dirty="0" smtClean="0">
                <a:solidFill>
                  <a:prstClr val="black"/>
                </a:solidFill>
                <a:latin typeface="Calibri"/>
                <a:cs typeface="Calibri"/>
              </a:rPr>
              <a:t>Complete assembly of wheat genome in </a:t>
            </a:r>
            <a:r>
              <a:rPr lang="en-US" sz="2400" b="1" dirty="0" smtClean="0">
                <a:solidFill>
                  <a:prstClr val="black"/>
                </a:solidFill>
                <a:latin typeface="Calibri"/>
                <a:cs typeface="Calibri"/>
              </a:rPr>
              <a:t>39 minutes </a:t>
            </a:r>
            <a:r>
              <a:rPr lang="en-US" sz="2400" b="1" dirty="0">
                <a:solidFill>
                  <a:prstClr val="black"/>
                </a:solidFill>
                <a:latin typeface="Calibri"/>
                <a:cs typeface="Calibri"/>
              </a:rPr>
              <a:t>(</a:t>
            </a:r>
            <a:r>
              <a:rPr lang="en-US" sz="2400" b="1" dirty="0" smtClean="0">
                <a:solidFill>
                  <a:prstClr val="black"/>
                </a:solidFill>
                <a:latin typeface="Calibri"/>
                <a:cs typeface="Calibri"/>
              </a:rPr>
              <a:t>15K cores).</a:t>
            </a:r>
          </a:p>
          <a:p>
            <a:pPr marL="342900" indent="-342900">
              <a:buFont typeface="Arial"/>
              <a:buChar char="•"/>
            </a:pPr>
            <a:r>
              <a:rPr lang="en-US" sz="2400" dirty="0" smtClean="0">
                <a:solidFill>
                  <a:prstClr val="black"/>
                </a:solidFill>
                <a:latin typeface="Calibri"/>
                <a:cs typeface="Calibri"/>
              </a:rPr>
              <a:t>Original </a:t>
            </a:r>
            <a:r>
              <a:rPr lang="en-US" sz="2400" dirty="0" err="1" smtClean="0">
                <a:solidFill>
                  <a:prstClr val="black"/>
                </a:solidFill>
                <a:latin typeface="Calibri"/>
                <a:cs typeface="Calibri"/>
              </a:rPr>
              <a:t>Meraculous</a:t>
            </a:r>
            <a:r>
              <a:rPr lang="en-US" sz="2400" dirty="0" smtClean="0">
                <a:solidFill>
                  <a:prstClr val="black"/>
                </a:solidFill>
                <a:latin typeface="Calibri"/>
                <a:cs typeface="Calibri"/>
              </a:rPr>
              <a:t> would require (projected time) </a:t>
            </a:r>
            <a:r>
              <a:rPr lang="en-US" sz="2400" b="1" dirty="0" smtClean="0">
                <a:solidFill>
                  <a:prstClr val="black"/>
                </a:solidFill>
                <a:latin typeface="Calibri"/>
                <a:cs typeface="Calibri"/>
              </a:rPr>
              <a:t>a week (~300x slower)</a:t>
            </a:r>
            <a:r>
              <a:rPr lang="en-US" sz="2400" b="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n-US" sz="2400" dirty="0" smtClean="0">
                <a:solidFill>
                  <a:prstClr val="black"/>
                </a:solidFill>
                <a:latin typeface="Calibri"/>
                <a:cs typeface="Calibri"/>
              </a:rPr>
              <a:t>and a shared memory machine with 1TB memory.</a:t>
            </a:r>
            <a:endParaRPr lang="en-US" sz="2400" dirty="0">
              <a:solidFill>
                <a:prstClr val="black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233154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124"/>
          <p:cNvGrpSpPr/>
          <p:nvPr/>
        </p:nvGrpSpPr>
        <p:grpSpPr>
          <a:xfrm>
            <a:off x="0" y="-16486"/>
            <a:ext cx="9144000" cy="1311292"/>
            <a:chOff x="0" y="-23450"/>
            <a:chExt cx="13004800" cy="1864950"/>
          </a:xfrm>
        </p:grpSpPr>
        <p:pic>
          <p:nvPicPr>
            <p:cNvPr id="8" name="Picture 3"/>
            <p:cNvPicPr>
              <a:picLocks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0"/>
              <a:ext cx="13004800" cy="1841500"/>
            </a:xfrm>
            <a:prstGeom prst="rect">
              <a:avLst/>
            </a:prstGeom>
            <a:noFill/>
            <a:ln w="9525" cap="flat">
              <a:noFill/>
              <a:miter lim="800000"/>
              <a:headEnd/>
              <a:tailEnd/>
            </a:ln>
          </p:spPr>
        </p:pic>
        <p:sp>
          <p:nvSpPr>
            <p:cNvPr id="9" name="Rectangle 5"/>
            <p:cNvSpPr txBox="1">
              <a:spLocks noChangeArrowheads="1"/>
            </p:cNvSpPr>
            <p:nvPr/>
          </p:nvSpPr>
          <p:spPr bwMode="auto">
            <a:xfrm>
              <a:off x="200216" y="-23450"/>
              <a:ext cx="12031663" cy="140969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vert="horz" wrap="square" lIns="50777" tIns="50777" rIns="166318" bIns="50777" numCol="1" anchor="ctr" anchorCtr="0" compatLnSpc="1">
              <a:prstTxWarp prst="textNoShape">
                <a:avLst/>
              </a:prstTxWarp>
            </a:bodyPr>
            <a:lstStyle/>
            <a:p>
              <a:r>
                <a:rPr lang="en-US" sz="3200" dirty="0">
                  <a:solidFill>
                    <a:srgbClr val="FFFF00"/>
                  </a:solidFill>
                  <a:latin typeface="Calibri"/>
                </a:rPr>
                <a:t>Strong scaling </a:t>
              </a:r>
              <a:r>
                <a:rPr lang="en-US" sz="3200" dirty="0" smtClean="0">
                  <a:solidFill>
                    <a:srgbClr val="FFFF00"/>
                  </a:solidFill>
                  <a:latin typeface="Calibri"/>
                </a:rPr>
                <a:t>(human genome</a:t>
              </a:r>
              <a:r>
                <a:rPr lang="en-US" sz="3200" dirty="0">
                  <a:solidFill>
                    <a:srgbClr val="FFFF00"/>
                  </a:solidFill>
                  <a:latin typeface="Calibri"/>
                </a:rPr>
                <a:t>) </a:t>
              </a:r>
              <a:endParaRPr lang="en-US" sz="3200" dirty="0" smtClean="0">
                <a:solidFill>
                  <a:srgbClr val="FFFF00"/>
                </a:solidFill>
                <a:latin typeface="Calibri"/>
              </a:endParaRPr>
            </a:p>
            <a:p>
              <a:r>
                <a:rPr lang="en-US" sz="3200" dirty="0" smtClean="0">
                  <a:solidFill>
                    <a:srgbClr val="FFFF00"/>
                  </a:solidFill>
                  <a:latin typeface="Calibri"/>
                </a:rPr>
                <a:t>on </a:t>
              </a:r>
              <a:r>
                <a:rPr lang="en-US" sz="3200" dirty="0">
                  <a:solidFill>
                    <a:srgbClr val="FFFF00"/>
                  </a:solidFill>
                  <a:latin typeface="Calibri"/>
                </a:rPr>
                <a:t>Cray </a:t>
              </a:r>
              <a:r>
                <a:rPr lang="en-US" sz="3200" dirty="0" smtClean="0">
                  <a:solidFill>
                    <a:srgbClr val="FFFF00"/>
                  </a:solidFill>
                  <a:latin typeface="Calibri"/>
                </a:rPr>
                <a:t>XC30 @SC’15</a:t>
              </a:r>
              <a:endParaRPr lang="en-US" sz="3200" dirty="0">
                <a:solidFill>
                  <a:srgbClr val="FFFF00"/>
                </a:solidFill>
                <a:latin typeface="Calibri"/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140777" y="5545757"/>
            <a:ext cx="8850823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Complete assembly of human genome in </a:t>
            </a:r>
            <a:r>
              <a:rPr lang="en-US" sz="2400" b="1" dirty="0">
                <a:solidFill>
                  <a:prstClr val="black"/>
                </a:solidFill>
                <a:latin typeface="Calibri"/>
              </a:rPr>
              <a:t>8.4 minutes </a:t>
            </a:r>
            <a:r>
              <a:rPr lang="en-US" sz="2400" b="1" dirty="0" smtClean="0">
                <a:solidFill>
                  <a:prstClr val="black"/>
                </a:solidFill>
                <a:latin typeface="Calibri"/>
              </a:rPr>
              <a:t>(15K cores).</a:t>
            </a:r>
            <a:endParaRPr lang="en-US" sz="2400" b="1" dirty="0">
              <a:solidFill>
                <a:prstClr val="black"/>
              </a:solidFill>
              <a:latin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US" sz="2400" b="1" dirty="0">
                <a:solidFill>
                  <a:prstClr val="black"/>
                </a:solidFill>
                <a:latin typeface="Calibri"/>
              </a:rPr>
              <a:t>350x speedup over 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original Meraculous (took </a:t>
            </a:r>
            <a:r>
              <a:rPr lang="en-US" sz="2400" b="1" dirty="0">
                <a:solidFill>
                  <a:prstClr val="black"/>
                </a:solidFill>
                <a:latin typeface="Calibri"/>
              </a:rPr>
              <a:t>2,880 minutes 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and a large shared memory machine).</a:t>
            </a:r>
          </a:p>
        </p:txBody>
      </p:sp>
      <p:pic>
        <p:nvPicPr>
          <p:cNvPr id="16" name="Picture 15" descr="human_total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5219" y="1294806"/>
            <a:ext cx="5905514" cy="425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58384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124"/>
          <p:cNvGrpSpPr/>
          <p:nvPr/>
        </p:nvGrpSpPr>
        <p:grpSpPr>
          <a:xfrm>
            <a:off x="0" y="-16486"/>
            <a:ext cx="9144000" cy="1311292"/>
            <a:chOff x="0" y="-23450"/>
            <a:chExt cx="13004800" cy="1864950"/>
          </a:xfrm>
        </p:grpSpPr>
        <p:pic>
          <p:nvPicPr>
            <p:cNvPr id="8" name="Picture 3"/>
            <p:cNvPicPr>
              <a:picLocks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0"/>
              <a:ext cx="13004800" cy="1841500"/>
            </a:xfrm>
            <a:prstGeom prst="rect">
              <a:avLst/>
            </a:prstGeom>
            <a:noFill/>
            <a:ln w="9525" cap="flat">
              <a:noFill/>
              <a:miter lim="800000"/>
              <a:headEnd/>
              <a:tailEnd/>
            </a:ln>
          </p:spPr>
        </p:pic>
        <p:sp>
          <p:nvSpPr>
            <p:cNvPr id="9" name="Rectangle 5"/>
            <p:cNvSpPr txBox="1">
              <a:spLocks noChangeArrowheads="1"/>
            </p:cNvSpPr>
            <p:nvPr/>
          </p:nvSpPr>
          <p:spPr bwMode="auto">
            <a:xfrm>
              <a:off x="200216" y="-23450"/>
              <a:ext cx="12031663" cy="140969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vert="horz" wrap="square" lIns="50777" tIns="50777" rIns="166318" bIns="50777" numCol="1" anchor="ctr" anchorCtr="0" compatLnSpc="1">
              <a:prstTxWarp prst="textNoShape">
                <a:avLst/>
              </a:prstTxWarp>
            </a:bodyPr>
            <a:lstStyle/>
            <a:p>
              <a:r>
                <a:rPr lang="en-US" sz="3200" dirty="0">
                  <a:solidFill>
                    <a:srgbClr val="FFFF00"/>
                  </a:solidFill>
                  <a:latin typeface="Calibri"/>
                </a:rPr>
                <a:t>Strong scaling </a:t>
              </a:r>
              <a:r>
                <a:rPr lang="en-US" sz="3200" dirty="0" smtClean="0">
                  <a:solidFill>
                    <a:srgbClr val="FFFF00"/>
                  </a:solidFill>
                  <a:latin typeface="Calibri"/>
                </a:rPr>
                <a:t>(human genome</a:t>
              </a:r>
              <a:r>
                <a:rPr lang="en-US" sz="3200" dirty="0">
                  <a:solidFill>
                    <a:srgbClr val="FFFF00"/>
                  </a:solidFill>
                  <a:latin typeface="Calibri"/>
                </a:rPr>
                <a:t>) </a:t>
              </a:r>
              <a:endParaRPr lang="en-US" sz="3200" dirty="0" smtClean="0">
                <a:solidFill>
                  <a:srgbClr val="FFFF00"/>
                </a:solidFill>
                <a:latin typeface="Calibri"/>
              </a:endParaRPr>
            </a:p>
            <a:p>
              <a:r>
                <a:rPr lang="en-US" sz="3200" dirty="0" smtClean="0">
                  <a:solidFill>
                    <a:srgbClr val="FFFF00"/>
                  </a:solidFill>
                  <a:latin typeface="Calibri"/>
                </a:rPr>
                <a:t>on </a:t>
              </a:r>
              <a:r>
                <a:rPr lang="en-US" sz="3200" dirty="0">
                  <a:solidFill>
                    <a:srgbClr val="FFFF00"/>
                  </a:solidFill>
                  <a:latin typeface="Calibri"/>
                </a:rPr>
                <a:t>Cray </a:t>
              </a:r>
              <a:r>
                <a:rPr lang="en-US" sz="3200" dirty="0" smtClean="0">
                  <a:solidFill>
                    <a:srgbClr val="FFFF00"/>
                  </a:solidFill>
                  <a:latin typeface="Calibri"/>
                </a:rPr>
                <a:t>XC30 @Now</a:t>
              </a:r>
              <a:endParaRPr lang="en-US" sz="3200" dirty="0">
                <a:solidFill>
                  <a:srgbClr val="FFFF00"/>
                </a:solidFill>
                <a:latin typeface="Calibri"/>
              </a:endParaRP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382514" y="5824210"/>
            <a:ext cx="83541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Complete assembly of human genome in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4</a:t>
            </a:r>
            <a:r>
              <a:rPr kumimoji="0" 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minutes using 23K cores.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700</a:t>
            </a:r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x speedup over </a:t>
            </a: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o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riginal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Meraculous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(took </a:t>
            </a:r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2,880 minutes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and a large shared memory machine).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12" name="Picture 11" descr="strong_human_total_new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363" y="1238782"/>
            <a:ext cx="6250437" cy="4464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9157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181383" y="1370900"/>
            <a:ext cx="8512018" cy="1018932"/>
          </a:xfrm>
        </p:spPr>
        <p:txBody>
          <a:bodyPr>
            <a:normAutofit/>
          </a:bodyPr>
          <a:lstStyle/>
          <a:p>
            <a:r>
              <a:rPr lang="en-US" sz="2400" dirty="0" smtClean="0"/>
              <a:t>Instead of multiple copies of the same book, how you have the whole library to assemble!</a:t>
            </a:r>
            <a:endParaRPr lang="en-US" sz="2400" dirty="0"/>
          </a:p>
        </p:txBody>
      </p:sp>
      <p:grpSp>
        <p:nvGrpSpPr>
          <p:cNvPr id="11" name="Group 124"/>
          <p:cNvGrpSpPr/>
          <p:nvPr/>
        </p:nvGrpSpPr>
        <p:grpSpPr>
          <a:xfrm>
            <a:off x="0" y="-5557"/>
            <a:ext cx="9144000" cy="1300363"/>
            <a:chOff x="0" y="-7906"/>
            <a:chExt cx="13004800" cy="1849406"/>
          </a:xfrm>
        </p:grpSpPr>
        <p:pic>
          <p:nvPicPr>
            <p:cNvPr id="12" name="Picture 3"/>
            <p:cNvPicPr>
              <a:picLocks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0"/>
              <a:ext cx="13004800" cy="1841500"/>
            </a:xfrm>
            <a:prstGeom prst="rect">
              <a:avLst/>
            </a:prstGeom>
            <a:noFill/>
            <a:ln w="9525" cap="flat">
              <a:noFill/>
              <a:miter lim="800000"/>
              <a:headEnd/>
              <a:tailEnd/>
            </a:ln>
          </p:spPr>
        </p:pic>
        <p:sp>
          <p:nvSpPr>
            <p:cNvPr id="13" name="Rectangle 5"/>
            <p:cNvSpPr txBox="1">
              <a:spLocks noChangeArrowheads="1"/>
            </p:cNvSpPr>
            <p:nvPr/>
          </p:nvSpPr>
          <p:spPr bwMode="auto">
            <a:xfrm>
              <a:off x="257964" y="-7906"/>
              <a:ext cx="12031663" cy="140969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vert="horz" wrap="square" lIns="50777" tIns="50777" rIns="166318" bIns="50777" numCol="1" anchor="ctr" anchorCtr="0" compatLnSpc="1">
              <a:prstTxWarp prst="textNoShape">
                <a:avLst/>
              </a:prstTxWarp>
            </a:bodyPr>
            <a:lstStyle/>
            <a:p>
              <a:pPr marL="40160" defTabSz="642552">
                <a:defRPr/>
              </a:pPr>
              <a:r>
                <a:rPr lang="en-US" sz="3200" kern="0" dirty="0" smtClean="0">
                  <a:solidFill>
                    <a:srgbClr val="FFFF00"/>
                  </a:solidFill>
                  <a:ea typeface="+mj-ea"/>
                  <a:cs typeface="Calibri"/>
                  <a:sym typeface="Arial Bold" charset="0"/>
                </a:rPr>
                <a:t>How about metagenomes?</a:t>
              </a:r>
              <a:endParaRPr lang="en-US" sz="3200" kern="0" dirty="0" smtClean="0">
                <a:solidFill>
                  <a:srgbClr val="FFFF00"/>
                </a:solidFill>
                <a:latin typeface="Calibri"/>
                <a:ea typeface="+mj-ea"/>
                <a:cs typeface="Calibri"/>
                <a:sym typeface="Arial Bold" charset="0"/>
              </a:endParaRPr>
            </a:p>
          </p:txBody>
        </p:sp>
      </p:grpSp>
      <p:pic>
        <p:nvPicPr>
          <p:cNvPr id="10" name="Picture 9" descr="mobydick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139" y="2271301"/>
            <a:ext cx="893054" cy="1371600"/>
          </a:xfrm>
          <a:prstGeom prst="rect">
            <a:avLst/>
          </a:prstGeom>
        </p:spPr>
      </p:pic>
      <p:pic>
        <p:nvPicPr>
          <p:cNvPr id="14" name="Picture 13" descr="51t1kyruRgL.jp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7724" y="2271301"/>
            <a:ext cx="752291" cy="1371600"/>
          </a:xfrm>
          <a:prstGeom prst="rect">
            <a:avLst/>
          </a:prstGeom>
        </p:spPr>
      </p:pic>
      <p:pic>
        <p:nvPicPr>
          <p:cNvPr id="15" name="Picture 14" descr="51HHNZHE02L.jp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3752" y="2271301"/>
            <a:ext cx="771830" cy="1371600"/>
          </a:xfrm>
          <a:prstGeom prst="rect">
            <a:avLst/>
          </a:prstGeom>
        </p:spPr>
      </p:pic>
      <p:pic>
        <p:nvPicPr>
          <p:cNvPr id="3" name="Picture 2" descr="519Q0LF09xL._SY344_BO1,204,203,200_.jp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568" y="2271301"/>
            <a:ext cx="895901" cy="1371600"/>
          </a:xfrm>
          <a:prstGeom prst="rect">
            <a:avLst/>
          </a:prstGeom>
        </p:spPr>
      </p:pic>
      <p:pic>
        <p:nvPicPr>
          <p:cNvPr id="4" name="Picture 3" descr="1984_by_alcook-d4z39dh.jp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6770" y="2271301"/>
            <a:ext cx="901550" cy="1371600"/>
          </a:xfrm>
          <a:prstGeom prst="rect">
            <a:avLst/>
          </a:prstGeom>
        </p:spPr>
      </p:pic>
      <p:pic>
        <p:nvPicPr>
          <p:cNvPr id="5" name="Picture 4" descr="one_hundred_years_of_solitude.jpg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5689" y="2271301"/>
            <a:ext cx="914400" cy="1371600"/>
          </a:xfrm>
          <a:prstGeom prst="rect">
            <a:avLst/>
          </a:prstGeom>
        </p:spPr>
      </p:pic>
      <p:pic>
        <p:nvPicPr>
          <p:cNvPr id="6" name="Picture 5" descr="1984-book-cover.jpg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301" y="2271301"/>
            <a:ext cx="1003053" cy="1371600"/>
          </a:xfrm>
          <a:prstGeom prst="rect">
            <a:avLst/>
          </a:prstGeom>
        </p:spPr>
      </p:pic>
      <p:pic>
        <p:nvPicPr>
          <p:cNvPr id="16" name="Picture 15" descr="1984-book-cover-pic.jpeg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7454" y="2271301"/>
            <a:ext cx="822302" cy="1371600"/>
          </a:xfrm>
          <a:prstGeom prst="rect">
            <a:avLst/>
          </a:prstGeom>
        </p:spPr>
      </p:pic>
      <p:pic>
        <p:nvPicPr>
          <p:cNvPr id="17" name="Picture 16" descr="george_orwell_1984.jpg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175" y="2271301"/>
            <a:ext cx="887505" cy="1371600"/>
          </a:xfrm>
          <a:prstGeom prst="rect">
            <a:avLst/>
          </a:prstGeom>
        </p:spPr>
      </p:pic>
      <p:sp>
        <p:nvSpPr>
          <p:cNvPr id="18" name="Content Placeholder 2"/>
          <p:cNvSpPr txBox="1">
            <a:spLocks/>
          </p:cNvSpPr>
          <p:nvPr/>
        </p:nvSpPr>
        <p:spPr>
          <a:xfrm>
            <a:off x="333783" y="4014727"/>
            <a:ext cx="8512018" cy="13023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/>
              <a:t>1984 is the “dominant species” in this sample. </a:t>
            </a:r>
          </a:p>
          <a:p>
            <a:r>
              <a:rPr lang="en-US" sz="2400" dirty="0" smtClean="0"/>
              <a:t>Too easy:</a:t>
            </a:r>
            <a:r>
              <a:rPr lang="en-US" sz="2400" dirty="0"/>
              <a:t> t</a:t>
            </a:r>
            <a:r>
              <a:rPr lang="en-US" sz="2400" dirty="0" smtClean="0"/>
              <a:t>here are also previously unknown books in the mix.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82" y="5063068"/>
            <a:ext cx="858957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Option 1: </a:t>
            </a:r>
            <a:r>
              <a:rPr lang="en-US" sz="2400" b="1" i="1" dirty="0" smtClean="0"/>
              <a:t>Bin the reads </a:t>
            </a:r>
            <a:r>
              <a:rPr lang="en-US" sz="2400" dirty="0" smtClean="0"/>
              <a:t>to genomes; run single genome assembly </a:t>
            </a:r>
          </a:p>
          <a:p>
            <a:pPr marL="342900" indent="-342900">
              <a:buFont typeface="Wingdings" charset="0"/>
              <a:buChar char="L"/>
            </a:pPr>
            <a:r>
              <a:rPr lang="en-US" sz="2400" dirty="0" smtClean="0"/>
              <a:t>Reads are too short to contain enough information for binning.</a:t>
            </a:r>
          </a:p>
          <a:p>
            <a:r>
              <a:rPr lang="en-US" sz="2400" b="1" dirty="0" smtClean="0"/>
              <a:t>Option 2: </a:t>
            </a:r>
            <a:r>
              <a:rPr lang="en-US" sz="2400" dirty="0" smtClean="0"/>
              <a:t>Generate </a:t>
            </a:r>
            <a:r>
              <a:rPr lang="en-US" sz="2400" dirty="0" err="1" smtClean="0"/>
              <a:t>contigs</a:t>
            </a:r>
            <a:r>
              <a:rPr lang="en-US" sz="2400" dirty="0" smtClean="0"/>
              <a:t> and </a:t>
            </a:r>
            <a:r>
              <a:rPr lang="en-US" sz="2400" b="1" i="1" dirty="0" smtClean="0"/>
              <a:t>bin the </a:t>
            </a:r>
            <a:r>
              <a:rPr lang="en-US" sz="2400" b="1" i="1" dirty="0" err="1" smtClean="0"/>
              <a:t>contigs</a:t>
            </a:r>
            <a:endParaRPr lang="en-US" sz="2400" b="1" i="1" dirty="0" smtClean="0"/>
          </a:p>
          <a:p>
            <a:r>
              <a:rPr lang="en-US" sz="2400" dirty="0" smtClean="0">
                <a:sym typeface="Wingdings"/>
              </a:rPr>
              <a:t> How do you eliminate errors for low-coverage organisms?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1644081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24"/>
          <p:cNvGrpSpPr/>
          <p:nvPr/>
        </p:nvGrpSpPr>
        <p:grpSpPr>
          <a:xfrm>
            <a:off x="0" y="-16486"/>
            <a:ext cx="9144000" cy="1311292"/>
            <a:chOff x="0" y="-23450"/>
            <a:chExt cx="13004800" cy="1864950"/>
          </a:xfrm>
        </p:grpSpPr>
        <p:pic>
          <p:nvPicPr>
            <p:cNvPr id="19" name="Picture 3"/>
            <p:cNvPicPr>
              <a:picLocks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0" y="0"/>
              <a:ext cx="13004800" cy="1841500"/>
            </a:xfrm>
            <a:prstGeom prst="rect">
              <a:avLst/>
            </a:prstGeom>
            <a:noFill/>
            <a:ln w="9525" cap="flat">
              <a:noFill/>
              <a:miter lim="800000"/>
              <a:headEnd/>
              <a:tailEnd/>
            </a:ln>
          </p:spPr>
        </p:pic>
        <p:sp>
          <p:nvSpPr>
            <p:cNvPr id="20" name="Rectangle 5"/>
            <p:cNvSpPr txBox="1">
              <a:spLocks noChangeArrowheads="1"/>
            </p:cNvSpPr>
            <p:nvPr/>
          </p:nvSpPr>
          <p:spPr bwMode="auto">
            <a:xfrm>
              <a:off x="200216" y="-23450"/>
              <a:ext cx="12031663" cy="140969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vert="horz" wrap="square" lIns="50777" tIns="50777" rIns="166318" bIns="50777" numCol="1" anchor="ctr" anchorCtr="0" compatLnSpc="1">
              <a:prstTxWarp prst="textNoShape">
                <a:avLst/>
              </a:prstTxWarp>
            </a:bodyPr>
            <a:lstStyle/>
            <a:p>
              <a:r>
                <a:rPr lang="en-US" sz="3200" dirty="0" smtClean="0">
                  <a:solidFill>
                    <a:srgbClr val="FFFF00"/>
                  </a:solidFill>
                </a:rPr>
                <a:t>Metagenome challenges</a:t>
              </a:r>
              <a:endParaRPr lang="en-US" sz="3200" i="1" dirty="0">
                <a:solidFill>
                  <a:srgbClr val="FFFF00"/>
                </a:solidFill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304801" y="1277079"/>
            <a:ext cx="839893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- Why does metagenome assembly </a:t>
            </a:r>
            <a:r>
              <a:rPr lang="en-US" sz="2400" smtClean="0"/>
              <a:t>benefits from explicit </a:t>
            </a:r>
            <a:r>
              <a:rPr lang="en-US" sz="2400" dirty="0" smtClean="0"/>
              <a:t>error correction when single genome assembly does not?</a:t>
            </a:r>
          </a:p>
          <a:p>
            <a:r>
              <a:rPr lang="en-US" sz="2400" b="1" dirty="0" smtClean="0"/>
              <a:t>+ Uneven sequencing depth: </a:t>
            </a:r>
            <a:r>
              <a:rPr lang="en-US" sz="2400" dirty="0" smtClean="0"/>
              <a:t>Errors in high-depth regions might be more frequent than true k-</a:t>
            </a:r>
            <a:r>
              <a:rPr lang="en-US" sz="2400" dirty="0" err="1" smtClean="0"/>
              <a:t>mers</a:t>
            </a:r>
            <a:r>
              <a:rPr lang="en-US" sz="2400" dirty="0" smtClean="0"/>
              <a:t> in low-depth regions. </a:t>
            </a:r>
          </a:p>
          <a:p>
            <a:r>
              <a:rPr lang="en-US" sz="2400" dirty="0" smtClean="0"/>
              <a:t>- Who cares about low-depth regions? </a:t>
            </a:r>
          </a:p>
          <a:p>
            <a:r>
              <a:rPr lang="en-US" sz="2400" dirty="0" smtClean="0"/>
              <a:t>+ In fact, that’s what matters most.</a:t>
            </a:r>
            <a:endParaRPr lang="en-US" sz="2400" dirty="0"/>
          </a:p>
        </p:txBody>
      </p:sp>
      <p:pic>
        <p:nvPicPr>
          <p:cNvPr id="21" name="Picture 20" descr="histogra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794" y="3687001"/>
            <a:ext cx="3308970" cy="3020157"/>
          </a:xfrm>
          <a:prstGeom prst="rect">
            <a:avLst/>
          </a:prstGeom>
        </p:spPr>
      </p:pic>
      <p:pic>
        <p:nvPicPr>
          <p:cNvPr id="4" name="Picture 3" descr="SRR041654_17mer_barplot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6534" y="3737799"/>
            <a:ext cx="4588935" cy="26768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675467" y="3737799"/>
            <a:ext cx="138853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</a:rPr>
              <a:t>Single genome</a:t>
            </a:r>
            <a:endParaRPr lang="en-US" sz="2200" b="1" dirty="0">
              <a:solidFill>
                <a:srgbClr val="FF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774267" y="3910106"/>
            <a:ext cx="2336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</a:rPr>
              <a:t>Metagenome</a:t>
            </a:r>
            <a:endParaRPr lang="en-US" sz="2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335787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24"/>
          <p:cNvGrpSpPr/>
          <p:nvPr/>
        </p:nvGrpSpPr>
        <p:grpSpPr>
          <a:xfrm>
            <a:off x="0" y="-16486"/>
            <a:ext cx="9144000" cy="1311292"/>
            <a:chOff x="0" y="-23450"/>
            <a:chExt cx="13004800" cy="1864950"/>
          </a:xfrm>
        </p:grpSpPr>
        <p:pic>
          <p:nvPicPr>
            <p:cNvPr id="19" name="Picture 3"/>
            <p:cNvPicPr>
              <a:picLocks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0" y="0"/>
              <a:ext cx="13004800" cy="1841500"/>
            </a:xfrm>
            <a:prstGeom prst="rect">
              <a:avLst/>
            </a:prstGeom>
            <a:noFill/>
            <a:ln w="9525" cap="flat">
              <a:noFill/>
              <a:miter lim="800000"/>
              <a:headEnd/>
              <a:tailEnd/>
            </a:ln>
          </p:spPr>
        </p:pic>
        <p:sp>
          <p:nvSpPr>
            <p:cNvPr id="20" name="Rectangle 5"/>
            <p:cNvSpPr txBox="1">
              <a:spLocks noChangeArrowheads="1"/>
            </p:cNvSpPr>
            <p:nvPr/>
          </p:nvSpPr>
          <p:spPr bwMode="auto">
            <a:xfrm>
              <a:off x="200216" y="-23450"/>
              <a:ext cx="12031663" cy="140969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vert="horz" wrap="square" lIns="50777" tIns="50777" rIns="166318" bIns="50777" numCol="1" anchor="ctr" anchorCtr="0" compatLnSpc="1">
              <a:prstTxWarp prst="textNoShape">
                <a:avLst/>
              </a:prstTxWarp>
            </a:bodyPr>
            <a:lstStyle/>
            <a:p>
              <a:r>
                <a:rPr lang="en-US" sz="3200" dirty="0" smtClean="0">
                  <a:solidFill>
                    <a:srgbClr val="FFFF00"/>
                  </a:solidFill>
                </a:rPr>
                <a:t>Adapting HipMer to metagenomes</a:t>
              </a:r>
              <a:endParaRPr lang="en-US" sz="3200" i="1" dirty="0">
                <a:solidFill>
                  <a:srgbClr val="FFFF00"/>
                </a:solidFill>
              </a:endParaRP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1598522" y="2565724"/>
            <a:ext cx="12825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prstClr val="black"/>
                </a:solidFill>
                <a:latin typeface="Calibri"/>
              </a:rPr>
              <a:t>persistent</a:t>
            </a:r>
            <a:endParaRPr lang="en-US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12104" y="2322048"/>
            <a:ext cx="8036002" cy="2554062"/>
          </a:xfrm>
          <a:prstGeom prst="rect">
            <a:avLst/>
          </a:prstGeom>
          <a:solidFill>
            <a:srgbClr val="FFFF0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230943" y="5493866"/>
            <a:ext cx="1376223" cy="646331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>
                <a:solidFill>
                  <a:prstClr val="black"/>
                </a:solidFill>
                <a:latin typeface="Calibri"/>
              </a:rPr>
              <a:t>contig</a:t>
            </a:r>
            <a:endParaRPr lang="en-US" b="1" dirty="0">
              <a:solidFill>
                <a:prstClr val="black"/>
              </a:solidFill>
              <a:latin typeface="Calibri"/>
            </a:endParaRPr>
          </a:p>
          <a:p>
            <a:pPr algn="ctr"/>
            <a:r>
              <a:rPr lang="en-US" b="1" dirty="0">
                <a:solidFill>
                  <a:prstClr val="black"/>
                </a:solidFill>
                <a:latin typeface="Calibri"/>
              </a:rPr>
              <a:t>generation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0224" y="5495713"/>
            <a:ext cx="1228712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prstClr val="black"/>
                </a:solidFill>
                <a:latin typeface="Calibri"/>
              </a:rPr>
              <a:t>alignment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80473" y="5474660"/>
            <a:ext cx="1251778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prstClr val="black"/>
                </a:solidFill>
                <a:latin typeface="Calibri"/>
              </a:rPr>
              <a:t>scaffolding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940441" y="3427834"/>
            <a:ext cx="369618" cy="1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22" idx="4"/>
          </p:cNvCxnSpPr>
          <p:nvPr/>
        </p:nvCxnSpPr>
        <p:spPr>
          <a:xfrm>
            <a:off x="1817437" y="3643675"/>
            <a:ext cx="0" cy="1852043"/>
          </a:xfrm>
          <a:prstGeom prst="line">
            <a:avLst/>
          </a:prstGeom>
          <a:ln>
            <a:solidFill>
              <a:schemeClr val="tx1"/>
            </a:solidFill>
            <a:prstDash val="solid"/>
            <a:head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782762" y="5081552"/>
            <a:ext cx="8092955" cy="1487116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r"/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1571842" y="3212600"/>
            <a:ext cx="491190" cy="431075"/>
          </a:xfrm>
          <a:prstGeom prst="ellipse">
            <a:avLst/>
          </a:prstGeom>
          <a:solidFill>
            <a:schemeClr val="bg1">
              <a:lumMod val="85000"/>
            </a:schemeClr>
          </a:solidFill>
          <a:ln w="38100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prstClr val="black"/>
                </a:solidFill>
                <a:latin typeface="Calibri"/>
              </a:rPr>
              <a:t>B</a:t>
            </a:r>
          </a:p>
        </p:txBody>
      </p:sp>
      <p:cxnSp>
        <p:nvCxnSpPr>
          <p:cNvPr id="24" name="Straight Connector 23"/>
          <p:cNvCxnSpPr>
            <a:endCxn id="27" idx="4"/>
          </p:cNvCxnSpPr>
          <p:nvPr/>
        </p:nvCxnSpPr>
        <p:spPr>
          <a:xfrm flipH="1" flipV="1">
            <a:off x="2480738" y="3643675"/>
            <a:ext cx="5992" cy="1836683"/>
          </a:xfrm>
          <a:prstGeom prst="line">
            <a:avLst/>
          </a:prstGeom>
          <a:ln>
            <a:solidFill>
              <a:schemeClr val="tx1"/>
            </a:solidFill>
            <a:prstDash val="solid"/>
            <a:head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 rot="16200000">
            <a:off x="-432666" y="3453529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solidFill>
                  <a:prstClr val="black"/>
                </a:solidFill>
                <a:latin typeface="Calibri"/>
              </a:rPr>
              <a:t>Data sizes</a:t>
            </a:r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671982" y="5474664"/>
            <a:ext cx="1929611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prstClr val="black"/>
                </a:solidFill>
                <a:latin typeface="Calibri"/>
              </a:rPr>
              <a:t>gap closing</a:t>
            </a:r>
            <a:endParaRPr lang="en-US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2235143" y="3212794"/>
            <a:ext cx="491190" cy="430881"/>
          </a:xfrm>
          <a:prstGeom prst="ellipse">
            <a:avLst/>
          </a:prstGeom>
          <a:solidFill>
            <a:schemeClr val="bg1">
              <a:lumMod val="85000"/>
            </a:schemeClr>
          </a:solidFill>
          <a:ln w="38100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prstClr val="black"/>
                </a:solidFill>
                <a:latin typeface="Calibri"/>
              </a:rPr>
              <a:t>B</a:t>
            </a:r>
          </a:p>
        </p:txBody>
      </p:sp>
      <p:cxnSp>
        <p:nvCxnSpPr>
          <p:cNvPr id="28" name="Straight Connector 27"/>
          <p:cNvCxnSpPr>
            <a:stCxn id="69" idx="4"/>
          </p:cNvCxnSpPr>
          <p:nvPr/>
        </p:nvCxnSpPr>
        <p:spPr>
          <a:xfrm>
            <a:off x="2947214" y="4569471"/>
            <a:ext cx="0" cy="891383"/>
          </a:xfrm>
          <a:prstGeom prst="line">
            <a:avLst/>
          </a:prstGeom>
          <a:ln>
            <a:solidFill>
              <a:schemeClr val="tx1"/>
            </a:solidFill>
            <a:prstDash val="solid"/>
            <a:head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endCxn id="68" idx="4"/>
          </p:cNvCxnSpPr>
          <p:nvPr/>
        </p:nvCxnSpPr>
        <p:spPr>
          <a:xfrm flipV="1">
            <a:off x="3902690" y="4569471"/>
            <a:ext cx="0" cy="926247"/>
          </a:xfrm>
          <a:prstGeom prst="line">
            <a:avLst/>
          </a:prstGeom>
          <a:ln>
            <a:solidFill>
              <a:schemeClr val="tx1"/>
            </a:solidFill>
            <a:prstDash val="solid"/>
            <a:head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flipV="1">
            <a:off x="812104" y="2915248"/>
            <a:ext cx="8036002" cy="8192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69" idx="6"/>
            <a:endCxn id="68" idx="2"/>
          </p:cNvCxnSpPr>
          <p:nvPr/>
        </p:nvCxnSpPr>
        <p:spPr>
          <a:xfrm>
            <a:off x="3192809" y="4353934"/>
            <a:ext cx="464286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endCxn id="65" idx="4"/>
          </p:cNvCxnSpPr>
          <p:nvPr/>
        </p:nvCxnSpPr>
        <p:spPr>
          <a:xfrm flipV="1">
            <a:off x="4248864" y="2901442"/>
            <a:ext cx="0" cy="2594276"/>
          </a:xfrm>
          <a:prstGeom prst="line">
            <a:avLst/>
          </a:prstGeom>
          <a:ln>
            <a:solidFill>
              <a:schemeClr val="tx1"/>
            </a:solidFill>
            <a:prstDash val="solid"/>
            <a:head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70" idx="4"/>
          </p:cNvCxnSpPr>
          <p:nvPr/>
        </p:nvCxnSpPr>
        <p:spPr>
          <a:xfrm>
            <a:off x="4573534" y="3637481"/>
            <a:ext cx="0" cy="1837179"/>
          </a:xfrm>
          <a:prstGeom prst="line">
            <a:avLst/>
          </a:prstGeom>
          <a:ln>
            <a:solidFill>
              <a:schemeClr val="tx1"/>
            </a:solidFill>
            <a:prstDash val="solid"/>
            <a:head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5836126" y="3728559"/>
            <a:ext cx="491190" cy="430881"/>
          </a:xfrm>
          <a:prstGeom prst="ellipse">
            <a:avLst/>
          </a:prstGeom>
          <a:solidFill>
            <a:schemeClr val="bg1">
              <a:lumMod val="85000"/>
            </a:schemeClr>
          </a:solidFill>
          <a:ln w="38100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prstClr val="black"/>
                </a:solidFill>
                <a:latin typeface="Calibri"/>
              </a:rPr>
              <a:t>E</a:t>
            </a:r>
          </a:p>
        </p:txBody>
      </p:sp>
      <p:cxnSp>
        <p:nvCxnSpPr>
          <p:cNvPr id="35" name="Straight Connector 34"/>
          <p:cNvCxnSpPr>
            <a:endCxn id="77" idx="4"/>
          </p:cNvCxnSpPr>
          <p:nvPr/>
        </p:nvCxnSpPr>
        <p:spPr>
          <a:xfrm flipV="1">
            <a:off x="5359214" y="3637481"/>
            <a:ext cx="0" cy="1823373"/>
          </a:xfrm>
          <a:prstGeom prst="line">
            <a:avLst/>
          </a:prstGeom>
          <a:ln>
            <a:solidFill>
              <a:schemeClr val="tx1"/>
            </a:solidFill>
            <a:prstDash val="solid"/>
            <a:head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endCxn id="73" idx="4"/>
          </p:cNvCxnSpPr>
          <p:nvPr/>
        </p:nvCxnSpPr>
        <p:spPr>
          <a:xfrm flipV="1">
            <a:off x="6781931" y="2887636"/>
            <a:ext cx="0" cy="2608082"/>
          </a:xfrm>
          <a:prstGeom prst="line">
            <a:avLst/>
          </a:prstGeom>
          <a:ln>
            <a:solidFill>
              <a:schemeClr val="tx1"/>
            </a:solidFill>
            <a:prstDash val="solid"/>
            <a:head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34" idx="4"/>
          </p:cNvCxnSpPr>
          <p:nvPr/>
        </p:nvCxnSpPr>
        <p:spPr>
          <a:xfrm>
            <a:off x="6081721" y="4159440"/>
            <a:ext cx="0" cy="1301414"/>
          </a:xfrm>
          <a:prstGeom prst="line">
            <a:avLst/>
          </a:prstGeom>
          <a:ln>
            <a:solidFill>
              <a:schemeClr val="tx1"/>
            </a:solidFill>
            <a:prstDash val="solid"/>
            <a:head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68" idx="6"/>
            <a:endCxn id="67" idx="2"/>
          </p:cNvCxnSpPr>
          <p:nvPr/>
        </p:nvCxnSpPr>
        <p:spPr>
          <a:xfrm>
            <a:off x="4148285" y="4353934"/>
            <a:ext cx="1331379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endCxn id="67" idx="4"/>
          </p:cNvCxnSpPr>
          <p:nvPr/>
        </p:nvCxnSpPr>
        <p:spPr>
          <a:xfrm flipV="1">
            <a:off x="5725259" y="4569471"/>
            <a:ext cx="0" cy="891383"/>
          </a:xfrm>
          <a:prstGeom prst="line">
            <a:avLst/>
          </a:prstGeom>
          <a:ln>
            <a:solidFill>
              <a:schemeClr val="tx1"/>
            </a:solidFill>
            <a:prstDash val="solid"/>
            <a:head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8289868" y="2990713"/>
            <a:ext cx="491190" cy="430881"/>
          </a:xfrm>
          <a:prstGeom prst="ellipse">
            <a:avLst/>
          </a:prstGeom>
          <a:solidFill>
            <a:schemeClr val="bg1">
              <a:lumMod val="85000"/>
            </a:schemeClr>
          </a:solidFill>
          <a:ln w="38100">
            <a:solidFill>
              <a:srgbClr val="8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prstClr val="black"/>
                </a:solidFill>
                <a:latin typeface="Calibri"/>
              </a:rPr>
              <a:t>G</a:t>
            </a:r>
          </a:p>
        </p:txBody>
      </p:sp>
      <p:cxnSp>
        <p:nvCxnSpPr>
          <p:cNvPr id="41" name="Straight Connector 40"/>
          <p:cNvCxnSpPr>
            <a:stCxn id="40" idx="4"/>
          </p:cNvCxnSpPr>
          <p:nvPr/>
        </p:nvCxnSpPr>
        <p:spPr>
          <a:xfrm>
            <a:off x="8535463" y="3421594"/>
            <a:ext cx="0" cy="2039260"/>
          </a:xfrm>
          <a:prstGeom prst="line">
            <a:avLst/>
          </a:prstGeom>
          <a:ln>
            <a:solidFill>
              <a:schemeClr val="tx1"/>
            </a:solidFill>
            <a:prstDash val="solid"/>
            <a:head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endCxn id="59" idx="4"/>
          </p:cNvCxnSpPr>
          <p:nvPr/>
        </p:nvCxnSpPr>
        <p:spPr>
          <a:xfrm flipV="1">
            <a:off x="1130925" y="2915248"/>
            <a:ext cx="0" cy="2580470"/>
          </a:xfrm>
          <a:prstGeom prst="line">
            <a:avLst/>
          </a:prstGeom>
          <a:ln>
            <a:solidFill>
              <a:schemeClr val="tx1"/>
            </a:solidFill>
            <a:prstDash val="solid"/>
            <a:head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endCxn id="74" idx="4"/>
          </p:cNvCxnSpPr>
          <p:nvPr/>
        </p:nvCxnSpPr>
        <p:spPr>
          <a:xfrm flipV="1">
            <a:off x="7118489" y="4569471"/>
            <a:ext cx="0" cy="926247"/>
          </a:xfrm>
          <a:prstGeom prst="line">
            <a:avLst/>
          </a:prstGeom>
          <a:ln>
            <a:solidFill>
              <a:schemeClr val="tx1"/>
            </a:solidFill>
            <a:prstDash val="solid"/>
            <a:head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7511117" y="3719401"/>
            <a:ext cx="491190" cy="430881"/>
          </a:xfrm>
          <a:prstGeom prst="ellipse">
            <a:avLst/>
          </a:prstGeom>
          <a:solidFill>
            <a:schemeClr val="bg1">
              <a:lumMod val="85000"/>
            </a:schemeClr>
          </a:solidFill>
          <a:ln w="38100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prstClr val="black"/>
                </a:solidFill>
                <a:latin typeface="Calibri"/>
              </a:rPr>
              <a:t>E</a:t>
            </a:r>
          </a:p>
        </p:txBody>
      </p:sp>
      <p:cxnSp>
        <p:nvCxnSpPr>
          <p:cNvPr id="45" name="Straight Connector 44"/>
          <p:cNvCxnSpPr>
            <a:endCxn id="44" idx="4"/>
          </p:cNvCxnSpPr>
          <p:nvPr/>
        </p:nvCxnSpPr>
        <p:spPr>
          <a:xfrm flipV="1">
            <a:off x="7756712" y="4150282"/>
            <a:ext cx="0" cy="1345436"/>
          </a:xfrm>
          <a:prstGeom prst="line">
            <a:avLst/>
          </a:prstGeom>
          <a:ln>
            <a:solidFill>
              <a:schemeClr val="tx1"/>
            </a:solidFill>
            <a:prstDash val="solid"/>
            <a:head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endCxn id="75" idx="4"/>
          </p:cNvCxnSpPr>
          <p:nvPr/>
        </p:nvCxnSpPr>
        <p:spPr>
          <a:xfrm flipV="1">
            <a:off x="7433961" y="3637481"/>
            <a:ext cx="0" cy="1858237"/>
          </a:xfrm>
          <a:prstGeom prst="line">
            <a:avLst/>
          </a:prstGeom>
          <a:ln>
            <a:solidFill>
              <a:schemeClr val="tx1"/>
            </a:solidFill>
            <a:prstDash val="solid"/>
            <a:head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stCxn id="34" idx="6"/>
            <a:endCxn id="44" idx="2"/>
          </p:cNvCxnSpPr>
          <p:nvPr/>
        </p:nvCxnSpPr>
        <p:spPr>
          <a:xfrm flipV="1">
            <a:off x="6327316" y="3934842"/>
            <a:ext cx="1183801" cy="9158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54354" y="5495718"/>
            <a:ext cx="1127733" cy="646331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prstClr val="black"/>
                </a:solidFill>
                <a:latin typeface="Calibri"/>
              </a:rPr>
              <a:t>k-</a:t>
            </a:r>
            <a:r>
              <a:rPr lang="en-US" b="1" dirty="0" err="1">
                <a:solidFill>
                  <a:prstClr val="black"/>
                </a:solidFill>
                <a:latin typeface="Calibri"/>
              </a:rPr>
              <a:t>mer</a:t>
            </a:r>
            <a:endParaRPr lang="en-US" b="1" dirty="0">
              <a:solidFill>
                <a:prstClr val="black"/>
              </a:solidFill>
              <a:latin typeface="Calibri"/>
            </a:endParaRPr>
          </a:p>
          <a:p>
            <a:pPr algn="ctr"/>
            <a:r>
              <a:rPr lang="en-US" b="1" dirty="0">
                <a:solidFill>
                  <a:prstClr val="black"/>
                </a:solidFill>
                <a:latin typeface="Calibri"/>
              </a:rPr>
              <a:t>analysis</a:t>
            </a:r>
          </a:p>
        </p:txBody>
      </p:sp>
      <p:cxnSp>
        <p:nvCxnSpPr>
          <p:cNvPr id="49" name="Straight Connector 48"/>
          <p:cNvCxnSpPr>
            <a:endCxn id="76" idx="4"/>
          </p:cNvCxnSpPr>
          <p:nvPr/>
        </p:nvCxnSpPr>
        <p:spPr>
          <a:xfrm flipV="1">
            <a:off x="8042550" y="3206153"/>
            <a:ext cx="0" cy="2289565"/>
          </a:xfrm>
          <a:prstGeom prst="line">
            <a:avLst/>
          </a:prstGeom>
          <a:ln>
            <a:solidFill>
              <a:schemeClr val="tx1"/>
            </a:solidFill>
            <a:prstDash val="solid"/>
            <a:head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stCxn id="67" idx="6"/>
            <a:endCxn id="74" idx="2"/>
          </p:cNvCxnSpPr>
          <p:nvPr/>
        </p:nvCxnSpPr>
        <p:spPr>
          <a:xfrm>
            <a:off x="5970854" y="4353934"/>
            <a:ext cx="90204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H="1">
            <a:off x="2052515" y="5695381"/>
            <a:ext cx="256721" cy="0"/>
          </a:xfrm>
          <a:prstGeom prst="line">
            <a:avLst/>
          </a:prstGeom>
          <a:ln>
            <a:solidFill>
              <a:schemeClr val="tx1"/>
            </a:solidFill>
            <a:prstDash val="solid"/>
            <a:head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 flipH="1">
            <a:off x="3524034" y="5695381"/>
            <a:ext cx="256720" cy="0"/>
          </a:xfrm>
          <a:prstGeom prst="line">
            <a:avLst/>
          </a:prstGeom>
          <a:ln>
            <a:solidFill>
              <a:schemeClr val="tx1"/>
            </a:solidFill>
            <a:prstDash val="solid"/>
            <a:head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H="1">
            <a:off x="4951369" y="5670269"/>
            <a:ext cx="256721" cy="0"/>
          </a:xfrm>
          <a:prstGeom prst="line">
            <a:avLst/>
          </a:prstGeom>
          <a:ln>
            <a:solidFill>
              <a:schemeClr val="tx1"/>
            </a:solidFill>
            <a:prstDash val="solid"/>
            <a:head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 flipH="1">
            <a:off x="6415261" y="5658666"/>
            <a:ext cx="256721" cy="0"/>
          </a:xfrm>
          <a:prstGeom prst="line">
            <a:avLst/>
          </a:prstGeom>
          <a:ln>
            <a:solidFill>
              <a:schemeClr val="tx1"/>
            </a:solidFill>
            <a:prstDash val="solid"/>
            <a:head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Elbow Connector 54"/>
          <p:cNvCxnSpPr>
            <a:stCxn id="13" idx="2"/>
            <a:endCxn id="48" idx="2"/>
          </p:cNvCxnSpPr>
          <p:nvPr/>
        </p:nvCxnSpPr>
        <p:spPr>
          <a:xfrm rot="5400000">
            <a:off x="2797899" y="4585368"/>
            <a:ext cx="277004" cy="2836359"/>
          </a:xfrm>
          <a:prstGeom prst="bentConnector3">
            <a:avLst>
              <a:gd name="adj1" fmla="val 182526"/>
            </a:avLst>
          </a:prstGeom>
          <a:ln>
            <a:solidFill>
              <a:srgbClr val="8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4428330" y="5890445"/>
            <a:ext cx="1136387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800000"/>
                </a:solidFill>
              </a:rPr>
              <a:t>Increase k and iterate</a:t>
            </a:r>
          </a:p>
        </p:txBody>
      </p:sp>
      <p:cxnSp>
        <p:nvCxnSpPr>
          <p:cNvPr id="57" name="Straight Connector 56"/>
          <p:cNvCxnSpPr>
            <a:endCxn id="71" idx="4"/>
          </p:cNvCxnSpPr>
          <p:nvPr/>
        </p:nvCxnSpPr>
        <p:spPr>
          <a:xfrm flipV="1">
            <a:off x="1450492" y="4569471"/>
            <a:ext cx="0" cy="926247"/>
          </a:xfrm>
          <a:prstGeom prst="line">
            <a:avLst/>
          </a:prstGeom>
          <a:ln>
            <a:solidFill>
              <a:schemeClr val="accent4"/>
            </a:solidFill>
            <a:prstDash val="solid"/>
            <a:head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71" idx="6"/>
            <a:endCxn id="69" idx="2"/>
          </p:cNvCxnSpPr>
          <p:nvPr/>
        </p:nvCxnSpPr>
        <p:spPr>
          <a:xfrm>
            <a:off x="1696087" y="4353934"/>
            <a:ext cx="1005532" cy="0"/>
          </a:xfrm>
          <a:prstGeom prst="line">
            <a:avLst/>
          </a:prstGeom>
          <a:ln>
            <a:solidFill>
              <a:schemeClr val="accent4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885330" y="2484367"/>
            <a:ext cx="491190" cy="430881"/>
          </a:xfrm>
          <a:prstGeom prst="ellipse">
            <a:avLst/>
          </a:prstGeom>
          <a:solidFill>
            <a:schemeClr val="bg1">
              <a:lumMod val="85000"/>
            </a:schemeClr>
          </a:solidFill>
          <a:ln w="38100">
            <a:solidFill>
              <a:srgbClr val="00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prstClr val="black"/>
                </a:solidFill>
                <a:latin typeface="Calibri"/>
              </a:rPr>
              <a:t>A</a:t>
            </a:r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186452" y="2785806"/>
            <a:ext cx="694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10TB</a:t>
            </a:r>
          </a:p>
        </p:txBody>
      </p:sp>
      <p:cxnSp>
        <p:nvCxnSpPr>
          <p:cNvPr id="61" name="Straight Connector 60"/>
          <p:cNvCxnSpPr/>
          <p:nvPr/>
        </p:nvCxnSpPr>
        <p:spPr>
          <a:xfrm>
            <a:off x="855496" y="3739309"/>
            <a:ext cx="7992610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304196" y="3554643"/>
            <a:ext cx="694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1TB</a:t>
            </a:r>
          </a:p>
        </p:txBody>
      </p:sp>
      <p:cxnSp>
        <p:nvCxnSpPr>
          <p:cNvPr id="63" name="Straight Connector 62"/>
          <p:cNvCxnSpPr/>
          <p:nvPr/>
        </p:nvCxnSpPr>
        <p:spPr>
          <a:xfrm>
            <a:off x="855496" y="4472445"/>
            <a:ext cx="7992610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76012" y="4266268"/>
            <a:ext cx="1030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100GB</a:t>
            </a:r>
          </a:p>
        </p:txBody>
      </p:sp>
      <p:sp>
        <p:nvSpPr>
          <p:cNvPr id="65" name="Oval 64"/>
          <p:cNvSpPr/>
          <p:nvPr/>
        </p:nvSpPr>
        <p:spPr>
          <a:xfrm>
            <a:off x="4003269" y="2470561"/>
            <a:ext cx="491190" cy="430881"/>
          </a:xfrm>
          <a:prstGeom prst="ellipse">
            <a:avLst/>
          </a:prstGeom>
          <a:solidFill>
            <a:schemeClr val="bg1">
              <a:lumMod val="85000"/>
            </a:schemeClr>
          </a:solidFill>
          <a:ln w="38100">
            <a:solidFill>
              <a:srgbClr val="00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prstClr val="black"/>
                </a:solidFill>
                <a:latin typeface="Calibri"/>
              </a:rPr>
              <a:t>A</a:t>
            </a:r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66" name="Straight Connector 65"/>
          <p:cNvCxnSpPr>
            <a:stCxn id="65" idx="2"/>
            <a:endCxn id="59" idx="6"/>
          </p:cNvCxnSpPr>
          <p:nvPr/>
        </p:nvCxnSpPr>
        <p:spPr>
          <a:xfrm flipH="1">
            <a:off x="1376520" y="2686002"/>
            <a:ext cx="2626749" cy="13806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Oval 66"/>
          <p:cNvSpPr/>
          <p:nvPr/>
        </p:nvSpPr>
        <p:spPr>
          <a:xfrm>
            <a:off x="5479664" y="4138396"/>
            <a:ext cx="491190" cy="431075"/>
          </a:xfrm>
          <a:prstGeom prst="ellipse">
            <a:avLst/>
          </a:prstGeom>
          <a:solidFill>
            <a:schemeClr val="bg1">
              <a:lumMod val="85000"/>
            </a:schemeClr>
          </a:solidFill>
          <a:ln w="38100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prstClr val="black"/>
                </a:solidFill>
                <a:latin typeface="Calibri"/>
              </a:rPr>
              <a:t>C</a:t>
            </a:r>
          </a:p>
        </p:txBody>
      </p:sp>
      <p:sp>
        <p:nvSpPr>
          <p:cNvPr id="68" name="Oval 67"/>
          <p:cNvSpPr/>
          <p:nvPr/>
        </p:nvSpPr>
        <p:spPr>
          <a:xfrm>
            <a:off x="3657095" y="4138396"/>
            <a:ext cx="491190" cy="431075"/>
          </a:xfrm>
          <a:prstGeom prst="ellipse">
            <a:avLst/>
          </a:prstGeom>
          <a:solidFill>
            <a:schemeClr val="bg1">
              <a:lumMod val="85000"/>
            </a:schemeClr>
          </a:solidFill>
          <a:ln w="38100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prstClr val="black"/>
                </a:solidFill>
                <a:latin typeface="Calibri"/>
              </a:rPr>
              <a:t>C</a:t>
            </a:r>
          </a:p>
        </p:txBody>
      </p:sp>
      <p:sp>
        <p:nvSpPr>
          <p:cNvPr id="69" name="Oval 68"/>
          <p:cNvSpPr/>
          <p:nvPr/>
        </p:nvSpPr>
        <p:spPr>
          <a:xfrm>
            <a:off x="2701619" y="4138396"/>
            <a:ext cx="491190" cy="431075"/>
          </a:xfrm>
          <a:prstGeom prst="ellipse">
            <a:avLst/>
          </a:prstGeom>
          <a:solidFill>
            <a:schemeClr val="bg1">
              <a:lumMod val="85000"/>
            </a:schemeClr>
          </a:solidFill>
          <a:ln w="38100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prstClr val="black"/>
                </a:solidFill>
                <a:latin typeface="Calibri"/>
              </a:rPr>
              <a:t>C</a:t>
            </a:r>
          </a:p>
        </p:txBody>
      </p:sp>
      <p:sp>
        <p:nvSpPr>
          <p:cNvPr id="70" name="Oval 69"/>
          <p:cNvSpPr/>
          <p:nvPr/>
        </p:nvSpPr>
        <p:spPr>
          <a:xfrm>
            <a:off x="4327939" y="3206600"/>
            <a:ext cx="491190" cy="430881"/>
          </a:xfrm>
          <a:prstGeom prst="ellipse">
            <a:avLst/>
          </a:prstGeom>
          <a:solidFill>
            <a:schemeClr val="bg1">
              <a:lumMod val="85000"/>
            </a:schemeClr>
          </a:solidFill>
          <a:ln w="38100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prstClr val="black"/>
                </a:solidFill>
                <a:latin typeface="Calibri"/>
              </a:rPr>
              <a:t>D</a:t>
            </a:r>
          </a:p>
        </p:txBody>
      </p:sp>
      <p:sp>
        <p:nvSpPr>
          <p:cNvPr id="71" name="Oval 70"/>
          <p:cNvSpPr/>
          <p:nvPr/>
        </p:nvSpPr>
        <p:spPr>
          <a:xfrm>
            <a:off x="1204897" y="4138396"/>
            <a:ext cx="491190" cy="431075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prstClr val="black"/>
                </a:solidFill>
                <a:latin typeface="Calibri"/>
              </a:rPr>
              <a:t>C</a:t>
            </a:r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72" name="Straight Connector 71"/>
          <p:cNvCxnSpPr>
            <a:stCxn id="70" idx="6"/>
            <a:endCxn id="75" idx="2"/>
          </p:cNvCxnSpPr>
          <p:nvPr/>
        </p:nvCxnSpPr>
        <p:spPr>
          <a:xfrm>
            <a:off x="4819129" y="3422041"/>
            <a:ext cx="2369237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Oval 72"/>
          <p:cNvSpPr/>
          <p:nvPr/>
        </p:nvSpPr>
        <p:spPr>
          <a:xfrm>
            <a:off x="6536336" y="2456755"/>
            <a:ext cx="491190" cy="430881"/>
          </a:xfrm>
          <a:prstGeom prst="ellipse">
            <a:avLst/>
          </a:prstGeom>
          <a:solidFill>
            <a:schemeClr val="bg1">
              <a:lumMod val="85000"/>
            </a:schemeClr>
          </a:solidFill>
          <a:ln w="38100">
            <a:solidFill>
              <a:srgbClr val="00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prstClr val="black"/>
                </a:solidFill>
                <a:latin typeface="Calibri"/>
              </a:rPr>
              <a:t>A</a:t>
            </a:r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4" name="Oval 73"/>
          <p:cNvSpPr/>
          <p:nvPr/>
        </p:nvSpPr>
        <p:spPr>
          <a:xfrm>
            <a:off x="6872894" y="4138396"/>
            <a:ext cx="491190" cy="431075"/>
          </a:xfrm>
          <a:prstGeom prst="ellipse">
            <a:avLst/>
          </a:prstGeom>
          <a:solidFill>
            <a:schemeClr val="bg1">
              <a:lumMod val="85000"/>
            </a:schemeClr>
          </a:solidFill>
          <a:ln w="38100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prstClr val="black"/>
                </a:solidFill>
                <a:latin typeface="Calibri"/>
              </a:rPr>
              <a:t>C</a:t>
            </a:r>
          </a:p>
        </p:txBody>
      </p:sp>
      <p:sp>
        <p:nvSpPr>
          <p:cNvPr id="75" name="Oval 74"/>
          <p:cNvSpPr/>
          <p:nvPr/>
        </p:nvSpPr>
        <p:spPr>
          <a:xfrm>
            <a:off x="7188366" y="3206600"/>
            <a:ext cx="491190" cy="430881"/>
          </a:xfrm>
          <a:prstGeom prst="ellipse">
            <a:avLst/>
          </a:prstGeom>
          <a:solidFill>
            <a:schemeClr val="bg1">
              <a:lumMod val="85000"/>
            </a:schemeClr>
          </a:solidFill>
          <a:ln w="38100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prstClr val="black"/>
                </a:solidFill>
                <a:latin typeface="Calibri"/>
              </a:rPr>
              <a:t>D</a:t>
            </a:r>
          </a:p>
        </p:txBody>
      </p:sp>
      <p:sp>
        <p:nvSpPr>
          <p:cNvPr id="76" name="Oval 75"/>
          <p:cNvSpPr/>
          <p:nvPr/>
        </p:nvSpPr>
        <p:spPr>
          <a:xfrm>
            <a:off x="7796955" y="2775272"/>
            <a:ext cx="491190" cy="430881"/>
          </a:xfrm>
          <a:prstGeom prst="ellipse">
            <a:avLst/>
          </a:prstGeom>
          <a:solidFill>
            <a:schemeClr val="bg1">
              <a:lumMod val="85000"/>
            </a:schemeClr>
          </a:solidFill>
          <a:ln w="38100">
            <a:solidFill>
              <a:srgbClr val="00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prstClr val="black"/>
                </a:solidFill>
                <a:latin typeface="Calibri"/>
              </a:rPr>
              <a:t>F</a:t>
            </a:r>
          </a:p>
        </p:txBody>
      </p:sp>
      <p:sp>
        <p:nvSpPr>
          <p:cNvPr id="77" name="Oval 76"/>
          <p:cNvSpPr/>
          <p:nvPr/>
        </p:nvSpPr>
        <p:spPr>
          <a:xfrm>
            <a:off x="5113619" y="3206600"/>
            <a:ext cx="491190" cy="430881"/>
          </a:xfrm>
          <a:prstGeom prst="ellipse">
            <a:avLst/>
          </a:prstGeom>
          <a:solidFill>
            <a:schemeClr val="bg1">
              <a:lumMod val="85000"/>
            </a:schemeClr>
          </a:solidFill>
          <a:ln w="38100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prstClr val="black"/>
                </a:solidFill>
                <a:latin typeface="Calibri"/>
              </a:rPr>
              <a:t>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7992" y="1218311"/>
            <a:ext cx="86616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Inputs: (A</a:t>
            </a:r>
            <a:r>
              <a:rPr lang="en-US" sz="2000" dirty="0"/>
              <a:t>)</a:t>
            </a:r>
            <a:r>
              <a:rPr lang="en-US" sz="2000" dirty="0" smtClean="0"/>
              <a:t> Short reads and (F) long insert (mate paired) libraries</a:t>
            </a:r>
          </a:p>
          <a:p>
            <a:r>
              <a:rPr lang="en-US" sz="2000" dirty="0" smtClean="0"/>
              <a:t>Intermediate: (B) Error-free k-</a:t>
            </a:r>
            <a:r>
              <a:rPr lang="en-US" sz="2000" dirty="0" err="1" smtClean="0"/>
              <a:t>mers</a:t>
            </a:r>
            <a:r>
              <a:rPr lang="en-US" sz="2000" dirty="0" smtClean="0"/>
              <a:t> w/ extensions (a.k.a. UFX), (C) contigs…</a:t>
            </a:r>
          </a:p>
          <a:p>
            <a:r>
              <a:rPr lang="en-US" sz="2000" dirty="0" smtClean="0"/>
              <a:t>Output: (G) final genome scaffolds</a:t>
            </a:r>
            <a:endParaRPr lang="en-US" sz="2000" dirty="0"/>
          </a:p>
        </p:txBody>
      </p:sp>
      <p:sp>
        <p:nvSpPr>
          <p:cNvPr id="6" name="Cloud Callout 5"/>
          <p:cNvSpPr/>
          <p:nvPr/>
        </p:nvSpPr>
        <p:spPr>
          <a:xfrm>
            <a:off x="5022463" y="4569471"/>
            <a:ext cx="2411498" cy="1437902"/>
          </a:xfrm>
          <a:prstGeom prst="cloudCallou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Secret metagenome sauce #1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47894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 smtClean="0"/>
              <a:t>DEGAS Berkeley meeting</a:t>
            </a:r>
            <a:endParaRPr lang="en-US" dirty="0"/>
          </a:p>
        </p:txBody>
      </p:sp>
      <p:pic>
        <p:nvPicPr>
          <p:cNvPr id="5" name="Picture 4" descr="metag_pipeline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9182" y="1003300"/>
            <a:ext cx="6883400" cy="5854700"/>
          </a:xfrm>
          <a:prstGeom prst="rect">
            <a:avLst/>
          </a:prstGeom>
        </p:spPr>
      </p:pic>
      <p:sp>
        <p:nvSpPr>
          <p:cNvPr id="1688" name="Title 1"/>
          <p:cNvSpPr>
            <a:spLocks noGrp="1"/>
          </p:cNvSpPr>
          <p:nvPr>
            <p:ph type="title"/>
          </p:nvPr>
        </p:nvSpPr>
        <p:spPr>
          <a:xfrm>
            <a:off x="457194" y="127075"/>
            <a:ext cx="8229600" cy="99060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/>
              <a:t>Iterative </a:t>
            </a:r>
            <a:r>
              <a:rPr lang="en-US" sz="3200" dirty="0" err="1" smtClean="0"/>
              <a:t>contig</a:t>
            </a:r>
            <a:r>
              <a:rPr lang="en-US" sz="3200" dirty="0" smtClean="0"/>
              <a:t> generation</a:t>
            </a:r>
            <a:endParaRPr lang="en-US" sz="3200" dirty="0"/>
          </a:p>
        </p:txBody>
      </p:sp>
      <p:sp>
        <p:nvSpPr>
          <p:cNvPr id="6" name="Rectangle 5"/>
          <p:cNvSpPr/>
          <p:nvPr/>
        </p:nvSpPr>
        <p:spPr>
          <a:xfrm>
            <a:off x="1369182" y="1428646"/>
            <a:ext cx="4484565" cy="54293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9" name="Rectangle 1688"/>
          <p:cNvSpPr/>
          <p:nvPr/>
        </p:nvSpPr>
        <p:spPr>
          <a:xfrm>
            <a:off x="4388926" y="1517936"/>
            <a:ext cx="4297867" cy="53400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0" name="Rectangle 1689"/>
          <p:cNvSpPr/>
          <p:nvPr/>
        </p:nvSpPr>
        <p:spPr>
          <a:xfrm>
            <a:off x="6386746" y="909330"/>
            <a:ext cx="2512936" cy="43912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93453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 smtClean="0"/>
              <a:t>DEGAS Berkeley meeting</a:t>
            </a:r>
            <a:endParaRPr lang="en-US" dirty="0"/>
          </a:p>
        </p:txBody>
      </p:sp>
      <p:pic>
        <p:nvPicPr>
          <p:cNvPr id="5" name="Picture 4" descr="metag_pipeline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9182" y="1003300"/>
            <a:ext cx="6883400" cy="5854700"/>
          </a:xfrm>
          <a:prstGeom prst="rect">
            <a:avLst/>
          </a:prstGeom>
        </p:spPr>
      </p:pic>
      <p:sp>
        <p:nvSpPr>
          <p:cNvPr id="1688" name="Title 1"/>
          <p:cNvSpPr>
            <a:spLocks noGrp="1"/>
          </p:cNvSpPr>
          <p:nvPr>
            <p:ph type="title"/>
          </p:nvPr>
        </p:nvSpPr>
        <p:spPr>
          <a:xfrm>
            <a:off x="457194" y="127075"/>
            <a:ext cx="8229600" cy="99060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/>
              <a:t>Iterative </a:t>
            </a:r>
            <a:r>
              <a:rPr lang="en-US" sz="3200" dirty="0" err="1" smtClean="0"/>
              <a:t>contig</a:t>
            </a:r>
            <a:r>
              <a:rPr lang="en-US" sz="3200" dirty="0" smtClean="0"/>
              <a:t> generation</a:t>
            </a:r>
            <a:endParaRPr lang="en-US" sz="3200" dirty="0"/>
          </a:p>
        </p:txBody>
      </p:sp>
      <p:sp>
        <p:nvSpPr>
          <p:cNvPr id="6" name="Rectangle 5"/>
          <p:cNvSpPr/>
          <p:nvPr/>
        </p:nvSpPr>
        <p:spPr>
          <a:xfrm>
            <a:off x="1369182" y="2271945"/>
            <a:ext cx="5308059" cy="45860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257932" y="1508399"/>
            <a:ext cx="2428862" cy="8295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789576" y="1409988"/>
            <a:ext cx="2463005" cy="4547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480675" y="1182606"/>
            <a:ext cx="2206119" cy="4547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4757068" y="2271944"/>
            <a:ext cx="3929726" cy="45860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36959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etag_pipeline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9182" y="1003300"/>
            <a:ext cx="6883400" cy="5854700"/>
          </a:xfrm>
          <a:prstGeom prst="rect">
            <a:avLst/>
          </a:prstGeom>
        </p:spPr>
      </p:pic>
      <p:sp>
        <p:nvSpPr>
          <p:cNvPr id="1688" name="Title 1"/>
          <p:cNvSpPr>
            <a:spLocks noGrp="1"/>
          </p:cNvSpPr>
          <p:nvPr>
            <p:ph type="title"/>
          </p:nvPr>
        </p:nvSpPr>
        <p:spPr>
          <a:xfrm>
            <a:off x="457194" y="127075"/>
            <a:ext cx="8229600" cy="99060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/>
              <a:t>Iterative </a:t>
            </a:r>
            <a:r>
              <a:rPr lang="en-US" sz="3200" dirty="0" err="1" smtClean="0"/>
              <a:t>contig</a:t>
            </a:r>
            <a:r>
              <a:rPr lang="en-US" sz="3200" dirty="0" smtClean="0"/>
              <a:t> generation</a:t>
            </a:r>
            <a:endParaRPr lang="en-US" sz="3200" dirty="0"/>
          </a:p>
        </p:txBody>
      </p:sp>
      <p:sp>
        <p:nvSpPr>
          <p:cNvPr id="9" name="Rectangle 8"/>
          <p:cNvSpPr/>
          <p:nvPr/>
        </p:nvSpPr>
        <p:spPr>
          <a:xfrm>
            <a:off x="6257932" y="1508399"/>
            <a:ext cx="2428862" cy="8295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789576" y="1409988"/>
            <a:ext cx="2463005" cy="4547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480675" y="1182606"/>
            <a:ext cx="2206119" cy="4547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369182" y="3417030"/>
            <a:ext cx="6371344" cy="34409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7266503" y="2087709"/>
            <a:ext cx="1592770" cy="47702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97975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etag_pipeline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9182" y="1003300"/>
            <a:ext cx="6883400" cy="5854700"/>
          </a:xfrm>
          <a:prstGeom prst="rect">
            <a:avLst/>
          </a:prstGeom>
        </p:spPr>
      </p:pic>
      <p:sp>
        <p:nvSpPr>
          <p:cNvPr id="1688" name="Title 1"/>
          <p:cNvSpPr>
            <a:spLocks noGrp="1"/>
          </p:cNvSpPr>
          <p:nvPr>
            <p:ph type="title"/>
          </p:nvPr>
        </p:nvSpPr>
        <p:spPr>
          <a:xfrm>
            <a:off x="457194" y="127075"/>
            <a:ext cx="8229600" cy="99060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/>
              <a:t>Iterative </a:t>
            </a:r>
            <a:r>
              <a:rPr lang="en-US" sz="3200" dirty="0" err="1" smtClean="0"/>
              <a:t>contig</a:t>
            </a:r>
            <a:r>
              <a:rPr lang="en-US" sz="3200" dirty="0" smtClean="0"/>
              <a:t> generation</a:t>
            </a:r>
            <a:endParaRPr lang="en-US" sz="3200" dirty="0"/>
          </a:p>
        </p:txBody>
      </p:sp>
      <p:sp>
        <p:nvSpPr>
          <p:cNvPr id="9" name="Rectangle 8"/>
          <p:cNvSpPr/>
          <p:nvPr/>
        </p:nvSpPr>
        <p:spPr>
          <a:xfrm>
            <a:off x="6257932" y="1508399"/>
            <a:ext cx="2428862" cy="8295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789576" y="1409988"/>
            <a:ext cx="2463005" cy="4547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480675" y="1182606"/>
            <a:ext cx="2206119" cy="4547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369182" y="4495562"/>
            <a:ext cx="6371344" cy="23624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7266503" y="2087709"/>
            <a:ext cx="1592770" cy="47702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14954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etag_pipeline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9182" y="1003300"/>
            <a:ext cx="6883400" cy="5854700"/>
          </a:xfrm>
          <a:prstGeom prst="rect">
            <a:avLst/>
          </a:prstGeom>
        </p:spPr>
      </p:pic>
      <p:sp>
        <p:nvSpPr>
          <p:cNvPr id="1688" name="Title 1"/>
          <p:cNvSpPr>
            <a:spLocks noGrp="1"/>
          </p:cNvSpPr>
          <p:nvPr>
            <p:ph type="title"/>
          </p:nvPr>
        </p:nvSpPr>
        <p:spPr>
          <a:xfrm>
            <a:off x="457194" y="127075"/>
            <a:ext cx="8229600" cy="99060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/>
              <a:t>Iterative </a:t>
            </a:r>
            <a:r>
              <a:rPr lang="en-US" sz="3200" dirty="0" err="1" smtClean="0"/>
              <a:t>contig</a:t>
            </a:r>
            <a:r>
              <a:rPr lang="en-US" sz="3200" dirty="0" smtClean="0"/>
              <a:t> generation</a:t>
            </a:r>
            <a:endParaRPr lang="en-US" sz="3200" dirty="0"/>
          </a:p>
        </p:txBody>
      </p:sp>
      <p:sp>
        <p:nvSpPr>
          <p:cNvPr id="9" name="Rectangle 8"/>
          <p:cNvSpPr/>
          <p:nvPr/>
        </p:nvSpPr>
        <p:spPr>
          <a:xfrm>
            <a:off x="6257932" y="1508399"/>
            <a:ext cx="2428862" cy="8295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789576" y="1409988"/>
            <a:ext cx="2463005" cy="4547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480675" y="1182606"/>
            <a:ext cx="2206119" cy="4547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369182" y="5574094"/>
            <a:ext cx="6371344" cy="12839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7266503" y="2087709"/>
            <a:ext cx="1592770" cy="47702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10973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etag_pipeline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9182" y="1003300"/>
            <a:ext cx="6883400" cy="5854700"/>
          </a:xfrm>
          <a:prstGeom prst="rect">
            <a:avLst/>
          </a:prstGeom>
        </p:spPr>
      </p:pic>
      <p:sp>
        <p:nvSpPr>
          <p:cNvPr id="1688" name="Title 1"/>
          <p:cNvSpPr>
            <a:spLocks noGrp="1"/>
          </p:cNvSpPr>
          <p:nvPr>
            <p:ph type="title"/>
          </p:nvPr>
        </p:nvSpPr>
        <p:spPr>
          <a:xfrm>
            <a:off x="457194" y="127075"/>
            <a:ext cx="8229600" cy="99060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/>
              <a:t>Iterative </a:t>
            </a:r>
            <a:r>
              <a:rPr lang="en-US" sz="3200" dirty="0" err="1" smtClean="0"/>
              <a:t>contig</a:t>
            </a:r>
            <a:r>
              <a:rPr lang="en-US" sz="3200" dirty="0" smtClean="0"/>
              <a:t> generation</a:t>
            </a:r>
            <a:endParaRPr lang="en-US" sz="3200" dirty="0"/>
          </a:p>
        </p:txBody>
      </p:sp>
      <p:sp>
        <p:nvSpPr>
          <p:cNvPr id="9" name="Rectangle 8"/>
          <p:cNvSpPr/>
          <p:nvPr/>
        </p:nvSpPr>
        <p:spPr>
          <a:xfrm>
            <a:off x="6257932" y="1508399"/>
            <a:ext cx="2428862" cy="8295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789576" y="1409988"/>
            <a:ext cx="2463005" cy="4547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480675" y="1182606"/>
            <a:ext cx="2206119" cy="4547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6983079" y="6592147"/>
            <a:ext cx="1983618" cy="2658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7266503" y="2087709"/>
            <a:ext cx="1592770" cy="47702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1224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etag_pipeline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9182" y="1003300"/>
            <a:ext cx="6883400" cy="5854700"/>
          </a:xfrm>
          <a:prstGeom prst="rect">
            <a:avLst/>
          </a:prstGeom>
        </p:spPr>
      </p:pic>
      <p:sp>
        <p:nvSpPr>
          <p:cNvPr id="1688" name="Title 1"/>
          <p:cNvSpPr>
            <a:spLocks noGrp="1"/>
          </p:cNvSpPr>
          <p:nvPr>
            <p:ph type="title"/>
          </p:nvPr>
        </p:nvSpPr>
        <p:spPr>
          <a:xfrm>
            <a:off x="457194" y="127075"/>
            <a:ext cx="8229600" cy="99060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/>
              <a:t>Iterative </a:t>
            </a:r>
            <a:r>
              <a:rPr lang="en-US" sz="3200" dirty="0" err="1" smtClean="0"/>
              <a:t>contig</a:t>
            </a:r>
            <a:r>
              <a:rPr lang="en-US" sz="3200" dirty="0" smtClean="0"/>
              <a:t> generation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74410704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24"/>
          <p:cNvGrpSpPr/>
          <p:nvPr/>
        </p:nvGrpSpPr>
        <p:grpSpPr>
          <a:xfrm>
            <a:off x="0" y="-16486"/>
            <a:ext cx="9144000" cy="1311292"/>
            <a:chOff x="0" y="-23450"/>
            <a:chExt cx="13004800" cy="1864950"/>
          </a:xfrm>
        </p:grpSpPr>
        <p:pic>
          <p:nvPicPr>
            <p:cNvPr id="19" name="Picture 3"/>
            <p:cNvPicPr>
              <a:picLocks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0" y="0"/>
              <a:ext cx="13004800" cy="1841500"/>
            </a:xfrm>
            <a:prstGeom prst="rect">
              <a:avLst/>
            </a:prstGeom>
            <a:noFill/>
            <a:ln w="9525" cap="flat">
              <a:noFill/>
              <a:miter lim="800000"/>
              <a:headEnd/>
              <a:tailEnd/>
            </a:ln>
          </p:spPr>
        </p:pic>
        <p:sp>
          <p:nvSpPr>
            <p:cNvPr id="20" name="Rectangle 5"/>
            <p:cNvSpPr txBox="1">
              <a:spLocks noChangeArrowheads="1"/>
            </p:cNvSpPr>
            <p:nvPr/>
          </p:nvSpPr>
          <p:spPr bwMode="auto">
            <a:xfrm>
              <a:off x="200216" y="-23450"/>
              <a:ext cx="12031663" cy="140969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vert="horz" wrap="square" lIns="50777" tIns="50777" rIns="166318" bIns="50777" numCol="1" anchor="ctr" anchorCtr="0" compatLnSpc="1">
              <a:prstTxWarp prst="textNoShape">
                <a:avLst/>
              </a:prstTxWarp>
            </a:bodyPr>
            <a:lstStyle/>
            <a:p>
              <a:r>
                <a:rPr lang="en-US" sz="3200" dirty="0" smtClean="0">
                  <a:solidFill>
                    <a:srgbClr val="FFFF00"/>
                  </a:solidFill>
                </a:rPr>
                <a:t>HipMer on a MOCK community</a:t>
              </a:r>
              <a:endParaRPr lang="en-US" sz="3200" i="1" dirty="0">
                <a:solidFill>
                  <a:srgbClr val="FFFF00"/>
                </a:solidFill>
              </a:endParaRPr>
            </a:p>
          </p:txBody>
        </p:sp>
      </p:grpSp>
      <p:sp>
        <p:nvSpPr>
          <p:cNvPr id="82" name="Content Placeholder 2"/>
          <p:cNvSpPr>
            <a:spLocks noGrp="1"/>
          </p:cNvSpPr>
          <p:nvPr>
            <p:ph idx="1"/>
          </p:nvPr>
        </p:nvSpPr>
        <p:spPr>
          <a:xfrm>
            <a:off x="278603" y="1729246"/>
            <a:ext cx="8622059" cy="1031152"/>
          </a:xfrm>
        </p:spPr>
        <p:txBody>
          <a:bodyPr>
            <a:normAutofit fontScale="85000" lnSpcReduction="10000"/>
          </a:bodyPr>
          <a:lstStyle/>
          <a:p>
            <a:pPr lvl="1"/>
            <a:r>
              <a:rPr lang="en-US" dirty="0" smtClean="0"/>
              <a:t>Mix of 25 bacteria with different </a:t>
            </a:r>
            <a:r>
              <a:rPr lang="en-US" dirty="0" err="1" smtClean="0"/>
              <a:t>abundancies</a:t>
            </a:r>
            <a:r>
              <a:rPr lang="en-US" dirty="0" smtClean="0"/>
              <a:t> (JGI dataset)</a:t>
            </a:r>
          </a:p>
          <a:p>
            <a:pPr lvl="1"/>
            <a:r>
              <a:rPr lang="en-US" dirty="0" smtClean="0"/>
              <a:t>Dataset size ~ 100 </a:t>
            </a:r>
            <a:r>
              <a:rPr lang="en-US" dirty="0" err="1" smtClean="0"/>
              <a:t>GBytes</a:t>
            </a:r>
            <a:endParaRPr lang="en-US" dirty="0"/>
          </a:p>
          <a:p>
            <a:endParaRPr lang="en-US" sz="2000" dirty="0" smtClean="0"/>
          </a:p>
          <a:p>
            <a:endParaRPr lang="en-US" sz="2000" dirty="0"/>
          </a:p>
          <a:p>
            <a:endParaRPr lang="en-US" sz="2000" dirty="0"/>
          </a:p>
        </p:txBody>
      </p:sp>
      <p:graphicFrame>
        <p:nvGraphicFramePr>
          <p:cNvPr id="83" name="Table 8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1823030"/>
              </p:ext>
            </p:extLst>
          </p:nvPr>
        </p:nvGraphicFramePr>
        <p:xfrm>
          <a:off x="1264383" y="3003761"/>
          <a:ext cx="6279417" cy="273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0961"/>
                <a:gridCol w="1544934"/>
                <a:gridCol w="1563522"/>
              </a:tblGrid>
              <a:tr h="3908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292934"/>
                          </a:solidFill>
                        </a:rPr>
                        <a:t>Statistics</a:t>
                      </a:r>
                      <a:endParaRPr lang="en-US" sz="1800" dirty="0">
                        <a:solidFill>
                          <a:srgbClr val="292934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 smtClean="0">
                          <a:solidFill>
                            <a:srgbClr val="292934"/>
                          </a:solidFill>
                        </a:rPr>
                        <a:t>metaHipMer</a:t>
                      </a:r>
                      <a:endParaRPr lang="en-US" sz="1800" dirty="0">
                        <a:solidFill>
                          <a:srgbClr val="292934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 smtClean="0">
                          <a:solidFill>
                            <a:srgbClr val="292934"/>
                          </a:solidFill>
                        </a:rPr>
                        <a:t>metaSPAdes</a:t>
                      </a:r>
                      <a:endParaRPr lang="en-US" sz="1800" dirty="0">
                        <a:solidFill>
                          <a:srgbClr val="292934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8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292934"/>
                          </a:solidFill>
                        </a:rPr>
                        <a:t># </a:t>
                      </a:r>
                      <a:r>
                        <a:rPr lang="en-US" sz="1800" dirty="0" err="1" smtClean="0">
                          <a:solidFill>
                            <a:srgbClr val="292934"/>
                          </a:solidFill>
                        </a:rPr>
                        <a:t>contigs</a:t>
                      </a:r>
                      <a:endParaRPr lang="en-US" sz="1800" dirty="0">
                        <a:solidFill>
                          <a:srgbClr val="292934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2,670</a:t>
                      </a:r>
                      <a:endParaRPr lang="en-US" sz="1800" b="1" dirty="0">
                        <a:solidFill>
                          <a:srgbClr val="292934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292934"/>
                          </a:solidFill>
                        </a:rPr>
                        <a:t>5,100</a:t>
                      </a:r>
                      <a:endParaRPr lang="en-US" sz="1800" dirty="0">
                        <a:solidFill>
                          <a:srgbClr val="292934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0000"/>
                    </a:solidFill>
                  </a:tcPr>
                </a:tc>
              </a:tr>
              <a:tr h="3908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292934"/>
                          </a:solidFill>
                        </a:rPr>
                        <a:t>Total length &gt;</a:t>
                      </a:r>
                      <a:r>
                        <a:rPr lang="en-US" sz="1800" baseline="0" dirty="0" smtClean="0">
                          <a:solidFill>
                            <a:srgbClr val="292934"/>
                          </a:solidFill>
                        </a:rPr>
                        <a:t> 10 </a:t>
                      </a:r>
                      <a:r>
                        <a:rPr lang="en-US" sz="1800" baseline="0" dirty="0" err="1" smtClean="0">
                          <a:solidFill>
                            <a:srgbClr val="292934"/>
                          </a:solidFill>
                        </a:rPr>
                        <a:t>kbp</a:t>
                      </a:r>
                      <a:endParaRPr lang="en-US" sz="1800" dirty="0">
                        <a:solidFill>
                          <a:srgbClr val="292934"/>
                        </a:solidFill>
                      </a:endParaRP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92,245,198</a:t>
                      </a:r>
                      <a:endParaRPr lang="en-US" sz="1800" b="1" dirty="0">
                        <a:solidFill>
                          <a:srgbClr val="292934"/>
                        </a:solidFill>
                      </a:endParaRP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92,152,728</a:t>
                      </a:r>
                      <a:endParaRPr lang="en-US" sz="1800" b="1" dirty="0">
                        <a:solidFill>
                          <a:srgbClr val="292934"/>
                        </a:solidFill>
                      </a:endParaRP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  <a:tr h="3908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292934"/>
                          </a:solidFill>
                        </a:rPr>
                        <a:t>Total length &gt; 50 </a:t>
                      </a:r>
                      <a:r>
                        <a:rPr lang="en-US" sz="1800" dirty="0" err="1" smtClean="0">
                          <a:solidFill>
                            <a:srgbClr val="292934"/>
                          </a:solidFill>
                        </a:rPr>
                        <a:t>kbp</a:t>
                      </a:r>
                      <a:endParaRPr lang="en-US" sz="1800" dirty="0">
                        <a:solidFill>
                          <a:srgbClr val="292934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69,493,125</a:t>
                      </a:r>
                      <a:endParaRPr lang="en-US" sz="1800" b="1" dirty="0">
                        <a:solidFill>
                          <a:srgbClr val="292934"/>
                        </a:solidFill>
                      </a:endParaRP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77,292,121</a:t>
                      </a:r>
                      <a:endParaRPr lang="en-US" sz="1800" b="1" dirty="0">
                        <a:solidFill>
                          <a:srgbClr val="292934"/>
                        </a:solidFill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</a:tr>
              <a:tr h="3908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 smtClean="0">
                          <a:solidFill>
                            <a:srgbClr val="292934"/>
                          </a:solidFill>
                        </a:rPr>
                        <a:t>Misassemblies</a:t>
                      </a:r>
                      <a:endParaRPr lang="en-US" sz="1800" dirty="0">
                        <a:solidFill>
                          <a:srgbClr val="292934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solidFill>
                            <a:srgbClr val="292934"/>
                          </a:solidFill>
                        </a:rPr>
                        <a:t>58</a:t>
                      </a:r>
                      <a:endParaRPr lang="en-US" sz="1800" b="1" dirty="0">
                        <a:solidFill>
                          <a:srgbClr val="292934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292934"/>
                          </a:solidFill>
                        </a:rPr>
                        <a:t>134</a:t>
                      </a:r>
                      <a:endParaRPr lang="en-US" sz="1800" dirty="0">
                        <a:solidFill>
                          <a:srgbClr val="292934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0000"/>
                    </a:solidFill>
                  </a:tcPr>
                </a:tc>
              </a:tr>
              <a:tr h="3908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292934"/>
                          </a:solidFill>
                        </a:rPr>
                        <a:t>Mismatches per 100 </a:t>
                      </a:r>
                      <a:r>
                        <a:rPr lang="en-US" sz="1800" dirty="0" err="1" smtClean="0">
                          <a:solidFill>
                            <a:srgbClr val="292934"/>
                          </a:solidFill>
                        </a:rPr>
                        <a:t>kbp</a:t>
                      </a:r>
                      <a:endParaRPr lang="en-US" sz="1800" dirty="0">
                        <a:solidFill>
                          <a:srgbClr val="292934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solidFill>
                            <a:srgbClr val="292934"/>
                          </a:solidFill>
                        </a:rPr>
                        <a:t>3.48</a:t>
                      </a:r>
                      <a:endParaRPr lang="en-US" sz="1800" b="1" dirty="0">
                        <a:solidFill>
                          <a:srgbClr val="292934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77.05</a:t>
                      </a:r>
                      <a:endParaRPr lang="en-US" sz="1800" dirty="0">
                        <a:solidFill>
                          <a:srgbClr val="292934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  <a:tr h="390800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>
                          <a:solidFill>
                            <a:srgbClr val="292934"/>
                          </a:solidFill>
                        </a:rPr>
                        <a:t>Genomes </a:t>
                      </a:r>
                      <a:r>
                        <a:rPr lang="en-US" sz="1800" dirty="0" smtClean="0">
                          <a:solidFill>
                            <a:srgbClr val="292934"/>
                          </a:solidFill>
                        </a:rPr>
                        <a:t>fraction (%) </a:t>
                      </a:r>
                      <a:endParaRPr lang="en-US" sz="1800" dirty="0">
                        <a:solidFill>
                          <a:srgbClr val="292934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92.10</a:t>
                      </a:r>
                      <a:endParaRPr lang="en-US" sz="1800" b="1" dirty="0">
                        <a:solidFill>
                          <a:srgbClr val="292934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91.10</a:t>
                      </a:r>
                      <a:endParaRPr lang="en-US" sz="1800" b="1" dirty="0">
                        <a:solidFill>
                          <a:srgbClr val="292934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929281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24"/>
          <p:cNvGrpSpPr/>
          <p:nvPr/>
        </p:nvGrpSpPr>
        <p:grpSpPr>
          <a:xfrm>
            <a:off x="0" y="-16486"/>
            <a:ext cx="9144000" cy="1311292"/>
            <a:chOff x="0" y="-23450"/>
            <a:chExt cx="13004800" cy="1864950"/>
          </a:xfrm>
        </p:grpSpPr>
        <p:pic>
          <p:nvPicPr>
            <p:cNvPr id="19" name="Picture 3"/>
            <p:cNvPicPr>
              <a:picLocks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0" y="0"/>
              <a:ext cx="13004800" cy="1841500"/>
            </a:xfrm>
            <a:prstGeom prst="rect">
              <a:avLst/>
            </a:prstGeom>
            <a:noFill/>
            <a:ln w="9525" cap="flat">
              <a:noFill/>
              <a:miter lim="800000"/>
              <a:headEnd/>
              <a:tailEnd/>
            </a:ln>
          </p:spPr>
        </p:pic>
        <p:sp>
          <p:nvSpPr>
            <p:cNvPr id="20" name="Rectangle 5"/>
            <p:cNvSpPr txBox="1">
              <a:spLocks noChangeArrowheads="1"/>
            </p:cNvSpPr>
            <p:nvPr/>
          </p:nvSpPr>
          <p:spPr bwMode="auto">
            <a:xfrm>
              <a:off x="200216" y="-23450"/>
              <a:ext cx="12031663" cy="140969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vert="horz" wrap="square" lIns="50777" tIns="50777" rIns="166318" bIns="50777" numCol="1" anchor="ctr" anchorCtr="0" compatLnSpc="1">
              <a:prstTxWarp prst="textNoShape">
                <a:avLst/>
              </a:prstTxWarp>
            </a:bodyPr>
            <a:lstStyle/>
            <a:p>
              <a:r>
                <a:rPr lang="en-US" sz="3200" dirty="0" smtClean="0">
                  <a:solidFill>
                    <a:srgbClr val="FFFF00"/>
                  </a:solidFill>
                </a:rPr>
                <a:t>Summary</a:t>
              </a:r>
              <a:endParaRPr lang="en-US" sz="3200" i="1" dirty="0">
                <a:solidFill>
                  <a:srgbClr val="FFFF00"/>
                </a:solidFill>
              </a:endParaRPr>
            </a:p>
          </p:txBody>
        </p:sp>
      </p:grpSp>
      <p:sp>
        <p:nvSpPr>
          <p:cNvPr id="3" name="Rectangle 2"/>
          <p:cNvSpPr/>
          <p:nvPr/>
        </p:nvSpPr>
        <p:spPr>
          <a:xfrm>
            <a:off x="306011" y="1294806"/>
            <a:ext cx="8590108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200" dirty="0" smtClean="0"/>
          </a:p>
          <a:p>
            <a:pPr marL="285750" indent="-285750">
              <a:buFont typeface="Arial"/>
              <a:buChar char="•"/>
            </a:pPr>
            <a:r>
              <a:rPr lang="en-US" sz="2200" dirty="0" err="1" smtClean="0"/>
              <a:t>HipMer’s</a:t>
            </a:r>
            <a:r>
              <a:rPr lang="en-US" sz="2200" dirty="0" smtClean="0"/>
              <a:t> core algorithms </a:t>
            </a:r>
            <a:r>
              <a:rPr lang="en-US" sz="2200" dirty="0"/>
              <a:t>scale to tens of thousands of cores and yield</a:t>
            </a:r>
          </a:p>
          <a:p>
            <a:r>
              <a:rPr lang="en-US" sz="2200" dirty="0"/>
              <a:t>performance improvements from days/weeks down to minutes</a:t>
            </a:r>
            <a:r>
              <a:rPr lang="en-US" sz="2200" dirty="0" smtClean="0"/>
              <a:t>.</a:t>
            </a:r>
          </a:p>
          <a:p>
            <a:endParaRPr lang="en-US" sz="2200" dirty="0"/>
          </a:p>
          <a:p>
            <a:pPr marL="285750" indent="-285750">
              <a:buFont typeface="Arial"/>
              <a:buChar char="•"/>
            </a:pPr>
            <a:r>
              <a:rPr lang="en-US" sz="2200" dirty="0" smtClean="0"/>
              <a:t>HipMer breaks the hardware limitations by enabling distributed-memory scaling</a:t>
            </a:r>
          </a:p>
          <a:p>
            <a:endParaRPr lang="en-US" sz="2200" dirty="0"/>
          </a:p>
          <a:p>
            <a:pPr marL="285750" indent="-285750">
              <a:buFont typeface="Arial"/>
              <a:buChar char="•"/>
            </a:pPr>
            <a:r>
              <a:rPr lang="en-US" sz="2200" dirty="0" smtClean="0"/>
              <a:t>Use </a:t>
            </a:r>
            <a:r>
              <a:rPr lang="en-US" sz="2200" dirty="0"/>
              <a:t>of de novo assembly in time sensitive applications like </a:t>
            </a:r>
            <a:r>
              <a:rPr lang="en-US" sz="2200" dirty="0" smtClean="0"/>
              <a:t>precision medicine </a:t>
            </a:r>
            <a:r>
              <a:rPr lang="en-US" sz="2200" dirty="0"/>
              <a:t>is no more formidable!</a:t>
            </a:r>
          </a:p>
          <a:p>
            <a:pPr marL="285750" indent="-285750">
              <a:buFont typeface="Arial"/>
              <a:buChar char="•"/>
            </a:pPr>
            <a:endParaRPr lang="en-US" sz="2200" dirty="0" smtClean="0"/>
          </a:p>
          <a:p>
            <a:pPr marL="285750" indent="-285750">
              <a:buFont typeface="Arial"/>
              <a:buChar char="•"/>
            </a:pPr>
            <a:r>
              <a:rPr lang="en-US" sz="2200" dirty="0" smtClean="0"/>
              <a:t>Source </a:t>
            </a:r>
            <a:r>
              <a:rPr lang="en-US" sz="2200" dirty="0"/>
              <a:t>release of HipMer : </a:t>
            </a:r>
            <a:r>
              <a:rPr lang="en-US" sz="2200" dirty="0">
                <a:hlinkClick r:id="rId3"/>
              </a:rPr>
              <a:t>https://sourceforge.net/projects/hipmer/</a:t>
            </a:r>
            <a:endParaRPr lang="en-US" sz="2200" dirty="0"/>
          </a:p>
          <a:p>
            <a:pPr marL="285750" indent="-285750">
              <a:buFont typeface="Arial"/>
              <a:buChar char="•"/>
            </a:pPr>
            <a:endParaRPr lang="en-US" sz="2200" dirty="0" smtClean="0"/>
          </a:p>
          <a:p>
            <a:pPr marL="285750" indent="-285750">
              <a:buFont typeface="Arial"/>
              <a:buChar char="•"/>
            </a:pPr>
            <a:r>
              <a:rPr lang="en-US" sz="2200" dirty="0" smtClean="0"/>
              <a:t>Ongoing </a:t>
            </a:r>
            <a:r>
              <a:rPr lang="en-US" sz="2200" dirty="0"/>
              <a:t>work: Adapt HipMer for metagenomic </a:t>
            </a:r>
            <a:r>
              <a:rPr lang="en-US" sz="2200" dirty="0" smtClean="0"/>
              <a:t>analysis (some hints</a:t>
            </a:r>
            <a:r>
              <a:rPr lang="en-US" sz="2200" dirty="0"/>
              <a:t> </a:t>
            </a:r>
            <a:r>
              <a:rPr lang="en-US" sz="2200" dirty="0" smtClean="0"/>
              <a:t>and preliminary results given in this talk). 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27704641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3256</Words>
  <Application>Microsoft Macintosh PowerPoint</Application>
  <PresentationFormat>On-screen Show (4:3)</PresentationFormat>
  <Paragraphs>597</Paragraphs>
  <Slides>47</Slides>
  <Notes>33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47</vt:i4>
      </vt:variant>
    </vt:vector>
  </HeadingPairs>
  <TitlesOfParts>
    <vt:vector size="49" baseType="lpstr"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Iterative contig generation</vt:lpstr>
      <vt:lpstr>Iterative contig generation</vt:lpstr>
      <vt:lpstr>Iterative contig generation</vt:lpstr>
      <vt:lpstr>Iterative contig generation</vt:lpstr>
      <vt:lpstr>Iterative contig generation</vt:lpstr>
      <vt:lpstr>Iterative contig generation</vt:lpstr>
      <vt:lpstr>Iterative contig generation</vt:lpstr>
      <vt:lpstr>PowerPoint Presentation</vt:lpstr>
      <vt:lpstr>PowerPoint Presentation</vt:lpstr>
    </vt:vector>
  </TitlesOfParts>
  <Company>Berkeley Lab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Aydin Buluc</dc:creator>
  <cp:lastModifiedBy>Aydin Buluc</cp:lastModifiedBy>
  <cp:revision>12</cp:revision>
  <dcterms:created xsi:type="dcterms:W3CDTF">2016-05-23T02:01:37Z</dcterms:created>
  <dcterms:modified xsi:type="dcterms:W3CDTF">2016-07-21T05:04:03Z</dcterms:modified>
</cp:coreProperties>
</file>